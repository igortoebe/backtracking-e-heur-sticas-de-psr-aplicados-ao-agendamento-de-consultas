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enhum Estilo, Nenhuma Grad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9" d="100"/>
          <a:sy n="99" d="100"/>
        </p:scale>
        <p:origin x="996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ED8797-1D10-4CC8-B176-161E8C712F49}" type="datetimeFigureOut">
              <a:rPr lang="pt-BR" smtClean="0"/>
              <a:t>05/10/2026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D2DB1B6-635F-45F6-BF62-51DCA694048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816470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Abertura (aprox. 20 s). Apresentar a equipe, a disciplina e o tema: agendamento de consultas/atendimentos modelado como Problema de Satisfação de Restrições (Tema 9).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2DB1B6-635F-45F6-BF62-51DCA694048E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41403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Contextualizar o problema real: vários clientes, profissionais com especialidades, horários e salas limitados. Ao lado, um exemplo de agenda sem conflitos: nenhum profissional, cliente ou sala aparece em dois lugares no mesmo horário. As cores representam as 3 especialidades.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2DB1B6-635F-45F6-BF62-51DCA694048E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794920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Explicar a modelagem: cada atendimento é uma variável; o domínio de cada um já nasce filtrado pela especialidade e pelas disponibilidades. A busca precisa escolher um valor para todos sem conflitos de profissional, cliente ou sala. Citar as 5 restrições obrigatórias.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2DB1B6-635F-45F6-BF62-51DCA694048E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701376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Mostrar como o problema cresce: de 10 para 60 atendimentos, a soma dos domínios vai de 83 para 1.111 combinações, mas o tamanho da árvore (produto dos domínios) explode de 10^8 para 10^62. É isso que justifica usar heurísticas.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2DB1B6-635F-45F6-BF62-51DCA694048E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1845433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Linguagem e ambiente usados nos experimentos. Destacar que as duas versões são comparadas com as mesmas métricas (tempo, atribuições, retrocessos e nós) em 3 tamanhos de instância, mais um experimento que controla só a densidade de restrições.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2DB1B6-635F-45F6-BF62-51DCA694048E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7622479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Explicar o funcionamento na árvore de busca: desce atribuindo o primeiro valor consistente; se nenhum valor serve, volta um nível, desfaz e tenta o próximo. A árvore é só teórica: o algoritmo guarda apenas o caminho atual, então o custo é de tempo, não de memória. A grande limitação é descobrir erros tarde demais.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2DB1B6-635F-45F6-BF62-51DCA694048E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0091135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As três heurísticas: MRV decide QUAL atendimento atribuir (o mais restrito); Forward Checking olha para frente e poda quando algum domínio esvazia; LCV decide QUAL VALOR tentar primeiro (o que menos atrapalha os outros). O custo extra de memória é guardar o que o FC removeu, para restaurar ao retroceder.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2DB1B6-635F-45F6-BF62-51DCA694048E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0835561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Comparar lado a lado: o simples só descobre o erro ao esbarrar nele, bem abaixo na árvore; o aprimorado evita ou antecipa esse erro. Cada heurística ataca uma fraqueza específica.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2DB1B6-635F-45F6-BF62-51DCA694048E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0392832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Exemplo do teste instancia_conflituosa. No simples, A1 recebe (P1, 10h, S1) provisoriamente; A2 só tem (P1, 10h, S2), mas P1 já está ocupado às 10h, então A2 esgota seus valores. O algoritmo volta a A1, desfaz e tenta (P2, 10h, S1): 1 retrocesso. No aprimorado, o MRV escolhe A2 primeiro (domínio de tamanho 1) e o Forward Checking remove (P1, 10h, S1) de A1: 0 retrocessos.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2DB1B6-635F-45F6-BF62-51DCA694048E}" type="slidenum">
              <a:rPr lang="pt-BR" smtClean="0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8595304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Visão geral da arquitetura: cada pasta tem uma responsabilidade. O ponto central é que as métricas e as restrições são compartilhadas pelas duas versões do algoritmo, o que garante uma comparação justa.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2DB1B6-635F-45F6-BF62-51DCA694048E}" type="slidenum">
              <a:rPr lang="pt-BR" smtClean="0"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580402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Decisões que tornam o sistema confiável e a comparação válida: restrições pequenas e testáveis, mesmo domínio e mesmas restrições nas duas versões, filtragem unária antes da busca e verificação independente da solução no final.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2DB1B6-635F-45F6-BF62-51DCA694048E}" type="slidenum">
              <a:rPr lang="pt-BR" smtClean="0"/>
              <a:t>11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9585269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Demonstração (aprox. 5 min): 1) mostrar dados/instancias/demo.json; 2) rodar python main.py resolver --instancia dados/instancias/demo.json --metodo aprimorado; 3) mostrar as agendas por profissional, horário e cliente e confirmar 'conflitos na solução: 0'; 4) alterar um parâmetro pedido pelo professor no JSON; 5) rodar resolver de novo. Se não houver mais solução, o programa avisa.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2DB1B6-635F-45F6-BF62-51DCA694048E}" type="slidenum">
              <a:rPr lang="pt-BR" smtClean="0"/>
              <a:t>12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981207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Resultados das 3 instâncias. O simples resolve só a pequena; nas instâncias média e grande atinge o limite de 200 mil nós sem solução. O aprimorado resolve todas em menos de 0,25 s, explorando poucas dezenas de nós.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2DB1B6-635F-45F6-BF62-51DCA694048E}" type="slidenum">
              <a:rPr lang="pt-BR" smtClean="0"/>
              <a:t>13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2722846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Os gráficos usam escala logarítmica: a diferença de nós é de 4 ordens de grandeza nas instâncias média e grande. Na pequena, o aprimorado é um pouco mais lento por causa do custo por nó das heurísticas, mas isso desaparece quando o problema cresce. Citar o experimento de densidade: o aprimorado se mantém estável.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2DB1B6-635F-45F6-BF62-51DCA694048E}" type="slidenum">
              <a:rPr lang="pt-BR" smtClean="0"/>
              <a:t>14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3215891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Fechar com as três mensagens principais: as heurísticas tornam o problema tratável; o ganho vem da redução de nós e retrocessos (com custo por nó maior); e o sistema cumpre as 5 restrições do tema, com verificação visual nas 3 agendas.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2DB1B6-635F-45F6-BF62-51DCA694048E}" type="slidenum">
              <a:rPr lang="pt-BR" smtClean="0"/>
              <a:t>15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5709092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Referências usadas no trabalho (as mesmas do relatório técnico).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2DB1B6-635F-45F6-BF62-51DCA694048E}" type="slidenum">
              <a:rPr lang="pt-BR" smtClean="0"/>
              <a:t>16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4409325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Agradecer e abrir para perguntas.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2DB1B6-635F-45F6-BF62-51DCA694048E}" type="slidenum">
              <a:rPr lang="pt-BR" smtClean="0"/>
              <a:t>17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138053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4E0175-51E2-32AE-FD6A-F7D9A15B64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CD009EE-F2D6-FA8F-0E65-1A5A89C2C9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74EDBBC-6E40-FE5E-2BF6-309C82CEB5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53DA4-C46E-4B66-B40D-26F63C10349E}" type="datetimeFigureOut">
              <a:rPr lang="pt-BR" smtClean="0"/>
              <a:t>05/10/2026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DC79AB4-2C25-7C5B-904D-9ABAB7E39C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1C34D33-9E9A-159A-4469-1E76908B9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D65FE-F1BE-4236-B212-D3A67BEE6C9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488593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F899AB-0394-16F1-61C0-5B60B735DE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92D9D56-FF08-DB7E-0559-BC6EB2B3A9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FCDF4A7-7750-1AA2-F0BA-C743F40C4B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53DA4-C46E-4B66-B40D-26F63C10349E}" type="datetimeFigureOut">
              <a:rPr lang="pt-BR" smtClean="0"/>
              <a:t>05/10/2026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8093B33-DD78-8243-803D-DC43CE713B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F4DE373-12E9-773C-C306-28C5519C87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D65FE-F1BE-4236-B212-D3A67BEE6C9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155327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A0288F-863C-A7D3-D1D5-8ED372FF57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206EDAC-E8C8-8A36-4B05-9617FC192C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0DEFA85-8BED-78E8-7F41-966544935D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53DA4-C46E-4B66-B40D-26F63C10349E}" type="datetimeFigureOut">
              <a:rPr lang="pt-BR" smtClean="0"/>
              <a:t>05/10/2026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EC6665B-2A42-3245-0A21-8605DE65B5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5818F4A-836D-B1D4-620D-2B794A38A1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D65FE-F1BE-4236-B212-D3A67BEE6C9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868224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5D346A9-2A4A-01CB-56BE-84E01F4F95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8A96EBE-ED75-EE81-6CD0-8240635E32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F73C709-6E0F-1AB3-2BA7-B54FD3E5F2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9259611-DBE2-AA4C-61B9-7625C22553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53DA4-C46E-4B66-B40D-26F63C10349E}" type="datetimeFigureOut">
              <a:rPr lang="pt-BR" smtClean="0"/>
              <a:t>05/10/2026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3B9C87B-947C-AFD4-A981-C5741F3FC5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C20E94B-70F5-E5DC-A80B-B59612A3C3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D65FE-F1BE-4236-B212-D3A67BEE6C9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792527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75EB43-7588-E1F8-C9D6-0FCD321329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44A824E-0E90-04A3-4673-3CAC2BC096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1F21782A-71A0-CEF2-B1B4-A48660E6A0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56F8EEFD-ED5C-874E-D259-29A4597CD4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BA16C3DD-A574-8A6D-E811-F4E2B2234DD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17A399CB-7F00-CDE4-58A6-A52653C9C1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53DA4-C46E-4B66-B40D-26F63C10349E}" type="datetimeFigureOut">
              <a:rPr lang="pt-BR" smtClean="0"/>
              <a:t>05/10/2026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D3D6E2A2-C01B-4F12-7AE2-8BCB40A7F1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75C286C3-ABAC-C3EA-23F7-DE6CEC1578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D65FE-F1BE-4236-B212-D3A67BEE6C9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678539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53C138-652C-8C20-A5B8-50849EB4C8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5D71C53-C0BF-5518-B3E2-8350AE467A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53DA4-C46E-4B66-B40D-26F63C10349E}" type="datetimeFigureOut">
              <a:rPr lang="pt-BR" smtClean="0"/>
              <a:t>05/10/2026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27F81159-51BB-3860-1A4D-3E7CEBE826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DC354871-756B-854C-AA71-EE3B4CA176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D65FE-F1BE-4236-B212-D3A67BEE6C9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442544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6D2C3446-109A-0749-3276-D936A7F880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53DA4-C46E-4B66-B40D-26F63C10349E}" type="datetimeFigureOut">
              <a:rPr lang="pt-BR" smtClean="0"/>
              <a:t>05/10/2026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B80E6E0A-46F4-B616-9061-D1A73DCFF8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1D99255-2082-B27A-6D96-06BBB255DD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D65FE-F1BE-4236-B212-D3A67BEE6C9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275661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FFF587-4FD5-0ABD-7E3F-FC7534D255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FD1344D-E73C-A7F7-1157-603E4DE46C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57809FF-BC3B-4DAB-347C-386B46B4EF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FA96C51-CE44-8B1E-7324-F3F4E525F7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53DA4-C46E-4B66-B40D-26F63C10349E}" type="datetimeFigureOut">
              <a:rPr lang="pt-BR" smtClean="0"/>
              <a:t>05/10/2026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7ADC5B0-2A1B-27F1-5C6A-0AB37C236C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D1F38C3-E2B1-9ECB-CCE3-7325AE68DC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D65FE-F1BE-4236-B212-D3A67BEE6C9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960618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44DC959-FF7D-4761-61CE-A349958BAD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505F5F90-9B62-5FA2-B0BE-F8C85D65B267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684B413-4BFA-AF88-FBAE-E2B0FDE079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840B12E-32CD-6C76-AE56-15EB7AEE23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53DA4-C46E-4B66-B40D-26F63C10349E}" type="datetimeFigureOut">
              <a:rPr lang="pt-BR" smtClean="0"/>
              <a:t>05/10/2026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9D42AEA-B755-EBB4-74AF-BC5A94E462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C30A15E-CAA2-E802-AC91-EBC089996E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D65FE-F1BE-4236-B212-D3A67BEE6C9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871471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8B5C76-1599-6D4D-45AD-8B7440DC86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537E0336-2D5A-4A38-E697-1F0CE98F13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E91BCE4-95A1-E541-5770-F752B676BA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53DA4-C46E-4B66-B40D-26F63C10349E}" type="datetimeFigureOut">
              <a:rPr lang="pt-BR" smtClean="0"/>
              <a:t>05/10/2026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690F9F1-DE8C-AE84-1078-F160B7DA8C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A5B775B-8FE8-D645-02B8-2BF690A93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D65FE-F1BE-4236-B212-D3A67BEE6C9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050894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45D0E6F5-C578-9255-9DDB-D4E2F6631E0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AEE0E10-1F61-428A-9691-9C30705AD2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03A59B3-11AD-0BAD-52C0-4C6D32D0AA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53DA4-C46E-4B66-B40D-26F63C10349E}" type="datetimeFigureOut">
              <a:rPr lang="pt-BR" smtClean="0"/>
              <a:t>05/10/2026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52D9B48-CFDA-6CBA-6053-F0CD77B9E3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44166E7-4722-74DE-36C4-7CBAD8DDF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D65FE-F1BE-4236-B212-D3A67BEE6C9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875912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F5F3EA75-3809-D075-9208-AD56AC6D44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F76B3C7-BE8A-6191-E6AF-2EFF61E1FB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5294AE3-43A4-38C4-3E62-E49DC24CE61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E253DA4-C46E-4B66-B40D-26F63C10349E}" type="datetimeFigureOut">
              <a:rPr lang="pt-BR" smtClean="0"/>
              <a:t>05/10/2026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ADFC12D-618A-C75F-AF3E-1F7C324AC2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5BFD41D-846C-4613-E5FF-2B42756C9D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B6D65FE-F1BE-4236-B212-D3A67BEE6C9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13911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6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>
            <a:extLst>
              <a:ext uri="{FF2B5EF4-FFF2-40B4-BE49-F238E27FC236}">
                <a16:creationId xmlns:a16="http://schemas.microsoft.com/office/drawing/2014/main" id="{B0D46F47-E5D7-B943-5089-0BDF3A7E0DBF}"/>
              </a:ext>
            </a:extLst>
          </p:cNvPr>
          <p:cNvSpPr/>
          <p:nvPr/>
        </p:nvSpPr>
        <p:spPr>
          <a:xfrm>
            <a:off x="7874000" y="1143000"/>
            <a:ext cx="4572000" cy="4572000"/>
          </a:xfrm>
          <a:prstGeom prst="ellipse">
            <a:avLst/>
          </a:prstGeom>
          <a:solidFill>
            <a:srgbClr val="293A59">
              <a:alpha val="70000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3" name="Conector reto 2">
            <a:extLst>
              <a:ext uri="{FF2B5EF4-FFF2-40B4-BE49-F238E27FC236}">
                <a16:creationId xmlns:a16="http://schemas.microsoft.com/office/drawing/2014/main" id="{4D05EB33-5CC5-F6D7-2C5F-05B766DFA1E6}"/>
              </a:ext>
            </a:extLst>
          </p:cNvPr>
          <p:cNvCxnSpPr/>
          <p:nvPr/>
        </p:nvCxnSpPr>
        <p:spPr>
          <a:xfrm flipH="1">
            <a:off x="9093200" y="1905000"/>
            <a:ext cx="1066800" cy="1066800"/>
          </a:xfrm>
          <a:prstGeom prst="line">
            <a:avLst/>
          </a:prstGeom>
          <a:ln w="15875">
            <a:solidFill>
              <a:srgbClr val="5466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BAD85EF3-24AC-9490-F39D-EFA55D0B7BAC}"/>
              </a:ext>
            </a:extLst>
          </p:cNvPr>
          <p:cNvCxnSpPr/>
          <p:nvPr/>
        </p:nvCxnSpPr>
        <p:spPr>
          <a:xfrm>
            <a:off x="10160000" y="1905000"/>
            <a:ext cx="1066800" cy="1066800"/>
          </a:xfrm>
          <a:prstGeom prst="line">
            <a:avLst/>
          </a:prstGeom>
          <a:ln w="31750">
            <a:solidFill>
              <a:srgbClr val="2A9D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A42785CF-B1AC-8667-72F0-62348D89E706}"/>
              </a:ext>
            </a:extLst>
          </p:cNvPr>
          <p:cNvCxnSpPr/>
          <p:nvPr/>
        </p:nvCxnSpPr>
        <p:spPr>
          <a:xfrm flipH="1">
            <a:off x="8559800" y="2971800"/>
            <a:ext cx="533400" cy="1066800"/>
          </a:xfrm>
          <a:prstGeom prst="line">
            <a:avLst/>
          </a:prstGeom>
          <a:ln w="15875">
            <a:solidFill>
              <a:srgbClr val="5466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C73648F7-32E3-05A1-00E6-DA428CC83D47}"/>
              </a:ext>
            </a:extLst>
          </p:cNvPr>
          <p:cNvCxnSpPr/>
          <p:nvPr/>
        </p:nvCxnSpPr>
        <p:spPr>
          <a:xfrm>
            <a:off x="9093200" y="2971800"/>
            <a:ext cx="533400" cy="1066800"/>
          </a:xfrm>
          <a:prstGeom prst="line">
            <a:avLst/>
          </a:prstGeom>
          <a:ln w="15875">
            <a:solidFill>
              <a:srgbClr val="5466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74DF7FF0-5F4A-2051-62B7-80B8B882AD88}"/>
              </a:ext>
            </a:extLst>
          </p:cNvPr>
          <p:cNvCxnSpPr/>
          <p:nvPr/>
        </p:nvCxnSpPr>
        <p:spPr>
          <a:xfrm flipH="1">
            <a:off x="10693400" y="2971800"/>
            <a:ext cx="533400" cy="1066800"/>
          </a:xfrm>
          <a:prstGeom prst="line">
            <a:avLst/>
          </a:prstGeom>
          <a:ln w="31750">
            <a:solidFill>
              <a:srgbClr val="2A9D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to 7">
            <a:extLst>
              <a:ext uri="{FF2B5EF4-FFF2-40B4-BE49-F238E27FC236}">
                <a16:creationId xmlns:a16="http://schemas.microsoft.com/office/drawing/2014/main" id="{EFA90018-639A-2E69-8F2F-2FEBFC556E74}"/>
              </a:ext>
            </a:extLst>
          </p:cNvPr>
          <p:cNvCxnSpPr/>
          <p:nvPr/>
        </p:nvCxnSpPr>
        <p:spPr>
          <a:xfrm>
            <a:off x="11226800" y="2971800"/>
            <a:ext cx="533400" cy="1066800"/>
          </a:xfrm>
          <a:prstGeom prst="line">
            <a:avLst/>
          </a:prstGeom>
          <a:ln w="15875">
            <a:solidFill>
              <a:srgbClr val="5466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64DED249-A306-E716-AA9B-A7C61FACD0AE}"/>
              </a:ext>
            </a:extLst>
          </p:cNvPr>
          <p:cNvCxnSpPr/>
          <p:nvPr/>
        </p:nvCxnSpPr>
        <p:spPr>
          <a:xfrm flipH="1">
            <a:off x="10312400" y="4038600"/>
            <a:ext cx="381000" cy="1066800"/>
          </a:xfrm>
          <a:prstGeom prst="line">
            <a:avLst/>
          </a:prstGeom>
          <a:ln w="31750">
            <a:solidFill>
              <a:srgbClr val="2A9D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88EB6AA2-A93A-4936-DCF3-6EFC6422A871}"/>
              </a:ext>
            </a:extLst>
          </p:cNvPr>
          <p:cNvCxnSpPr/>
          <p:nvPr/>
        </p:nvCxnSpPr>
        <p:spPr>
          <a:xfrm>
            <a:off x="10693400" y="4038600"/>
            <a:ext cx="381000" cy="1066800"/>
          </a:xfrm>
          <a:prstGeom prst="line">
            <a:avLst/>
          </a:prstGeom>
          <a:ln w="15875">
            <a:solidFill>
              <a:srgbClr val="5466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Elipse 10">
            <a:extLst>
              <a:ext uri="{FF2B5EF4-FFF2-40B4-BE49-F238E27FC236}">
                <a16:creationId xmlns:a16="http://schemas.microsoft.com/office/drawing/2014/main" id="{F9726522-D7B6-F60D-0B59-33EC98869DE9}"/>
              </a:ext>
            </a:extLst>
          </p:cNvPr>
          <p:cNvSpPr/>
          <p:nvPr/>
        </p:nvSpPr>
        <p:spPr>
          <a:xfrm>
            <a:off x="10022840" y="1767840"/>
            <a:ext cx="274320" cy="274320"/>
          </a:xfrm>
          <a:prstGeom prst="ellipse">
            <a:avLst/>
          </a:prstGeom>
          <a:solidFill>
            <a:srgbClr val="2A9D8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C66A4EE2-A9B4-BED1-9826-2877BE26CA1B}"/>
              </a:ext>
            </a:extLst>
          </p:cNvPr>
          <p:cNvSpPr/>
          <p:nvPr/>
        </p:nvSpPr>
        <p:spPr>
          <a:xfrm>
            <a:off x="8956040" y="2834640"/>
            <a:ext cx="274320" cy="274320"/>
          </a:xfrm>
          <a:prstGeom prst="ellipse">
            <a:avLst/>
          </a:prstGeom>
          <a:solidFill>
            <a:srgbClr val="54668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42CFE4B6-8B25-8F9C-4AA9-4A6AA78D62C1}"/>
              </a:ext>
            </a:extLst>
          </p:cNvPr>
          <p:cNvSpPr/>
          <p:nvPr/>
        </p:nvSpPr>
        <p:spPr>
          <a:xfrm>
            <a:off x="11089640" y="2834640"/>
            <a:ext cx="274320" cy="274320"/>
          </a:xfrm>
          <a:prstGeom prst="ellipse">
            <a:avLst/>
          </a:prstGeom>
          <a:solidFill>
            <a:srgbClr val="2A9D8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908F7AEF-4B98-F781-4BDE-1563B3A3B436}"/>
              </a:ext>
            </a:extLst>
          </p:cNvPr>
          <p:cNvSpPr/>
          <p:nvPr/>
        </p:nvSpPr>
        <p:spPr>
          <a:xfrm>
            <a:off x="8422640" y="3901440"/>
            <a:ext cx="274320" cy="274320"/>
          </a:xfrm>
          <a:prstGeom prst="ellipse">
            <a:avLst/>
          </a:prstGeom>
          <a:solidFill>
            <a:srgbClr val="54668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Elipse 14">
            <a:extLst>
              <a:ext uri="{FF2B5EF4-FFF2-40B4-BE49-F238E27FC236}">
                <a16:creationId xmlns:a16="http://schemas.microsoft.com/office/drawing/2014/main" id="{FE233780-6A76-4551-2E2C-BDBEA419E668}"/>
              </a:ext>
            </a:extLst>
          </p:cNvPr>
          <p:cNvSpPr/>
          <p:nvPr/>
        </p:nvSpPr>
        <p:spPr>
          <a:xfrm>
            <a:off x="9489440" y="3901440"/>
            <a:ext cx="274320" cy="274320"/>
          </a:xfrm>
          <a:prstGeom prst="ellipse">
            <a:avLst/>
          </a:prstGeom>
          <a:solidFill>
            <a:srgbClr val="E76F5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AE13E8EA-0251-C82D-8428-6608DC91FABF}"/>
              </a:ext>
            </a:extLst>
          </p:cNvPr>
          <p:cNvSpPr/>
          <p:nvPr/>
        </p:nvSpPr>
        <p:spPr>
          <a:xfrm>
            <a:off x="10556240" y="3901440"/>
            <a:ext cx="274320" cy="274320"/>
          </a:xfrm>
          <a:prstGeom prst="ellipse">
            <a:avLst/>
          </a:prstGeom>
          <a:solidFill>
            <a:srgbClr val="2A9D8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Elipse 16">
            <a:extLst>
              <a:ext uri="{FF2B5EF4-FFF2-40B4-BE49-F238E27FC236}">
                <a16:creationId xmlns:a16="http://schemas.microsoft.com/office/drawing/2014/main" id="{31119024-7DC9-0FE4-4693-EE96A7E7E8E5}"/>
              </a:ext>
            </a:extLst>
          </p:cNvPr>
          <p:cNvSpPr/>
          <p:nvPr/>
        </p:nvSpPr>
        <p:spPr>
          <a:xfrm>
            <a:off x="11623040" y="3901440"/>
            <a:ext cx="274320" cy="274320"/>
          </a:xfrm>
          <a:prstGeom prst="ellipse">
            <a:avLst/>
          </a:prstGeom>
          <a:solidFill>
            <a:srgbClr val="54668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Elipse 17">
            <a:extLst>
              <a:ext uri="{FF2B5EF4-FFF2-40B4-BE49-F238E27FC236}">
                <a16:creationId xmlns:a16="http://schemas.microsoft.com/office/drawing/2014/main" id="{CCA0E537-9FA7-1D7B-652C-8EBB3D4DD247}"/>
              </a:ext>
            </a:extLst>
          </p:cNvPr>
          <p:cNvSpPr/>
          <p:nvPr/>
        </p:nvSpPr>
        <p:spPr>
          <a:xfrm>
            <a:off x="10175240" y="4968240"/>
            <a:ext cx="274320" cy="274320"/>
          </a:xfrm>
          <a:prstGeom prst="ellipse">
            <a:avLst/>
          </a:prstGeom>
          <a:solidFill>
            <a:srgbClr val="2A9D8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Elipse 18">
            <a:extLst>
              <a:ext uri="{FF2B5EF4-FFF2-40B4-BE49-F238E27FC236}">
                <a16:creationId xmlns:a16="http://schemas.microsoft.com/office/drawing/2014/main" id="{4D8E1D56-B333-6870-CD0D-1B8DD619A41D}"/>
              </a:ext>
            </a:extLst>
          </p:cNvPr>
          <p:cNvSpPr/>
          <p:nvPr/>
        </p:nvSpPr>
        <p:spPr>
          <a:xfrm>
            <a:off x="10937240" y="4968240"/>
            <a:ext cx="274320" cy="274320"/>
          </a:xfrm>
          <a:prstGeom prst="ellipse">
            <a:avLst/>
          </a:prstGeom>
          <a:solidFill>
            <a:srgbClr val="54668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94BEF0A3-1A34-877B-4C2F-C95A12536CD7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A9D8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BC0CC0F7-B9E8-8248-7677-1A4025773506}"/>
              </a:ext>
            </a:extLst>
          </p:cNvPr>
          <p:cNvSpPr txBox="1"/>
          <p:nvPr/>
        </p:nvSpPr>
        <p:spPr>
          <a:xfrm>
            <a:off x="762000" y="711200"/>
            <a:ext cx="7112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100" b="1" spc="150">
                <a:solidFill>
                  <a:srgbClr val="76D6C7"/>
                </a:solidFill>
                <a:latin typeface="Segoe UI" panose="020B0502040204020203" pitchFamily="34" charset="0"/>
              </a:rPr>
              <a:t>UNIVERSIDADE ESTADUAL DE MARINGÁ  ·  ENGENHARIA DE SOFTWARE</a:t>
            </a: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63C5051A-C0DA-5B79-369A-30D849386F4D}"/>
              </a:ext>
            </a:extLst>
          </p:cNvPr>
          <p:cNvSpPr txBox="1"/>
          <p:nvPr/>
        </p:nvSpPr>
        <p:spPr>
          <a:xfrm>
            <a:off x="762000" y="990600"/>
            <a:ext cx="71120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300">
                <a:solidFill>
                  <a:srgbClr val="BECADC"/>
                </a:solidFill>
                <a:latin typeface="Segoe UI" panose="020B0502040204020203" pitchFamily="34" charset="0"/>
              </a:rPr>
              <a:t>Disciplina: Introdução à Inteligência Artificial</a:t>
            </a:r>
          </a:p>
        </p:txBody>
      </p:sp>
      <p:sp>
        <p:nvSpPr>
          <p:cNvPr id="23" name="Retângulo: Cantos Arredondados 22">
            <a:extLst>
              <a:ext uri="{FF2B5EF4-FFF2-40B4-BE49-F238E27FC236}">
                <a16:creationId xmlns:a16="http://schemas.microsoft.com/office/drawing/2014/main" id="{DF4E4EEE-FE84-5345-66F9-36BF928A11A6}"/>
              </a:ext>
            </a:extLst>
          </p:cNvPr>
          <p:cNvSpPr/>
          <p:nvPr/>
        </p:nvSpPr>
        <p:spPr>
          <a:xfrm>
            <a:off x="762000" y="1651000"/>
            <a:ext cx="1041400" cy="330200"/>
          </a:xfrm>
          <a:prstGeom prst="roundRect">
            <a:avLst>
              <a:gd name="adj" fmla="val 50000"/>
            </a:avLst>
          </a:prstGeom>
          <a:solidFill>
            <a:srgbClr val="2A9D8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25400" rIns="76200" bIns="25400" rtlCol="0" anchor="ctr"/>
          <a:lstStyle/>
          <a:p>
            <a:pPr algn="ctr"/>
            <a:r>
              <a:rPr lang="pt-BR" sz="1100" b="1">
                <a:solidFill>
                  <a:srgbClr val="FFFFFF"/>
                </a:solidFill>
                <a:latin typeface="Segoe UI" panose="020B0502040204020203" pitchFamily="34" charset="0"/>
              </a:rPr>
              <a:t>TEMA 9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048B7BFD-7E3F-72B4-613E-814A1FFBCD7B}"/>
              </a:ext>
            </a:extLst>
          </p:cNvPr>
          <p:cNvSpPr txBox="1"/>
          <p:nvPr/>
        </p:nvSpPr>
        <p:spPr>
          <a:xfrm>
            <a:off x="762000" y="2108200"/>
            <a:ext cx="7366000" cy="127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3600" b="1">
                <a:solidFill>
                  <a:srgbClr val="FFFFFF"/>
                </a:solidFill>
                <a:latin typeface="Segoe UI" panose="020B0502040204020203" pitchFamily="34" charset="0"/>
              </a:rPr>
              <a:t>Agendamento de Consultas e Atendimentos</a:t>
            </a:r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39DCB692-3964-3905-62E7-544320C037FE}"/>
              </a:ext>
            </a:extLst>
          </p:cNvPr>
          <p:cNvSpPr txBox="1"/>
          <p:nvPr/>
        </p:nvSpPr>
        <p:spPr>
          <a:xfrm>
            <a:off x="762000" y="3378200"/>
            <a:ext cx="7366000" cy="635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2100">
                <a:solidFill>
                  <a:srgbClr val="76D6C7"/>
                </a:solidFill>
                <a:latin typeface="Segoe UI" panose="020B0502040204020203" pitchFamily="34" charset="0"/>
              </a:rPr>
              <a:t>como Problema de Satisfação de Restrições (PSR)</a:t>
            </a:r>
          </a:p>
        </p:txBody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7E24469E-818F-2838-1555-E29CC0EDEE68}"/>
              </a:ext>
            </a:extLst>
          </p:cNvPr>
          <p:cNvSpPr/>
          <p:nvPr/>
        </p:nvSpPr>
        <p:spPr>
          <a:xfrm>
            <a:off x="762000" y="4114800"/>
            <a:ext cx="889000" cy="38100"/>
          </a:xfrm>
          <a:prstGeom prst="rect">
            <a:avLst/>
          </a:prstGeom>
          <a:solidFill>
            <a:srgbClr val="2A9D8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4859EA9F-FB12-970E-F190-4D96779A8937}"/>
              </a:ext>
            </a:extLst>
          </p:cNvPr>
          <p:cNvSpPr txBox="1"/>
          <p:nvPr/>
        </p:nvSpPr>
        <p:spPr>
          <a:xfrm>
            <a:off x="762000" y="4343400"/>
            <a:ext cx="7112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950" b="1">
                <a:solidFill>
                  <a:srgbClr val="76D6C7"/>
                </a:solidFill>
                <a:latin typeface="Segoe UI" panose="020B0502040204020203" pitchFamily="34" charset="0"/>
              </a:rPr>
              <a:t>INTEGRANTES</a:t>
            </a:r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7AE37337-246B-B69B-589E-AAC1D604C26D}"/>
              </a:ext>
            </a:extLst>
          </p:cNvPr>
          <p:cNvSpPr txBox="1"/>
          <p:nvPr/>
        </p:nvSpPr>
        <p:spPr>
          <a:xfrm>
            <a:off x="762000" y="4572000"/>
            <a:ext cx="7112000" cy="762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300">
                <a:solidFill>
                  <a:srgbClr val="FFFFFF"/>
                </a:solidFill>
                <a:latin typeface="Segoe UI" panose="020B0502040204020203" pitchFamily="34" charset="0"/>
              </a:rPr>
              <a:t>Igor Toebe Lopes Farias — RA 120173</a:t>
            </a:r>
          </a:p>
          <a:p>
            <a:r>
              <a:rPr lang="pt-BR" sz="1300">
                <a:solidFill>
                  <a:srgbClr val="FFFFFF"/>
                </a:solidFill>
                <a:latin typeface="Segoe UI" panose="020B0502040204020203" pitchFamily="34" charset="0"/>
              </a:rPr>
              <a:t>Gustavo Moretto Itikawa — RA 90416</a:t>
            </a:r>
          </a:p>
          <a:p>
            <a:r>
              <a:rPr lang="pt-BR" sz="1300">
                <a:solidFill>
                  <a:srgbClr val="FFFFFF"/>
                </a:solidFill>
                <a:latin typeface="Segoe UI" panose="020B0502040204020203" pitchFamily="34" charset="0"/>
              </a:rPr>
              <a:t>Ricardo Oliveira Geraldo — RA 124583</a:t>
            </a:r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674E4524-8A2A-8863-271D-F70D06342F81}"/>
              </a:ext>
            </a:extLst>
          </p:cNvPr>
          <p:cNvSpPr txBox="1"/>
          <p:nvPr/>
        </p:nvSpPr>
        <p:spPr>
          <a:xfrm>
            <a:off x="762000" y="5435600"/>
            <a:ext cx="7112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300">
                <a:solidFill>
                  <a:srgbClr val="BECADC"/>
                </a:solidFill>
                <a:latin typeface="Segoe UI" panose="020B0502040204020203" pitchFamily="34" charset="0"/>
              </a:rPr>
              <a:t>Professor: Wagner Igarashi</a:t>
            </a:r>
          </a:p>
        </p:txBody>
      </p: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6886B85D-AC34-0D10-5ECF-5CDAEC5326AC}"/>
              </a:ext>
            </a:extLst>
          </p:cNvPr>
          <p:cNvSpPr txBox="1"/>
          <p:nvPr/>
        </p:nvSpPr>
        <p:spPr>
          <a:xfrm>
            <a:off x="762000" y="5715000"/>
            <a:ext cx="7112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300">
                <a:solidFill>
                  <a:srgbClr val="BECADC"/>
                </a:solidFill>
                <a:latin typeface="Segoe UI" panose="020B0502040204020203" pitchFamily="34" charset="0"/>
              </a:rPr>
              <a:t>Maringá, 5 de outubro de 2026</a:t>
            </a:r>
          </a:p>
        </p:txBody>
      </p:sp>
    </p:spTree>
    <p:extLst>
      <p:ext uri="{BB962C8B-B14F-4D97-AF65-F5344CB8AC3E}">
        <p14:creationId xmlns:p14="http://schemas.microsoft.com/office/powerpoint/2010/main" val="380893178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410D8AEA-0FAC-DABE-2346-A84A20A307F9}"/>
              </a:ext>
            </a:extLst>
          </p:cNvPr>
          <p:cNvSpPr/>
          <p:nvPr/>
        </p:nvSpPr>
        <p:spPr>
          <a:xfrm>
            <a:off x="0" y="0"/>
            <a:ext cx="127000" cy="6858000"/>
          </a:xfrm>
          <a:prstGeom prst="rect">
            <a:avLst/>
          </a:prstGeom>
          <a:solidFill>
            <a:srgbClr val="1B263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D86B3C20-3BDF-B475-6339-1860A7676969}"/>
              </a:ext>
            </a:extLst>
          </p:cNvPr>
          <p:cNvSpPr/>
          <p:nvPr/>
        </p:nvSpPr>
        <p:spPr>
          <a:xfrm>
            <a:off x="0" y="279400"/>
            <a:ext cx="127000" cy="889000"/>
          </a:xfrm>
          <a:prstGeom prst="rect">
            <a:avLst/>
          </a:prstGeom>
          <a:solidFill>
            <a:srgbClr val="2A9D8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88A86424-63BF-5834-0F90-199D9DD673A1}"/>
              </a:ext>
            </a:extLst>
          </p:cNvPr>
          <p:cNvSpPr txBox="1"/>
          <p:nvPr/>
        </p:nvSpPr>
        <p:spPr>
          <a:xfrm>
            <a:off x="609600" y="355600"/>
            <a:ext cx="8890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050" b="1" spc="160">
                <a:solidFill>
                  <a:srgbClr val="2A9D8F"/>
                </a:solidFill>
                <a:latin typeface="Segoe UI" panose="020B0502040204020203" pitchFamily="34" charset="0"/>
              </a:rPr>
              <a:t>INTRODUÇÃO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683BEF77-0DA8-BFD9-E88A-90A4CED902EE}"/>
              </a:ext>
            </a:extLst>
          </p:cNvPr>
          <p:cNvSpPr txBox="1"/>
          <p:nvPr/>
        </p:nvSpPr>
        <p:spPr>
          <a:xfrm>
            <a:off x="609600" y="558800"/>
            <a:ext cx="94488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2600" b="1">
                <a:solidFill>
                  <a:srgbClr val="1B263B"/>
                </a:solidFill>
                <a:latin typeface="Segoe UI" panose="020B0502040204020203" pitchFamily="34" charset="0"/>
              </a:rPr>
              <a:t>O problema real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28E85988-BA36-E5F0-EA26-07EA2BEE1FD3}"/>
              </a:ext>
            </a:extLst>
          </p:cNvPr>
          <p:cNvSpPr/>
          <p:nvPr/>
        </p:nvSpPr>
        <p:spPr>
          <a:xfrm>
            <a:off x="609600" y="1117600"/>
            <a:ext cx="711200" cy="44450"/>
          </a:xfrm>
          <a:prstGeom prst="rect">
            <a:avLst/>
          </a:prstGeom>
          <a:solidFill>
            <a:srgbClr val="2A9D8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24505097-D332-B00A-2F6F-C062990ACB90}"/>
              </a:ext>
            </a:extLst>
          </p:cNvPr>
          <p:cNvSpPr/>
          <p:nvPr/>
        </p:nvSpPr>
        <p:spPr>
          <a:xfrm>
            <a:off x="10414000" y="381000"/>
            <a:ext cx="1168400" cy="330200"/>
          </a:xfrm>
          <a:prstGeom prst="roundRect">
            <a:avLst>
              <a:gd name="adj" fmla="val 50000"/>
            </a:avLst>
          </a:prstGeom>
          <a:solidFill>
            <a:srgbClr val="F2F5F9"/>
          </a:solidFill>
          <a:ln w="9525" cap="flat" cmpd="sng" algn="ctr">
            <a:solidFill>
              <a:srgbClr val="DBE2EA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25400" rIns="76200" bIns="25400" rtlCol="0" anchor="ctr">
            <a:noAutofit/>
          </a:bodyPr>
          <a:lstStyle/>
          <a:p>
            <a:pPr algn="ctr"/>
            <a:r>
              <a:rPr lang="pt-BR" sz="1100" b="1">
                <a:solidFill>
                  <a:srgbClr val="647187"/>
                </a:solidFill>
                <a:latin typeface="Segoe UI" panose="020B0502040204020203" pitchFamily="34" charset="0"/>
              </a:rPr>
              <a:t>≈ 3 min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FAA629EF-FB05-8F2E-4CF1-471976B79FB0}"/>
              </a:ext>
            </a:extLst>
          </p:cNvPr>
          <p:cNvSpPr txBox="1"/>
          <p:nvPr/>
        </p:nvSpPr>
        <p:spPr>
          <a:xfrm>
            <a:off x="609600" y="1473200"/>
            <a:ext cx="5588000" cy="304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368300" indent="-342900">
              <a:lnSpc>
                <a:spcPct val="105000"/>
              </a:lnSpc>
              <a:spcAft>
                <a:spcPts val="765"/>
              </a:spcAft>
              <a:buClr>
                <a:srgbClr val="2A9D8F"/>
              </a:buClr>
              <a:buSzPct val="100000"/>
              <a:buFont typeface="Arial" panose="020B0604020202020204" pitchFamily="34" charset="0"/>
              <a:buChar char="•"/>
            </a:pPr>
            <a:r>
              <a:rPr lang="pt-BR" sz="1700">
                <a:solidFill>
                  <a:srgbClr val="243046"/>
                </a:solidFill>
                <a:latin typeface="Segoe UI" panose="020B0502040204020203" pitchFamily="34" charset="0"/>
              </a:rPr>
              <a:t>Clínicas, consultorias e escritórios precisam distribuir clientes entre profissionais, horários e salas.</a:t>
            </a:r>
          </a:p>
          <a:p>
            <a:pPr marL="368300" indent="-342900">
              <a:lnSpc>
                <a:spcPct val="105000"/>
              </a:lnSpc>
              <a:spcAft>
                <a:spcPts val="765"/>
              </a:spcAft>
              <a:buClr>
                <a:srgbClr val="2A9D8F"/>
              </a:buClr>
              <a:buSzPct val="100000"/>
              <a:buFont typeface="Arial" panose="020B0604020202020204" pitchFamily="34" charset="0"/>
              <a:buChar char="•"/>
            </a:pPr>
            <a:r>
              <a:rPr lang="pt-BR" sz="1700">
                <a:solidFill>
                  <a:srgbClr val="243046"/>
                </a:solidFill>
                <a:latin typeface="Segoe UI" panose="020B0502040204020203" pitchFamily="34" charset="0"/>
              </a:rPr>
              <a:t>Cada atendimento exige:</a:t>
            </a:r>
          </a:p>
          <a:p>
            <a:pPr marL="622300" indent="-342900">
              <a:lnSpc>
                <a:spcPct val="105000"/>
              </a:lnSpc>
              <a:spcAft>
                <a:spcPts val="765"/>
              </a:spcAft>
              <a:buClr>
                <a:srgbClr val="2A9D8F"/>
              </a:buClr>
              <a:buSzPct val="100000"/>
              <a:buFont typeface="Arial" panose="020B0604020202020204" pitchFamily="34" charset="0"/>
              <a:buChar char="–"/>
            </a:pPr>
            <a:r>
              <a:rPr lang="pt-BR" sz="1500">
                <a:solidFill>
                  <a:srgbClr val="647187"/>
                </a:solidFill>
                <a:latin typeface="Segoe UI" panose="020B0502040204020203" pitchFamily="34" charset="0"/>
              </a:rPr>
              <a:t>uma especialidade compatível com o profissional;</a:t>
            </a:r>
          </a:p>
          <a:p>
            <a:pPr marL="622300" indent="-342900">
              <a:lnSpc>
                <a:spcPct val="105000"/>
              </a:lnSpc>
              <a:spcAft>
                <a:spcPts val="765"/>
              </a:spcAft>
              <a:buClr>
                <a:srgbClr val="2A9D8F"/>
              </a:buClr>
              <a:buSzPct val="100000"/>
              <a:buFont typeface="Arial" panose="020B0604020202020204" pitchFamily="34" charset="0"/>
              <a:buChar char="–"/>
            </a:pPr>
            <a:r>
              <a:rPr lang="pt-BR" sz="1500">
                <a:solidFill>
                  <a:srgbClr val="647187"/>
                </a:solidFill>
                <a:latin typeface="Segoe UI" panose="020B0502040204020203" pitchFamily="34" charset="0"/>
              </a:rPr>
              <a:t>um horário compatível com cliente, profissional e sala;</a:t>
            </a:r>
          </a:p>
          <a:p>
            <a:pPr marL="622300" indent="-342900">
              <a:lnSpc>
                <a:spcPct val="105000"/>
              </a:lnSpc>
              <a:spcAft>
                <a:spcPts val="765"/>
              </a:spcAft>
              <a:buClr>
                <a:srgbClr val="2A9D8F"/>
              </a:buClr>
              <a:buSzPct val="100000"/>
              <a:buFont typeface="Arial" panose="020B0604020202020204" pitchFamily="34" charset="0"/>
              <a:buChar char="–"/>
            </a:pPr>
            <a:r>
              <a:rPr lang="pt-BR" sz="1500">
                <a:solidFill>
                  <a:srgbClr val="647187"/>
                </a:solidFill>
                <a:latin typeface="Segoe UI" panose="020B0502040204020203" pitchFamily="34" charset="0"/>
              </a:rPr>
              <a:t>nenhum conflito com outros atendimentos simultâneos.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9C2200D6-0B02-B804-986D-2DCFAA82BACF}"/>
              </a:ext>
            </a:extLst>
          </p:cNvPr>
          <p:cNvSpPr/>
          <p:nvPr/>
        </p:nvSpPr>
        <p:spPr>
          <a:xfrm>
            <a:off x="609600" y="4673600"/>
            <a:ext cx="5588000" cy="1270000"/>
          </a:xfrm>
          <a:prstGeom prst="rect">
            <a:avLst/>
          </a:prstGeom>
          <a:solidFill>
            <a:srgbClr val="E1F3F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3738E114-8DE3-2C76-9726-C0966F99E32D}"/>
              </a:ext>
            </a:extLst>
          </p:cNvPr>
          <p:cNvSpPr/>
          <p:nvPr/>
        </p:nvSpPr>
        <p:spPr>
          <a:xfrm>
            <a:off x="609600" y="4673600"/>
            <a:ext cx="63500" cy="1270000"/>
          </a:xfrm>
          <a:prstGeom prst="rect">
            <a:avLst/>
          </a:prstGeom>
          <a:solidFill>
            <a:srgbClr val="2A9D8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AB8B03A6-99FE-E450-CA8F-F17F1A23C120}"/>
              </a:ext>
            </a:extLst>
          </p:cNvPr>
          <p:cNvSpPr txBox="1"/>
          <p:nvPr/>
        </p:nvSpPr>
        <p:spPr>
          <a:xfrm>
            <a:off x="889000" y="4851400"/>
            <a:ext cx="5080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000" b="1">
                <a:solidFill>
                  <a:srgbClr val="2A9D8F"/>
                </a:solidFill>
                <a:latin typeface="Segoe UI" panose="020B0502040204020203" pitchFamily="34" charset="0"/>
              </a:rPr>
              <a:t>PERGUNTA CENTRAL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FC883A14-6284-DBA7-5628-37F31BA35D98}"/>
              </a:ext>
            </a:extLst>
          </p:cNvPr>
          <p:cNvSpPr txBox="1"/>
          <p:nvPr/>
        </p:nvSpPr>
        <p:spPr>
          <a:xfrm>
            <a:off x="889000" y="5105400"/>
            <a:ext cx="5143500" cy="762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550" b="1">
                <a:solidFill>
                  <a:srgbClr val="1B263B"/>
                </a:solidFill>
                <a:latin typeface="Segoe UI" panose="020B0502040204020203" pitchFamily="34" charset="0"/>
              </a:rPr>
              <a:t>Como atribuir profissional, horário e sala a todos os atendimentos sem nenhum conflito?</a:t>
            </a:r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1610E630-FC92-6C3E-9D35-56F595D0F76E}"/>
              </a:ext>
            </a:extLst>
          </p:cNvPr>
          <p:cNvSpPr/>
          <p:nvPr/>
        </p:nvSpPr>
        <p:spPr>
          <a:xfrm>
            <a:off x="6604000" y="1473200"/>
            <a:ext cx="4978400" cy="4724400"/>
          </a:xfrm>
          <a:prstGeom prst="roundRect">
            <a:avLst>
              <a:gd name="adj" fmla="val 2688"/>
            </a:avLst>
          </a:prstGeom>
          <a:solidFill>
            <a:srgbClr val="FFFFFF"/>
          </a:solidFill>
          <a:ln w="9525" cap="flat" cmpd="sng" algn="ctr">
            <a:solidFill>
              <a:srgbClr val="DBE2EA"/>
            </a:solidFill>
            <a:prstDash val="solid"/>
            <a:miter lim="800000"/>
          </a:ln>
          <a:effectLst>
            <a:outerShdw blurRad="152400" dist="50800" dir="5400000" rotWithShape="0">
              <a:srgbClr val="0F172A">
                <a:alpha val="1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D5F5CFB1-42D5-CF5D-FA8D-0DB6089E8E6C}"/>
              </a:ext>
            </a:extLst>
          </p:cNvPr>
          <p:cNvSpPr txBox="1"/>
          <p:nvPr/>
        </p:nvSpPr>
        <p:spPr>
          <a:xfrm>
            <a:off x="6832600" y="1651000"/>
            <a:ext cx="45212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200" b="1">
                <a:solidFill>
                  <a:srgbClr val="1B263B"/>
                </a:solidFill>
                <a:latin typeface="Segoe UI" panose="020B0502040204020203" pitchFamily="34" charset="0"/>
              </a:rPr>
              <a:t>Exemplo de agenda sem conflitos — segunda-feira</a:t>
            </a:r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202244EA-0DB0-2645-3A1C-71A654F99FAE}"/>
              </a:ext>
            </a:extLst>
          </p:cNvPr>
          <p:cNvSpPr/>
          <p:nvPr/>
        </p:nvSpPr>
        <p:spPr>
          <a:xfrm>
            <a:off x="7454900" y="2006600"/>
            <a:ext cx="1244600" cy="279400"/>
          </a:xfrm>
          <a:prstGeom prst="roundRect">
            <a:avLst>
              <a:gd name="adj" fmla="val 27273"/>
            </a:avLst>
          </a:prstGeom>
          <a:solidFill>
            <a:srgbClr val="F2F5F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25400" rIns="76200" bIns="25400" rtlCol="0" anchor="ctr"/>
          <a:lstStyle/>
          <a:p>
            <a:pPr algn="ctr"/>
            <a:r>
              <a:rPr lang="pt-BR" sz="1050" b="1">
                <a:solidFill>
                  <a:srgbClr val="647187"/>
                </a:solidFill>
                <a:latin typeface="Segoe UI" panose="020B0502040204020203" pitchFamily="34" charset="0"/>
              </a:rPr>
              <a:t>Sala 1</a:t>
            </a:r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B64B00FE-F200-7405-26CF-739083E75629}"/>
              </a:ext>
            </a:extLst>
          </p:cNvPr>
          <p:cNvSpPr/>
          <p:nvPr/>
        </p:nvSpPr>
        <p:spPr>
          <a:xfrm>
            <a:off x="8775700" y="2006600"/>
            <a:ext cx="1244600" cy="279400"/>
          </a:xfrm>
          <a:prstGeom prst="roundRect">
            <a:avLst>
              <a:gd name="adj" fmla="val 27273"/>
            </a:avLst>
          </a:prstGeom>
          <a:solidFill>
            <a:srgbClr val="F2F5F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25400" rIns="76200" bIns="25400" rtlCol="0" anchor="ctr"/>
          <a:lstStyle/>
          <a:p>
            <a:pPr algn="ctr"/>
            <a:r>
              <a:rPr lang="pt-BR" sz="1050" b="1">
                <a:solidFill>
                  <a:srgbClr val="647187"/>
                </a:solidFill>
                <a:latin typeface="Segoe UI" panose="020B0502040204020203" pitchFamily="34" charset="0"/>
              </a:rPr>
              <a:t>Sala 2</a:t>
            </a:r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CCAF29A2-BC41-85CE-4219-0C8DA8993E6F}"/>
              </a:ext>
            </a:extLst>
          </p:cNvPr>
          <p:cNvSpPr/>
          <p:nvPr/>
        </p:nvSpPr>
        <p:spPr>
          <a:xfrm>
            <a:off x="10096500" y="2006600"/>
            <a:ext cx="1244600" cy="279400"/>
          </a:xfrm>
          <a:prstGeom prst="roundRect">
            <a:avLst>
              <a:gd name="adj" fmla="val 27273"/>
            </a:avLst>
          </a:prstGeom>
          <a:solidFill>
            <a:srgbClr val="F2F5F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25400" rIns="76200" bIns="25400" rtlCol="0" anchor="ctr"/>
          <a:lstStyle/>
          <a:p>
            <a:pPr algn="ctr"/>
            <a:r>
              <a:rPr lang="pt-BR" sz="1050" b="1">
                <a:solidFill>
                  <a:srgbClr val="647187"/>
                </a:solidFill>
                <a:latin typeface="Segoe UI" panose="020B0502040204020203" pitchFamily="34" charset="0"/>
              </a:rPr>
              <a:t>Sala 3</a:t>
            </a:r>
          </a:p>
        </p:txBody>
      </p:sp>
      <p:cxnSp>
        <p:nvCxnSpPr>
          <p:cNvPr id="18" name="Conector reto 17">
            <a:extLst>
              <a:ext uri="{FF2B5EF4-FFF2-40B4-BE49-F238E27FC236}">
                <a16:creationId xmlns:a16="http://schemas.microsoft.com/office/drawing/2014/main" id="{C7D35F41-D7D2-A19A-3F62-57B1C4B2EF8A}"/>
              </a:ext>
            </a:extLst>
          </p:cNvPr>
          <p:cNvCxnSpPr/>
          <p:nvPr/>
        </p:nvCxnSpPr>
        <p:spPr>
          <a:xfrm>
            <a:off x="7416800" y="2362200"/>
            <a:ext cx="3962400" cy="0"/>
          </a:xfrm>
          <a:prstGeom prst="line">
            <a:avLst/>
          </a:prstGeom>
          <a:ln w="6350">
            <a:solidFill>
              <a:srgbClr val="DB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BDB814B7-E73B-0858-E248-4700820DDF92}"/>
              </a:ext>
            </a:extLst>
          </p:cNvPr>
          <p:cNvSpPr txBox="1"/>
          <p:nvPr/>
        </p:nvSpPr>
        <p:spPr>
          <a:xfrm>
            <a:off x="6756400" y="2413000"/>
            <a:ext cx="5588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pt-BR" sz="1000">
                <a:solidFill>
                  <a:srgbClr val="647187"/>
                </a:solidFill>
                <a:latin typeface="Segoe UI" panose="020B0502040204020203" pitchFamily="34" charset="0"/>
              </a:rPr>
              <a:t>08h</a:t>
            </a:r>
          </a:p>
        </p:txBody>
      </p:sp>
      <p:cxnSp>
        <p:nvCxnSpPr>
          <p:cNvPr id="20" name="Conector reto 19">
            <a:extLst>
              <a:ext uri="{FF2B5EF4-FFF2-40B4-BE49-F238E27FC236}">
                <a16:creationId xmlns:a16="http://schemas.microsoft.com/office/drawing/2014/main" id="{FE4151CE-762C-5B15-390D-EC7CFEF33ECC}"/>
              </a:ext>
            </a:extLst>
          </p:cNvPr>
          <p:cNvCxnSpPr/>
          <p:nvPr/>
        </p:nvCxnSpPr>
        <p:spPr>
          <a:xfrm>
            <a:off x="7416800" y="2895600"/>
            <a:ext cx="3962400" cy="0"/>
          </a:xfrm>
          <a:prstGeom prst="line">
            <a:avLst/>
          </a:prstGeom>
          <a:ln w="6350">
            <a:solidFill>
              <a:srgbClr val="DB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F5E05494-9AA6-CCA1-E246-63F100114342}"/>
              </a:ext>
            </a:extLst>
          </p:cNvPr>
          <p:cNvSpPr txBox="1"/>
          <p:nvPr/>
        </p:nvSpPr>
        <p:spPr>
          <a:xfrm>
            <a:off x="6756400" y="2946400"/>
            <a:ext cx="5588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pt-BR" sz="1000">
                <a:solidFill>
                  <a:srgbClr val="647187"/>
                </a:solidFill>
                <a:latin typeface="Segoe UI" panose="020B0502040204020203" pitchFamily="34" charset="0"/>
              </a:rPr>
              <a:t>09h</a:t>
            </a:r>
          </a:p>
        </p:txBody>
      </p:sp>
      <p:cxnSp>
        <p:nvCxnSpPr>
          <p:cNvPr id="22" name="Conector reto 21">
            <a:extLst>
              <a:ext uri="{FF2B5EF4-FFF2-40B4-BE49-F238E27FC236}">
                <a16:creationId xmlns:a16="http://schemas.microsoft.com/office/drawing/2014/main" id="{998BD364-BC1D-7750-A3A5-F6E3910FAF87}"/>
              </a:ext>
            </a:extLst>
          </p:cNvPr>
          <p:cNvCxnSpPr/>
          <p:nvPr/>
        </p:nvCxnSpPr>
        <p:spPr>
          <a:xfrm>
            <a:off x="7416800" y="3429000"/>
            <a:ext cx="3962400" cy="0"/>
          </a:xfrm>
          <a:prstGeom prst="line">
            <a:avLst/>
          </a:prstGeom>
          <a:ln w="6350">
            <a:solidFill>
              <a:srgbClr val="DB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5EA82B8A-1ADD-F4E7-7AEB-F42134D0D174}"/>
              </a:ext>
            </a:extLst>
          </p:cNvPr>
          <p:cNvSpPr txBox="1"/>
          <p:nvPr/>
        </p:nvSpPr>
        <p:spPr>
          <a:xfrm>
            <a:off x="6756400" y="3479800"/>
            <a:ext cx="5588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pt-BR" sz="1000">
                <a:solidFill>
                  <a:srgbClr val="647187"/>
                </a:solidFill>
                <a:latin typeface="Segoe UI" panose="020B0502040204020203" pitchFamily="34" charset="0"/>
              </a:rPr>
              <a:t>10h</a:t>
            </a:r>
          </a:p>
        </p:txBody>
      </p:sp>
      <p:cxnSp>
        <p:nvCxnSpPr>
          <p:cNvPr id="24" name="Conector reto 23">
            <a:extLst>
              <a:ext uri="{FF2B5EF4-FFF2-40B4-BE49-F238E27FC236}">
                <a16:creationId xmlns:a16="http://schemas.microsoft.com/office/drawing/2014/main" id="{252F1896-2634-5FDF-4441-0BADD096AD79}"/>
              </a:ext>
            </a:extLst>
          </p:cNvPr>
          <p:cNvCxnSpPr/>
          <p:nvPr/>
        </p:nvCxnSpPr>
        <p:spPr>
          <a:xfrm>
            <a:off x="7416800" y="3962400"/>
            <a:ext cx="3962400" cy="0"/>
          </a:xfrm>
          <a:prstGeom prst="line">
            <a:avLst/>
          </a:prstGeom>
          <a:ln w="6350">
            <a:solidFill>
              <a:srgbClr val="DB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AF0235DA-C491-5046-744C-BF6476A31FC8}"/>
              </a:ext>
            </a:extLst>
          </p:cNvPr>
          <p:cNvSpPr txBox="1"/>
          <p:nvPr/>
        </p:nvSpPr>
        <p:spPr>
          <a:xfrm>
            <a:off x="6756400" y="4013200"/>
            <a:ext cx="5588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pt-BR" sz="1000">
                <a:solidFill>
                  <a:srgbClr val="647187"/>
                </a:solidFill>
                <a:latin typeface="Segoe UI" panose="020B0502040204020203" pitchFamily="34" charset="0"/>
              </a:rPr>
              <a:t>11h</a:t>
            </a:r>
          </a:p>
        </p:txBody>
      </p:sp>
      <p:cxnSp>
        <p:nvCxnSpPr>
          <p:cNvPr id="26" name="Conector reto 25">
            <a:extLst>
              <a:ext uri="{FF2B5EF4-FFF2-40B4-BE49-F238E27FC236}">
                <a16:creationId xmlns:a16="http://schemas.microsoft.com/office/drawing/2014/main" id="{5975F8E5-9AEA-EDFA-2264-16682EDEA224}"/>
              </a:ext>
            </a:extLst>
          </p:cNvPr>
          <p:cNvCxnSpPr/>
          <p:nvPr/>
        </p:nvCxnSpPr>
        <p:spPr>
          <a:xfrm>
            <a:off x="7416800" y="4495800"/>
            <a:ext cx="3962400" cy="0"/>
          </a:xfrm>
          <a:prstGeom prst="line">
            <a:avLst/>
          </a:prstGeom>
          <a:ln w="6350">
            <a:solidFill>
              <a:srgbClr val="DB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508069D8-5BD3-A866-CD1C-253BFBEA91FA}"/>
              </a:ext>
            </a:extLst>
          </p:cNvPr>
          <p:cNvSpPr txBox="1"/>
          <p:nvPr/>
        </p:nvSpPr>
        <p:spPr>
          <a:xfrm>
            <a:off x="6756400" y="4546600"/>
            <a:ext cx="5588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pt-BR" sz="1000">
                <a:solidFill>
                  <a:srgbClr val="647187"/>
                </a:solidFill>
                <a:latin typeface="Segoe UI" panose="020B0502040204020203" pitchFamily="34" charset="0"/>
              </a:rPr>
              <a:t>12h</a:t>
            </a:r>
          </a:p>
        </p:txBody>
      </p:sp>
      <p:cxnSp>
        <p:nvCxnSpPr>
          <p:cNvPr id="28" name="Conector reto 27">
            <a:extLst>
              <a:ext uri="{FF2B5EF4-FFF2-40B4-BE49-F238E27FC236}">
                <a16:creationId xmlns:a16="http://schemas.microsoft.com/office/drawing/2014/main" id="{955A2494-D791-E034-61ED-3890D4310FE8}"/>
              </a:ext>
            </a:extLst>
          </p:cNvPr>
          <p:cNvCxnSpPr/>
          <p:nvPr/>
        </p:nvCxnSpPr>
        <p:spPr>
          <a:xfrm>
            <a:off x="7416800" y="5029200"/>
            <a:ext cx="3962400" cy="0"/>
          </a:xfrm>
          <a:prstGeom prst="line">
            <a:avLst/>
          </a:prstGeom>
          <a:ln w="6350">
            <a:solidFill>
              <a:srgbClr val="DB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D5AA7BCC-C7F2-DCF5-DCCF-7BAEFD36CBF1}"/>
              </a:ext>
            </a:extLst>
          </p:cNvPr>
          <p:cNvSpPr txBox="1"/>
          <p:nvPr/>
        </p:nvSpPr>
        <p:spPr>
          <a:xfrm>
            <a:off x="6756400" y="5080000"/>
            <a:ext cx="5588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pt-BR" sz="1000">
                <a:solidFill>
                  <a:srgbClr val="647187"/>
                </a:solidFill>
                <a:latin typeface="Segoe UI" panose="020B0502040204020203" pitchFamily="34" charset="0"/>
              </a:rPr>
              <a:t>13h</a:t>
            </a:r>
          </a:p>
        </p:txBody>
      </p:sp>
      <p:cxnSp>
        <p:nvCxnSpPr>
          <p:cNvPr id="30" name="Conector reto 29">
            <a:extLst>
              <a:ext uri="{FF2B5EF4-FFF2-40B4-BE49-F238E27FC236}">
                <a16:creationId xmlns:a16="http://schemas.microsoft.com/office/drawing/2014/main" id="{A2CD324C-A7E5-9CFE-AB8F-A9AF53A60A3B}"/>
              </a:ext>
            </a:extLst>
          </p:cNvPr>
          <p:cNvCxnSpPr/>
          <p:nvPr/>
        </p:nvCxnSpPr>
        <p:spPr>
          <a:xfrm>
            <a:off x="7416800" y="5562600"/>
            <a:ext cx="3962400" cy="0"/>
          </a:xfrm>
          <a:prstGeom prst="line">
            <a:avLst/>
          </a:prstGeom>
          <a:ln w="6350">
            <a:solidFill>
              <a:srgbClr val="DB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tângulo: Cantos Arredondados 30">
            <a:extLst>
              <a:ext uri="{FF2B5EF4-FFF2-40B4-BE49-F238E27FC236}">
                <a16:creationId xmlns:a16="http://schemas.microsoft.com/office/drawing/2014/main" id="{C4DFA8A1-21BE-EE20-C493-9F5A513D111E}"/>
              </a:ext>
            </a:extLst>
          </p:cNvPr>
          <p:cNvSpPr/>
          <p:nvPr/>
        </p:nvSpPr>
        <p:spPr>
          <a:xfrm>
            <a:off x="7454900" y="2400300"/>
            <a:ext cx="1244600" cy="457200"/>
          </a:xfrm>
          <a:prstGeom prst="roundRect">
            <a:avLst>
              <a:gd name="adj" fmla="val 16667"/>
            </a:avLst>
          </a:prstGeom>
          <a:solidFill>
            <a:srgbClr val="2A9D8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25400" rIns="76200" bIns="25400" rtlCol="0" anchor="ctr"/>
          <a:lstStyle/>
          <a:p>
            <a:pPr algn="ctr"/>
            <a:r>
              <a:rPr lang="pt-BR" sz="1000" b="1">
                <a:solidFill>
                  <a:srgbClr val="FFFFFF"/>
                </a:solidFill>
                <a:latin typeface="Segoe UI" panose="020B0502040204020203" pitchFamily="34" charset="0"/>
              </a:rPr>
              <a:t>P1 · Cliente 1</a:t>
            </a:r>
          </a:p>
        </p:txBody>
      </p:sp>
      <p:sp>
        <p:nvSpPr>
          <p:cNvPr id="32" name="Retângulo: Cantos Arredondados 31">
            <a:extLst>
              <a:ext uri="{FF2B5EF4-FFF2-40B4-BE49-F238E27FC236}">
                <a16:creationId xmlns:a16="http://schemas.microsoft.com/office/drawing/2014/main" id="{4AB0E056-8BE5-ADEB-DB8D-A382C0E715FE}"/>
              </a:ext>
            </a:extLst>
          </p:cNvPr>
          <p:cNvSpPr/>
          <p:nvPr/>
        </p:nvSpPr>
        <p:spPr>
          <a:xfrm>
            <a:off x="7454900" y="2933700"/>
            <a:ext cx="1244600" cy="990600"/>
          </a:xfrm>
          <a:prstGeom prst="roundRect">
            <a:avLst>
              <a:gd name="adj" fmla="val 7692"/>
            </a:avLst>
          </a:prstGeom>
          <a:solidFill>
            <a:srgbClr val="7C5CB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25400" rIns="76200" bIns="25400" rtlCol="0" anchor="ctr"/>
          <a:lstStyle/>
          <a:p>
            <a:pPr algn="ctr"/>
            <a:r>
              <a:rPr lang="pt-BR" sz="1000" b="1">
                <a:solidFill>
                  <a:srgbClr val="FFFFFF"/>
                </a:solidFill>
                <a:latin typeface="Segoe UI" panose="020B0502040204020203" pitchFamily="34" charset="0"/>
              </a:rPr>
              <a:t>P4 · Cliente 5</a:t>
            </a:r>
          </a:p>
        </p:txBody>
      </p:sp>
      <p:sp>
        <p:nvSpPr>
          <p:cNvPr id="33" name="Retângulo: Cantos Arredondados 32">
            <a:extLst>
              <a:ext uri="{FF2B5EF4-FFF2-40B4-BE49-F238E27FC236}">
                <a16:creationId xmlns:a16="http://schemas.microsoft.com/office/drawing/2014/main" id="{20C82ADC-4DF1-F705-67FE-8D3537E24B7F}"/>
              </a:ext>
            </a:extLst>
          </p:cNvPr>
          <p:cNvSpPr/>
          <p:nvPr/>
        </p:nvSpPr>
        <p:spPr>
          <a:xfrm>
            <a:off x="7454900" y="4533900"/>
            <a:ext cx="1244600" cy="457200"/>
          </a:xfrm>
          <a:prstGeom prst="roundRect">
            <a:avLst>
              <a:gd name="adj" fmla="val 16667"/>
            </a:avLst>
          </a:prstGeom>
          <a:solidFill>
            <a:srgbClr val="2A9D8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25400" rIns="76200" bIns="25400" rtlCol="0" anchor="ctr"/>
          <a:lstStyle/>
          <a:p>
            <a:pPr algn="ctr"/>
            <a:r>
              <a:rPr lang="pt-BR" sz="1000" b="1">
                <a:solidFill>
                  <a:srgbClr val="FFFFFF"/>
                </a:solidFill>
                <a:latin typeface="Segoe UI" panose="020B0502040204020203" pitchFamily="34" charset="0"/>
              </a:rPr>
              <a:t>P2 · Cliente 7</a:t>
            </a:r>
          </a:p>
        </p:txBody>
      </p:sp>
      <p:sp>
        <p:nvSpPr>
          <p:cNvPr id="34" name="Retângulo: Cantos Arredondados 33">
            <a:extLst>
              <a:ext uri="{FF2B5EF4-FFF2-40B4-BE49-F238E27FC236}">
                <a16:creationId xmlns:a16="http://schemas.microsoft.com/office/drawing/2014/main" id="{0F23A40B-605F-B24B-9817-6C4AE4C4EE15}"/>
              </a:ext>
            </a:extLst>
          </p:cNvPr>
          <p:cNvSpPr/>
          <p:nvPr/>
        </p:nvSpPr>
        <p:spPr>
          <a:xfrm>
            <a:off x="8775700" y="2400300"/>
            <a:ext cx="1244600" cy="990600"/>
          </a:xfrm>
          <a:prstGeom prst="roundRect">
            <a:avLst>
              <a:gd name="adj" fmla="val 7692"/>
            </a:avLst>
          </a:prstGeom>
          <a:solidFill>
            <a:srgbClr val="DE9C2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25400" rIns="76200" bIns="25400" rtlCol="0" anchor="ctr"/>
          <a:lstStyle/>
          <a:p>
            <a:pPr algn="ctr"/>
            <a:r>
              <a:rPr lang="pt-BR" sz="1000" b="1">
                <a:solidFill>
                  <a:srgbClr val="FFFFFF"/>
                </a:solidFill>
                <a:latin typeface="Segoe UI" panose="020B0502040204020203" pitchFamily="34" charset="0"/>
              </a:rPr>
              <a:t>P3 · Cliente 2</a:t>
            </a:r>
          </a:p>
        </p:txBody>
      </p:sp>
      <p:sp>
        <p:nvSpPr>
          <p:cNvPr id="35" name="Retângulo: Cantos Arredondados 34">
            <a:extLst>
              <a:ext uri="{FF2B5EF4-FFF2-40B4-BE49-F238E27FC236}">
                <a16:creationId xmlns:a16="http://schemas.microsoft.com/office/drawing/2014/main" id="{2F1D9DF7-17C4-98BD-0159-59FA60CF64C6}"/>
              </a:ext>
            </a:extLst>
          </p:cNvPr>
          <p:cNvSpPr/>
          <p:nvPr/>
        </p:nvSpPr>
        <p:spPr>
          <a:xfrm>
            <a:off x="8775700" y="4000500"/>
            <a:ext cx="1244600" cy="457200"/>
          </a:xfrm>
          <a:prstGeom prst="roundRect">
            <a:avLst>
              <a:gd name="adj" fmla="val 16667"/>
            </a:avLst>
          </a:prstGeom>
          <a:solidFill>
            <a:srgbClr val="2A9D8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25400" rIns="76200" bIns="25400" rtlCol="0" anchor="ctr"/>
          <a:lstStyle/>
          <a:p>
            <a:pPr algn="ctr"/>
            <a:r>
              <a:rPr lang="pt-BR" sz="1000" b="1">
                <a:solidFill>
                  <a:srgbClr val="FFFFFF"/>
                </a:solidFill>
                <a:latin typeface="Segoe UI" panose="020B0502040204020203" pitchFamily="34" charset="0"/>
              </a:rPr>
              <a:t>P1 · Cliente 4</a:t>
            </a:r>
          </a:p>
        </p:txBody>
      </p:sp>
      <p:sp>
        <p:nvSpPr>
          <p:cNvPr id="36" name="Retângulo: Cantos Arredondados 35">
            <a:extLst>
              <a:ext uri="{FF2B5EF4-FFF2-40B4-BE49-F238E27FC236}">
                <a16:creationId xmlns:a16="http://schemas.microsoft.com/office/drawing/2014/main" id="{FA0E79B1-27C9-385A-6B33-D32325C79C2B}"/>
              </a:ext>
            </a:extLst>
          </p:cNvPr>
          <p:cNvSpPr/>
          <p:nvPr/>
        </p:nvSpPr>
        <p:spPr>
          <a:xfrm>
            <a:off x="10096500" y="2933700"/>
            <a:ext cx="1244600" cy="457200"/>
          </a:xfrm>
          <a:prstGeom prst="roundRect">
            <a:avLst>
              <a:gd name="adj" fmla="val 16667"/>
            </a:avLst>
          </a:prstGeom>
          <a:solidFill>
            <a:srgbClr val="7C5CB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25400" rIns="76200" bIns="25400" rtlCol="0" anchor="ctr"/>
          <a:lstStyle/>
          <a:p>
            <a:pPr algn="ctr"/>
            <a:r>
              <a:rPr lang="pt-BR" sz="1000" b="1">
                <a:solidFill>
                  <a:srgbClr val="FFFFFF"/>
                </a:solidFill>
                <a:latin typeface="Segoe UI" panose="020B0502040204020203" pitchFamily="34" charset="0"/>
              </a:rPr>
              <a:t>P5 · Cliente 6</a:t>
            </a:r>
          </a:p>
        </p:txBody>
      </p:sp>
      <p:sp>
        <p:nvSpPr>
          <p:cNvPr id="37" name="Retângulo: Cantos Arredondados 36">
            <a:extLst>
              <a:ext uri="{FF2B5EF4-FFF2-40B4-BE49-F238E27FC236}">
                <a16:creationId xmlns:a16="http://schemas.microsoft.com/office/drawing/2014/main" id="{C9C3B485-BF86-45A5-9D91-3135610265E2}"/>
              </a:ext>
            </a:extLst>
          </p:cNvPr>
          <p:cNvSpPr/>
          <p:nvPr/>
        </p:nvSpPr>
        <p:spPr>
          <a:xfrm>
            <a:off x="10096500" y="3467100"/>
            <a:ext cx="1244600" cy="990600"/>
          </a:xfrm>
          <a:prstGeom prst="roundRect">
            <a:avLst>
              <a:gd name="adj" fmla="val 7692"/>
            </a:avLst>
          </a:prstGeom>
          <a:solidFill>
            <a:srgbClr val="DE9C2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25400" rIns="76200" bIns="25400" rtlCol="0" anchor="ctr"/>
          <a:lstStyle/>
          <a:p>
            <a:pPr algn="ctr"/>
            <a:r>
              <a:rPr lang="pt-BR" sz="1000" b="1">
                <a:solidFill>
                  <a:srgbClr val="FFFFFF"/>
                </a:solidFill>
                <a:latin typeface="Segoe UI" panose="020B0502040204020203" pitchFamily="34" charset="0"/>
              </a:rPr>
              <a:t>P6 · Cliente 3</a:t>
            </a:r>
          </a:p>
        </p:txBody>
      </p:sp>
      <p:sp>
        <p:nvSpPr>
          <p:cNvPr id="38" name="Retângulo: Cantos Arredondados 37">
            <a:extLst>
              <a:ext uri="{FF2B5EF4-FFF2-40B4-BE49-F238E27FC236}">
                <a16:creationId xmlns:a16="http://schemas.microsoft.com/office/drawing/2014/main" id="{84CF5909-D6EC-6B42-E933-F34D1000EFA5}"/>
              </a:ext>
            </a:extLst>
          </p:cNvPr>
          <p:cNvSpPr/>
          <p:nvPr/>
        </p:nvSpPr>
        <p:spPr>
          <a:xfrm>
            <a:off x="10096500" y="5067300"/>
            <a:ext cx="1244600" cy="457200"/>
          </a:xfrm>
          <a:prstGeom prst="roundRect">
            <a:avLst>
              <a:gd name="adj" fmla="val 16667"/>
            </a:avLst>
          </a:prstGeom>
          <a:solidFill>
            <a:srgbClr val="2A9D8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25400" rIns="76200" bIns="25400" rtlCol="0" anchor="ctr"/>
          <a:lstStyle/>
          <a:p>
            <a:pPr algn="ctr"/>
            <a:r>
              <a:rPr lang="pt-BR" sz="1000" b="1">
                <a:solidFill>
                  <a:srgbClr val="FFFFFF"/>
                </a:solidFill>
                <a:latin typeface="Segoe UI" panose="020B0502040204020203" pitchFamily="34" charset="0"/>
              </a:rPr>
              <a:t>P2 · Cliente 8</a:t>
            </a:r>
          </a:p>
        </p:txBody>
      </p:sp>
      <p:sp>
        <p:nvSpPr>
          <p:cNvPr id="39" name="Retângulo: Cantos Arredondados 38">
            <a:extLst>
              <a:ext uri="{FF2B5EF4-FFF2-40B4-BE49-F238E27FC236}">
                <a16:creationId xmlns:a16="http://schemas.microsoft.com/office/drawing/2014/main" id="{0623B784-B97F-4305-BE56-3BC0C254615F}"/>
              </a:ext>
            </a:extLst>
          </p:cNvPr>
          <p:cNvSpPr/>
          <p:nvPr/>
        </p:nvSpPr>
        <p:spPr>
          <a:xfrm>
            <a:off x="6832600" y="5880100"/>
            <a:ext cx="127000" cy="127000"/>
          </a:xfrm>
          <a:prstGeom prst="roundRect">
            <a:avLst>
              <a:gd name="adj" fmla="val 20000"/>
            </a:avLst>
          </a:prstGeom>
          <a:solidFill>
            <a:srgbClr val="2A9D8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0" name="CaixaDeTexto 39">
            <a:extLst>
              <a:ext uri="{FF2B5EF4-FFF2-40B4-BE49-F238E27FC236}">
                <a16:creationId xmlns:a16="http://schemas.microsoft.com/office/drawing/2014/main" id="{B75EE44B-858D-1E72-2D40-F7D6FBFFFA04}"/>
              </a:ext>
            </a:extLst>
          </p:cNvPr>
          <p:cNvSpPr txBox="1"/>
          <p:nvPr/>
        </p:nvSpPr>
        <p:spPr>
          <a:xfrm>
            <a:off x="7023100" y="5842000"/>
            <a:ext cx="100076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000">
                <a:solidFill>
                  <a:srgbClr val="243046"/>
                </a:solidFill>
                <a:latin typeface="Segoe UI" panose="020B0502040204020203" pitchFamily="34" charset="0"/>
              </a:rPr>
              <a:t>Clínica geral</a:t>
            </a:r>
          </a:p>
        </p:txBody>
      </p:sp>
      <p:sp>
        <p:nvSpPr>
          <p:cNvPr id="41" name="Retângulo: Cantos Arredondados 40">
            <a:extLst>
              <a:ext uri="{FF2B5EF4-FFF2-40B4-BE49-F238E27FC236}">
                <a16:creationId xmlns:a16="http://schemas.microsoft.com/office/drawing/2014/main" id="{02884C60-DCE9-7E27-3B53-C5B498BED52A}"/>
              </a:ext>
            </a:extLst>
          </p:cNvPr>
          <p:cNvSpPr/>
          <p:nvPr/>
        </p:nvSpPr>
        <p:spPr>
          <a:xfrm>
            <a:off x="8176260" y="5880100"/>
            <a:ext cx="127000" cy="127000"/>
          </a:xfrm>
          <a:prstGeom prst="roundRect">
            <a:avLst>
              <a:gd name="adj" fmla="val 20000"/>
            </a:avLst>
          </a:prstGeom>
          <a:solidFill>
            <a:srgbClr val="DE9C2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2" name="CaixaDeTexto 41">
            <a:extLst>
              <a:ext uri="{FF2B5EF4-FFF2-40B4-BE49-F238E27FC236}">
                <a16:creationId xmlns:a16="http://schemas.microsoft.com/office/drawing/2014/main" id="{4227AEE9-F522-F212-7397-081EB2FE8797}"/>
              </a:ext>
            </a:extLst>
          </p:cNvPr>
          <p:cNvSpPr txBox="1"/>
          <p:nvPr/>
        </p:nvSpPr>
        <p:spPr>
          <a:xfrm>
            <a:off x="8366760" y="5842000"/>
            <a:ext cx="64516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000">
                <a:solidFill>
                  <a:srgbClr val="243046"/>
                </a:solidFill>
                <a:latin typeface="Segoe UI" panose="020B0502040204020203" pitchFamily="34" charset="0"/>
              </a:rPr>
              <a:t>Jurídico</a:t>
            </a:r>
          </a:p>
        </p:txBody>
      </p:sp>
      <p:sp>
        <p:nvSpPr>
          <p:cNvPr id="43" name="Retângulo: Cantos Arredondados 42">
            <a:extLst>
              <a:ext uri="{FF2B5EF4-FFF2-40B4-BE49-F238E27FC236}">
                <a16:creationId xmlns:a16="http://schemas.microsoft.com/office/drawing/2014/main" id="{E5322EFB-09E6-57FD-E9C2-8A2EBB9A09B2}"/>
              </a:ext>
            </a:extLst>
          </p:cNvPr>
          <p:cNvSpPr/>
          <p:nvPr/>
        </p:nvSpPr>
        <p:spPr>
          <a:xfrm>
            <a:off x="9164320" y="5880100"/>
            <a:ext cx="127000" cy="127000"/>
          </a:xfrm>
          <a:prstGeom prst="roundRect">
            <a:avLst>
              <a:gd name="adj" fmla="val 20000"/>
            </a:avLst>
          </a:prstGeom>
          <a:solidFill>
            <a:srgbClr val="7C5CB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4" name="CaixaDeTexto 43">
            <a:extLst>
              <a:ext uri="{FF2B5EF4-FFF2-40B4-BE49-F238E27FC236}">
                <a16:creationId xmlns:a16="http://schemas.microsoft.com/office/drawing/2014/main" id="{B5C1F8DF-0C6F-BAE9-3DFB-E67919AC23FC}"/>
              </a:ext>
            </a:extLst>
          </p:cNvPr>
          <p:cNvSpPr txBox="1"/>
          <p:nvPr/>
        </p:nvSpPr>
        <p:spPr>
          <a:xfrm>
            <a:off x="9354820" y="5842000"/>
            <a:ext cx="7874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000">
                <a:solidFill>
                  <a:srgbClr val="243046"/>
                </a:solidFill>
                <a:latin typeface="Segoe UI" panose="020B0502040204020203" pitchFamily="34" charset="0"/>
              </a:rPr>
              <a:t>Psicologia</a:t>
            </a:r>
          </a:p>
        </p:txBody>
      </p:sp>
      <p:cxnSp>
        <p:nvCxnSpPr>
          <p:cNvPr id="45" name="Conector reto 44">
            <a:extLst>
              <a:ext uri="{FF2B5EF4-FFF2-40B4-BE49-F238E27FC236}">
                <a16:creationId xmlns:a16="http://schemas.microsoft.com/office/drawing/2014/main" id="{C5399709-5634-7577-311E-F0B7AF17AAB6}"/>
              </a:ext>
            </a:extLst>
          </p:cNvPr>
          <p:cNvCxnSpPr/>
          <p:nvPr/>
        </p:nvCxnSpPr>
        <p:spPr>
          <a:xfrm>
            <a:off x="609600" y="6400800"/>
            <a:ext cx="10972800" cy="0"/>
          </a:xfrm>
          <a:prstGeom prst="line">
            <a:avLst/>
          </a:prstGeom>
          <a:ln w="9525">
            <a:solidFill>
              <a:srgbClr val="DB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CaixaDeTexto 45">
            <a:extLst>
              <a:ext uri="{FF2B5EF4-FFF2-40B4-BE49-F238E27FC236}">
                <a16:creationId xmlns:a16="http://schemas.microsoft.com/office/drawing/2014/main" id="{034E8C58-A47B-8B7E-B63E-9CD8245DDCB7}"/>
              </a:ext>
            </a:extLst>
          </p:cNvPr>
          <p:cNvSpPr txBox="1"/>
          <p:nvPr/>
        </p:nvSpPr>
        <p:spPr>
          <a:xfrm>
            <a:off x="609600" y="6502400"/>
            <a:ext cx="8128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900">
                <a:solidFill>
                  <a:srgbClr val="647187"/>
                </a:solidFill>
                <a:latin typeface="Segoe UI" panose="020B0502040204020203" pitchFamily="34" charset="0"/>
              </a:rPr>
              <a:t>Introdução à Inteligência Artificial  ·  Tema 9 — Agendamento de Consultas/Atendimentos como PSR</a:t>
            </a:r>
          </a:p>
        </p:txBody>
      </p:sp>
      <p:sp>
        <p:nvSpPr>
          <p:cNvPr id="47" name="CaixaDeTexto 46">
            <a:extLst>
              <a:ext uri="{FF2B5EF4-FFF2-40B4-BE49-F238E27FC236}">
                <a16:creationId xmlns:a16="http://schemas.microsoft.com/office/drawing/2014/main" id="{92D63AF2-B155-89B7-D327-DA556090924B}"/>
              </a:ext>
            </a:extLst>
          </p:cNvPr>
          <p:cNvSpPr txBox="1"/>
          <p:nvPr/>
        </p:nvSpPr>
        <p:spPr>
          <a:xfrm>
            <a:off x="10058400" y="6502400"/>
            <a:ext cx="1524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pt-BR" sz="900" b="1">
                <a:solidFill>
                  <a:srgbClr val="647187"/>
                </a:solidFill>
                <a:latin typeface="Segoe UI" panose="020B0502040204020203" pitchFamily="34" charset="0"/>
              </a:rPr>
              <a:t>2 / 17</a:t>
            </a:r>
          </a:p>
        </p:txBody>
      </p:sp>
    </p:spTree>
    <p:extLst>
      <p:ext uri="{BB962C8B-B14F-4D97-AF65-F5344CB8AC3E}">
        <p14:creationId xmlns:p14="http://schemas.microsoft.com/office/powerpoint/2010/main" val="127310690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7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5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4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75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1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45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49F2F7BE-177B-82F1-2322-11A47933643E}"/>
              </a:ext>
            </a:extLst>
          </p:cNvPr>
          <p:cNvSpPr/>
          <p:nvPr/>
        </p:nvSpPr>
        <p:spPr>
          <a:xfrm>
            <a:off x="0" y="0"/>
            <a:ext cx="127000" cy="6858000"/>
          </a:xfrm>
          <a:prstGeom prst="rect">
            <a:avLst/>
          </a:prstGeom>
          <a:solidFill>
            <a:srgbClr val="1B263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1E705E12-22DA-7A77-EE56-F0A7A02DB447}"/>
              </a:ext>
            </a:extLst>
          </p:cNvPr>
          <p:cNvSpPr/>
          <p:nvPr/>
        </p:nvSpPr>
        <p:spPr>
          <a:xfrm>
            <a:off x="0" y="279400"/>
            <a:ext cx="127000" cy="889000"/>
          </a:xfrm>
          <a:prstGeom prst="rect">
            <a:avLst/>
          </a:prstGeom>
          <a:solidFill>
            <a:srgbClr val="2A9D8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76823A5F-FAA0-3346-1F7F-B7E215CB17C4}"/>
              </a:ext>
            </a:extLst>
          </p:cNvPr>
          <p:cNvSpPr txBox="1"/>
          <p:nvPr/>
        </p:nvSpPr>
        <p:spPr>
          <a:xfrm>
            <a:off x="609600" y="355600"/>
            <a:ext cx="8890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050" b="1" spc="160">
                <a:solidFill>
                  <a:srgbClr val="2A9D8F"/>
                </a:solidFill>
                <a:latin typeface="Segoe UI" panose="020B0502040204020203" pitchFamily="34" charset="0"/>
              </a:rPr>
              <a:t>INTRODUÇÃO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6A01EAF5-E8EC-3412-9532-1EBE9E6BB5AB}"/>
              </a:ext>
            </a:extLst>
          </p:cNvPr>
          <p:cNvSpPr txBox="1"/>
          <p:nvPr/>
        </p:nvSpPr>
        <p:spPr>
          <a:xfrm>
            <a:off x="609600" y="558800"/>
            <a:ext cx="94488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2600" b="1">
                <a:solidFill>
                  <a:srgbClr val="1B263B"/>
                </a:solidFill>
                <a:latin typeface="Segoe UI" panose="020B0502040204020203" pitchFamily="34" charset="0"/>
              </a:rPr>
              <a:t>Modelagem como PSR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9E5634A8-FF7F-B903-6494-F007CF05B6BC}"/>
              </a:ext>
            </a:extLst>
          </p:cNvPr>
          <p:cNvSpPr/>
          <p:nvPr/>
        </p:nvSpPr>
        <p:spPr>
          <a:xfrm>
            <a:off x="609600" y="1117600"/>
            <a:ext cx="711200" cy="44450"/>
          </a:xfrm>
          <a:prstGeom prst="rect">
            <a:avLst/>
          </a:prstGeom>
          <a:solidFill>
            <a:srgbClr val="2A9D8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0CDA4C34-81D7-F4FF-15EC-92A9FAA49686}"/>
              </a:ext>
            </a:extLst>
          </p:cNvPr>
          <p:cNvSpPr txBox="1"/>
          <p:nvPr/>
        </p:nvSpPr>
        <p:spPr>
          <a:xfrm>
            <a:off x="609600" y="1473200"/>
            <a:ext cx="5969000" cy="4699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368300" indent="-342900">
              <a:lnSpc>
                <a:spcPct val="105000"/>
              </a:lnSpc>
              <a:spcAft>
                <a:spcPts val="697"/>
              </a:spcAft>
              <a:buClr>
                <a:srgbClr val="2A9D8F"/>
              </a:buClr>
              <a:buSzPct val="100000"/>
              <a:buFont typeface="Arial" panose="020B0604020202020204" pitchFamily="34" charset="0"/>
              <a:buChar char="•"/>
            </a:pPr>
            <a:r>
              <a:rPr lang="pt-BR" sz="1550" b="1">
                <a:solidFill>
                  <a:srgbClr val="243046"/>
                </a:solidFill>
                <a:latin typeface="Segoe UI" panose="020B0502040204020203" pitchFamily="34" charset="0"/>
              </a:rPr>
              <a:t>Variáveis:</a:t>
            </a:r>
            <a:r>
              <a:rPr lang="pt-BR" sz="1550">
                <a:solidFill>
                  <a:srgbClr val="243046"/>
                </a:solidFill>
                <a:latin typeface="Segoe UI" panose="020B0502040204020203" pitchFamily="34" charset="0"/>
              </a:rPr>
              <a:t> cada atendimento solicitado.</a:t>
            </a:r>
          </a:p>
          <a:p>
            <a:pPr marL="368300" indent="-342900">
              <a:lnSpc>
                <a:spcPct val="105000"/>
              </a:lnSpc>
              <a:spcAft>
                <a:spcPts val="697"/>
              </a:spcAft>
              <a:buClr>
                <a:srgbClr val="2A9D8F"/>
              </a:buClr>
              <a:buSzPct val="100000"/>
              <a:buFont typeface="Arial" panose="020B0604020202020204" pitchFamily="34" charset="0"/>
              <a:buChar char="•"/>
            </a:pPr>
            <a:r>
              <a:rPr lang="pt-BR" sz="1550" b="1">
                <a:solidFill>
                  <a:srgbClr val="243046"/>
                </a:solidFill>
                <a:latin typeface="Segoe UI" panose="020B0502040204020203" pitchFamily="34" charset="0"/>
              </a:rPr>
              <a:t>Domínio:</a:t>
            </a:r>
            <a:r>
              <a:rPr lang="pt-BR" sz="1550">
                <a:solidFill>
                  <a:srgbClr val="243046"/>
                </a:solidFill>
                <a:latin typeface="Segoe UI" panose="020B0502040204020203" pitchFamily="34" charset="0"/>
              </a:rPr>
              <a:t> próprio de cada atendimento — as combinações (profissional, horário, sala) permitidas pela especialidade exigida pelo cliente e pela disponibilidade do profissional, do cliente e da sala.</a:t>
            </a:r>
          </a:p>
          <a:p>
            <a:pPr marL="368300" indent="-342900">
              <a:lnSpc>
                <a:spcPct val="105000"/>
              </a:lnSpc>
              <a:spcAft>
                <a:spcPts val="697"/>
              </a:spcAft>
              <a:buClr>
                <a:srgbClr val="2A9D8F"/>
              </a:buClr>
              <a:buSzPct val="100000"/>
              <a:buFont typeface="Arial" panose="020B0604020202020204" pitchFamily="34" charset="0"/>
              <a:buChar char="•"/>
            </a:pPr>
            <a:r>
              <a:rPr lang="pt-BR" sz="1550" b="1">
                <a:solidFill>
                  <a:srgbClr val="243046"/>
                </a:solidFill>
                <a:latin typeface="Segoe UI" panose="020B0502040204020203" pitchFamily="34" charset="0"/>
              </a:rPr>
              <a:t>Objetivo:</a:t>
            </a:r>
            <a:r>
              <a:rPr lang="pt-BR" sz="1550">
                <a:solidFill>
                  <a:srgbClr val="243046"/>
                </a:solidFill>
                <a:latin typeface="Segoe UI" panose="020B0502040204020203" pitchFamily="34" charset="0"/>
              </a:rPr>
              <a:t> atribuir um valor a todos os atendimentos, evitando conflitos entre eles.</a:t>
            </a:r>
          </a:p>
          <a:p>
            <a:pPr marL="368300" indent="-342900">
              <a:lnSpc>
                <a:spcPct val="105000"/>
              </a:lnSpc>
              <a:spcAft>
                <a:spcPts val="697"/>
              </a:spcAft>
              <a:buClr>
                <a:srgbClr val="2A9D8F"/>
              </a:buClr>
              <a:buSzPct val="100000"/>
              <a:buFont typeface="Arial" panose="020B0604020202020204" pitchFamily="34" charset="0"/>
              <a:buChar char="•"/>
            </a:pPr>
            <a:r>
              <a:rPr lang="pt-BR" sz="1550" b="1">
                <a:solidFill>
                  <a:srgbClr val="243046"/>
                </a:solidFill>
                <a:latin typeface="Segoe UI" panose="020B0502040204020203" pitchFamily="34" charset="0"/>
              </a:rPr>
              <a:t>Conflito:</a:t>
            </a:r>
            <a:r>
              <a:rPr lang="pt-BR" sz="1550">
                <a:solidFill>
                  <a:srgbClr val="243046"/>
                </a:solidFill>
                <a:latin typeface="Segoe UI" panose="020B0502040204020203" pitchFamily="34" charset="0"/>
              </a:rPr>
              <a:t> dois atendimentos que usam o mesmo profissional, a mesma sala ou o mesmo cliente em horários que se sobrepõem.</a:t>
            </a:r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CC46EC37-4551-7591-6C12-38690FACBB34}"/>
              </a:ext>
            </a:extLst>
          </p:cNvPr>
          <p:cNvSpPr/>
          <p:nvPr/>
        </p:nvSpPr>
        <p:spPr>
          <a:xfrm>
            <a:off x="7264400" y="1473200"/>
            <a:ext cx="4013200" cy="736600"/>
          </a:xfrm>
          <a:prstGeom prst="roundRect">
            <a:avLst>
              <a:gd name="adj" fmla="val 17241"/>
            </a:avLst>
          </a:prstGeom>
          <a:solidFill>
            <a:srgbClr val="1B263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25400" rIns="76200" bIns="25400" rtlCol="0" anchor="ctr"/>
          <a:lstStyle/>
          <a:p>
            <a:pPr algn="ctr"/>
            <a:r>
              <a:rPr lang="pt-BR" sz="1600" b="1">
                <a:solidFill>
                  <a:srgbClr val="FFFFFF"/>
                </a:solidFill>
                <a:latin typeface="Segoe UI" panose="020B0502040204020203" pitchFamily="34" charset="0"/>
              </a:rPr>
              <a:t>Atendimento</a:t>
            </a:r>
          </a:p>
          <a:p>
            <a:pPr algn="ctr"/>
            <a:r>
              <a:rPr lang="pt-BR" sz="1100">
                <a:solidFill>
                  <a:srgbClr val="76D6C7"/>
                </a:solidFill>
                <a:latin typeface="Segoe UI" panose="020B0502040204020203" pitchFamily="34" charset="0"/>
              </a:rPr>
              <a:t>variável do PSR</a:t>
            </a:r>
          </a:p>
        </p:txBody>
      </p: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64FC4C3E-291C-0765-77B7-F88C41554798}"/>
              </a:ext>
            </a:extLst>
          </p:cNvPr>
          <p:cNvCxnSpPr/>
          <p:nvPr/>
        </p:nvCxnSpPr>
        <p:spPr>
          <a:xfrm>
            <a:off x="9271000" y="2209800"/>
            <a:ext cx="0" cy="381000"/>
          </a:xfrm>
          <a:prstGeom prst="line">
            <a:avLst/>
          </a:prstGeom>
          <a:ln w="19050">
            <a:solidFill>
              <a:srgbClr val="647187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CaixaDeTexto 9">
            <a:extLst>
              <a:ext uri="{FF2B5EF4-FFF2-40B4-BE49-F238E27FC236}">
                <a16:creationId xmlns:a16="http://schemas.microsoft.com/office/drawing/2014/main" id="{F32A5090-703B-36DD-3C72-FA7CAA72846F}"/>
              </a:ext>
            </a:extLst>
          </p:cNvPr>
          <p:cNvSpPr txBox="1"/>
          <p:nvPr/>
        </p:nvSpPr>
        <p:spPr>
          <a:xfrm>
            <a:off x="9398000" y="2286000"/>
            <a:ext cx="1905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000">
                <a:solidFill>
                  <a:srgbClr val="647187"/>
                </a:solidFill>
                <a:latin typeface="Segoe UI" panose="020B0502040204020203" pitchFamily="34" charset="0"/>
              </a:rPr>
              <a:t>assume um valor de</a:t>
            </a:r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08CC5C12-5020-7C66-8236-1FF82C21CFD1}"/>
              </a:ext>
            </a:extLst>
          </p:cNvPr>
          <p:cNvSpPr/>
          <p:nvPr/>
        </p:nvSpPr>
        <p:spPr>
          <a:xfrm>
            <a:off x="7264400" y="2616200"/>
            <a:ext cx="4013200" cy="965200"/>
          </a:xfrm>
          <a:prstGeom prst="roundRect">
            <a:avLst>
              <a:gd name="adj" fmla="val 13158"/>
            </a:avLst>
          </a:prstGeom>
          <a:solidFill>
            <a:srgbClr val="E1F3F0"/>
          </a:solidFill>
          <a:ln w="15875" cap="flat" cmpd="sng" algn="ctr">
            <a:solidFill>
              <a:srgbClr val="2A9D8F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25400" rIns="76200" bIns="25400" rtlCol="0" anchor="ctr">
            <a:noAutofit/>
          </a:bodyPr>
          <a:lstStyle/>
          <a:p>
            <a:pPr algn="ctr"/>
            <a:r>
              <a:rPr lang="pt-BR" sz="1400" b="1">
                <a:solidFill>
                  <a:srgbClr val="2A9D8F"/>
                </a:solidFill>
                <a:latin typeface="Segoe UI" panose="020B0502040204020203" pitchFamily="34" charset="0"/>
              </a:rPr>
              <a:t>Domínio do atendimento</a:t>
            </a:r>
          </a:p>
          <a:p>
            <a:pPr algn="ctr"/>
            <a:r>
              <a:rPr lang="pt-BR" sz="1200">
                <a:solidFill>
                  <a:srgbClr val="1B263B"/>
                </a:solidFill>
                <a:latin typeface="Consolas" panose="020B0609020204030204" pitchFamily="49" charset="0"/>
              </a:rPr>
              <a:t>{ (profissional, horário, sala), … }</a:t>
            </a:r>
          </a:p>
        </p:txBody>
      </p:sp>
      <p:cxnSp>
        <p:nvCxnSpPr>
          <p:cNvPr id="12" name="Conector reto 11">
            <a:extLst>
              <a:ext uri="{FF2B5EF4-FFF2-40B4-BE49-F238E27FC236}">
                <a16:creationId xmlns:a16="http://schemas.microsoft.com/office/drawing/2014/main" id="{31596AD2-1C33-F107-A023-6DF3B7FE0431}"/>
              </a:ext>
            </a:extLst>
          </p:cNvPr>
          <p:cNvCxnSpPr/>
          <p:nvPr/>
        </p:nvCxnSpPr>
        <p:spPr>
          <a:xfrm>
            <a:off x="9271000" y="3581400"/>
            <a:ext cx="0" cy="355600"/>
          </a:xfrm>
          <a:prstGeom prst="line">
            <a:avLst/>
          </a:prstGeom>
          <a:ln w="19050">
            <a:solidFill>
              <a:srgbClr val="647187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80EE0B25-BC1F-2688-001C-8CCF5BFED34C}"/>
              </a:ext>
            </a:extLst>
          </p:cNvPr>
          <p:cNvSpPr txBox="1"/>
          <p:nvPr/>
        </p:nvSpPr>
        <p:spPr>
          <a:xfrm>
            <a:off x="6959600" y="4013200"/>
            <a:ext cx="46228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pt-BR" sz="1000" b="1" spc="120">
                <a:solidFill>
                  <a:srgbClr val="647187"/>
                </a:solidFill>
                <a:latin typeface="Segoe UI" panose="020B0502040204020203" pitchFamily="34" charset="0"/>
              </a:rPr>
              <a:t>SUJEITO ÀS 5 RESTRIÇÕES OBRIGATÓRIAS</a:t>
            </a:r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D42E4FDE-D996-DA3B-9DAE-28AEC1D6F96E}"/>
              </a:ext>
            </a:extLst>
          </p:cNvPr>
          <p:cNvSpPr/>
          <p:nvPr/>
        </p:nvSpPr>
        <p:spPr>
          <a:xfrm>
            <a:off x="7264400" y="4318000"/>
            <a:ext cx="1955800" cy="508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 cap="flat" cmpd="sng" algn="ctr">
            <a:solidFill>
              <a:srgbClr val="DBE2EA"/>
            </a:solidFill>
            <a:prstDash val="solid"/>
            <a:miter lim="800000"/>
          </a:ln>
          <a:effectLst>
            <a:outerShdw blurRad="152400" dist="50800" dir="5400000" rotWithShape="0">
              <a:srgbClr val="0F172A">
                <a:alpha val="1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Elipse 14">
            <a:extLst>
              <a:ext uri="{FF2B5EF4-FFF2-40B4-BE49-F238E27FC236}">
                <a16:creationId xmlns:a16="http://schemas.microsoft.com/office/drawing/2014/main" id="{A63A73E4-EFD1-A6E9-0BF3-9E1124112F16}"/>
              </a:ext>
            </a:extLst>
          </p:cNvPr>
          <p:cNvSpPr/>
          <p:nvPr/>
        </p:nvSpPr>
        <p:spPr>
          <a:xfrm>
            <a:off x="7353300" y="4406900"/>
            <a:ext cx="330200" cy="330200"/>
          </a:xfrm>
          <a:prstGeom prst="ellipse">
            <a:avLst/>
          </a:prstGeom>
          <a:solidFill>
            <a:srgbClr val="2A9D8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25400" rIns="0" bIns="25400" rtlCol="0" anchor="ctr"/>
          <a:lstStyle/>
          <a:p>
            <a:pPr algn="ctr"/>
            <a:r>
              <a:rPr lang="pt-BR" sz="1100" b="1">
                <a:solidFill>
                  <a:srgbClr val="FFFFFF"/>
                </a:solidFill>
                <a:latin typeface="Segoe UI" panose="020B0502040204020203" pitchFamily="34" charset="0"/>
              </a:rPr>
              <a:t>1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706284F4-5387-F524-4103-BD27650FFFE6}"/>
              </a:ext>
            </a:extLst>
          </p:cNvPr>
          <p:cNvSpPr txBox="1"/>
          <p:nvPr/>
        </p:nvSpPr>
        <p:spPr>
          <a:xfrm>
            <a:off x="7772400" y="4318000"/>
            <a:ext cx="13462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pt-BR" sz="1100" b="1">
                <a:solidFill>
                  <a:srgbClr val="243046"/>
                </a:solidFill>
                <a:latin typeface="Segoe UI" panose="020B0502040204020203" pitchFamily="34" charset="0"/>
              </a:rPr>
              <a:t>Especialidade compatível</a:t>
            </a:r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DA2C7694-69A6-77F4-B1F6-DA8BE7B3C0CD}"/>
              </a:ext>
            </a:extLst>
          </p:cNvPr>
          <p:cNvSpPr/>
          <p:nvPr/>
        </p:nvSpPr>
        <p:spPr>
          <a:xfrm>
            <a:off x="9321800" y="4318000"/>
            <a:ext cx="1955800" cy="508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 cap="flat" cmpd="sng" algn="ctr">
            <a:solidFill>
              <a:srgbClr val="DBE2EA"/>
            </a:solidFill>
            <a:prstDash val="solid"/>
            <a:miter lim="800000"/>
          </a:ln>
          <a:effectLst>
            <a:outerShdw blurRad="152400" dist="50800" dir="5400000" rotWithShape="0">
              <a:srgbClr val="0F172A">
                <a:alpha val="1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Elipse 17">
            <a:extLst>
              <a:ext uri="{FF2B5EF4-FFF2-40B4-BE49-F238E27FC236}">
                <a16:creationId xmlns:a16="http://schemas.microsoft.com/office/drawing/2014/main" id="{E45493FA-2BA3-ED5B-1FC9-26D78628EA60}"/>
              </a:ext>
            </a:extLst>
          </p:cNvPr>
          <p:cNvSpPr/>
          <p:nvPr/>
        </p:nvSpPr>
        <p:spPr>
          <a:xfrm>
            <a:off x="9410700" y="4406900"/>
            <a:ext cx="330200" cy="330200"/>
          </a:xfrm>
          <a:prstGeom prst="ellipse">
            <a:avLst/>
          </a:prstGeom>
          <a:solidFill>
            <a:srgbClr val="7C5CB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25400" rIns="0" bIns="25400" rtlCol="0" anchor="ctr"/>
          <a:lstStyle/>
          <a:p>
            <a:pPr algn="ctr"/>
            <a:r>
              <a:rPr lang="pt-BR" sz="1100" b="1">
                <a:solidFill>
                  <a:srgbClr val="FFFFFF"/>
                </a:solidFill>
                <a:latin typeface="Segoe UI" panose="020B0502040204020203" pitchFamily="34" charset="0"/>
              </a:rPr>
              <a:t>2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A20EF192-9536-FDD9-84E8-7C3C4622E773}"/>
              </a:ext>
            </a:extLst>
          </p:cNvPr>
          <p:cNvSpPr txBox="1"/>
          <p:nvPr/>
        </p:nvSpPr>
        <p:spPr>
          <a:xfrm>
            <a:off x="9829800" y="4318000"/>
            <a:ext cx="13462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pt-BR" sz="1100" b="1">
                <a:solidFill>
                  <a:srgbClr val="243046"/>
                </a:solidFill>
                <a:latin typeface="Segoe UI" panose="020B0502040204020203" pitchFamily="34" charset="0"/>
              </a:rPr>
              <a:t>Profissional sem conflito</a:t>
            </a:r>
          </a:p>
        </p:txBody>
      </p:sp>
      <p:sp>
        <p:nvSpPr>
          <p:cNvPr id="20" name="Retângulo: Cantos Arredondados 19">
            <a:extLst>
              <a:ext uri="{FF2B5EF4-FFF2-40B4-BE49-F238E27FC236}">
                <a16:creationId xmlns:a16="http://schemas.microsoft.com/office/drawing/2014/main" id="{FC7DB561-ED6F-6DF4-601D-AA29B905E11A}"/>
              </a:ext>
            </a:extLst>
          </p:cNvPr>
          <p:cNvSpPr/>
          <p:nvPr/>
        </p:nvSpPr>
        <p:spPr>
          <a:xfrm>
            <a:off x="7264400" y="4927600"/>
            <a:ext cx="1955800" cy="508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 cap="flat" cmpd="sng" algn="ctr">
            <a:solidFill>
              <a:srgbClr val="DBE2EA"/>
            </a:solidFill>
            <a:prstDash val="solid"/>
            <a:miter lim="800000"/>
          </a:ln>
          <a:effectLst>
            <a:outerShdw blurRad="152400" dist="50800" dir="5400000" rotWithShape="0">
              <a:srgbClr val="0F172A">
                <a:alpha val="1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1" name="Elipse 20">
            <a:extLst>
              <a:ext uri="{FF2B5EF4-FFF2-40B4-BE49-F238E27FC236}">
                <a16:creationId xmlns:a16="http://schemas.microsoft.com/office/drawing/2014/main" id="{71EA06BE-6BC1-8B84-FCF8-387B05D19B41}"/>
              </a:ext>
            </a:extLst>
          </p:cNvPr>
          <p:cNvSpPr/>
          <p:nvPr/>
        </p:nvSpPr>
        <p:spPr>
          <a:xfrm>
            <a:off x="7353300" y="5016500"/>
            <a:ext cx="330200" cy="330200"/>
          </a:xfrm>
          <a:prstGeom prst="ellipse">
            <a:avLst/>
          </a:prstGeom>
          <a:solidFill>
            <a:srgbClr val="DE9C2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25400" rIns="0" bIns="25400" rtlCol="0" anchor="ctr"/>
          <a:lstStyle/>
          <a:p>
            <a:pPr algn="ctr"/>
            <a:r>
              <a:rPr lang="pt-BR" sz="1100" b="1">
                <a:solidFill>
                  <a:srgbClr val="FFFFFF"/>
                </a:solidFill>
                <a:latin typeface="Segoe UI" panose="020B0502040204020203" pitchFamily="34" charset="0"/>
              </a:rPr>
              <a:t>3</a:t>
            </a: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302E9ABB-A67B-5000-A81C-36D133FED660}"/>
              </a:ext>
            </a:extLst>
          </p:cNvPr>
          <p:cNvSpPr txBox="1"/>
          <p:nvPr/>
        </p:nvSpPr>
        <p:spPr>
          <a:xfrm>
            <a:off x="7772400" y="4927600"/>
            <a:ext cx="13462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pt-BR" sz="1100" b="1">
                <a:solidFill>
                  <a:srgbClr val="243046"/>
                </a:solidFill>
                <a:latin typeface="Segoe UI" panose="020B0502040204020203" pitchFamily="34" charset="0"/>
              </a:rPr>
              <a:t>Cliente sem conflito</a:t>
            </a:r>
          </a:p>
        </p:txBody>
      </p:sp>
      <p:sp>
        <p:nvSpPr>
          <p:cNvPr id="23" name="Retângulo: Cantos Arredondados 22">
            <a:extLst>
              <a:ext uri="{FF2B5EF4-FFF2-40B4-BE49-F238E27FC236}">
                <a16:creationId xmlns:a16="http://schemas.microsoft.com/office/drawing/2014/main" id="{2FE062CA-B079-B2EF-D4C2-620250D2A27E}"/>
              </a:ext>
            </a:extLst>
          </p:cNvPr>
          <p:cNvSpPr/>
          <p:nvPr/>
        </p:nvSpPr>
        <p:spPr>
          <a:xfrm>
            <a:off x="9321800" y="4927600"/>
            <a:ext cx="1955800" cy="508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 cap="flat" cmpd="sng" algn="ctr">
            <a:solidFill>
              <a:srgbClr val="DBE2EA"/>
            </a:solidFill>
            <a:prstDash val="solid"/>
            <a:miter lim="800000"/>
          </a:ln>
          <a:effectLst>
            <a:outerShdw blurRad="152400" dist="50800" dir="5400000" rotWithShape="0">
              <a:srgbClr val="0F172A">
                <a:alpha val="1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4" name="Elipse 23">
            <a:extLst>
              <a:ext uri="{FF2B5EF4-FFF2-40B4-BE49-F238E27FC236}">
                <a16:creationId xmlns:a16="http://schemas.microsoft.com/office/drawing/2014/main" id="{88DD95C0-5857-7DB4-DD9C-037E9DAD5CE7}"/>
              </a:ext>
            </a:extLst>
          </p:cNvPr>
          <p:cNvSpPr/>
          <p:nvPr/>
        </p:nvSpPr>
        <p:spPr>
          <a:xfrm>
            <a:off x="9410700" y="5016500"/>
            <a:ext cx="330200" cy="330200"/>
          </a:xfrm>
          <a:prstGeom prst="ellipse">
            <a:avLst/>
          </a:prstGeom>
          <a:solidFill>
            <a:srgbClr val="E76F5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25400" rIns="0" bIns="25400" rtlCol="0" anchor="ctr"/>
          <a:lstStyle/>
          <a:p>
            <a:pPr algn="ctr"/>
            <a:r>
              <a:rPr lang="pt-BR" sz="1100" b="1">
                <a:solidFill>
                  <a:srgbClr val="FFFFFF"/>
                </a:solidFill>
                <a:latin typeface="Segoe UI" panose="020B0502040204020203" pitchFamily="34" charset="0"/>
              </a:rPr>
              <a:t>4</a:t>
            </a:r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3D329AD3-D5B5-4231-24BA-D7568409C44C}"/>
              </a:ext>
            </a:extLst>
          </p:cNvPr>
          <p:cNvSpPr txBox="1"/>
          <p:nvPr/>
        </p:nvSpPr>
        <p:spPr>
          <a:xfrm>
            <a:off x="9829800" y="4927600"/>
            <a:ext cx="13462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pt-BR" sz="1100" b="1">
                <a:solidFill>
                  <a:srgbClr val="243046"/>
                </a:solidFill>
                <a:latin typeface="Segoe UI" panose="020B0502040204020203" pitchFamily="34" charset="0"/>
              </a:rPr>
              <a:t>Sala sem conflito</a:t>
            </a:r>
          </a:p>
        </p:txBody>
      </p:sp>
      <p:sp>
        <p:nvSpPr>
          <p:cNvPr id="26" name="Retângulo: Cantos Arredondados 25">
            <a:extLst>
              <a:ext uri="{FF2B5EF4-FFF2-40B4-BE49-F238E27FC236}">
                <a16:creationId xmlns:a16="http://schemas.microsoft.com/office/drawing/2014/main" id="{94289928-5139-2884-6169-C0B6434E5E40}"/>
              </a:ext>
            </a:extLst>
          </p:cNvPr>
          <p:cNvSpPr/>
          <p:nvPr/>
        </p:nvSpPr>
        <p:spPr>
          <a:xfrm>
            <a:off x="8293100" y="5537200"/>
            <a:ext cx="1955800" cy="508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 cap="flat" cmpd="sng" algn="ctr">
            <a:solidFill>
              <a:srgbClr val="DBE2EA"/>
            </a:solidFill>
            <a:prstDash val="solid"/>
            <a:miter lim="800000"/>
          </a:ln>
          <a:effectLst>
            <a:outerShdw blurRad="152400" dist="50800" dir="5400000" rotWithShape="0">
              <a:srgbClr val="0F172A">
                <a:alpha val="1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7" name="Elipse 26">
            <a:extLst>
              <a:ext uri="{FF2B5EF4-FFF2-40B4-BE49-F238E27FC236}">
                <a16:creationId xmlns:a16="http://schemas.microsoft.com/office/drawing/2014/main" id="{BBD32777-162C-563B-93CF-671610CAF295}"/>
              </a:ext>
            </a:extLst>
          </p:cNvPr>
          <p:cNvSpPr/>
          <p:nvPr/>
        </p:nvSpPr>
        <p:spPr>
          <a:xfrm>
            <a:off x="8382000" y="5626100"/>
            <a:ext cx="330200" cy="330200"/>
          </a:xfrm>
          <a:prstGeom prst="ellipse">
            <a:avLst/>
          </a:prstGeom>
          <a:solidFill>
            <a:srgbClr val="293A5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25400" rIns="0" bIns="25400" rtlCol="0" anchor="ctr"/>
          <a:lstStyle/>
          <a:p>
            <a:pPr algn="ctr"/>
            <a:r>
              <a:rPr lang="pt-BR" sz="1100" b="1">
                <a:solidFill>
                  <a:srgbClr val="FFFFFF"/>
                </a:solidFill>
                <a:latin typeface="Segoe UI" panose="020B0502040204020203" pitchFamily="34" charset="0"/>
              </a:rPr>
              <a:t>5</a:t>
            </a:r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6AE66CED-4A36-7F17-81C4-DFDC968BC056}"/>
              </a:ext>
            </a:extLst>
          </p:cNvPr>
          <p:cNvSpPr txBox="1"/>
          <p:nvPr/>
        </p:nvSpPr>
        <p:spPr>
          <a:xfrm>
            <a:off x="8801100" y="5537200"/>
            <a:ext cx="13462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pt-BR" sz="1100" b="1">
                <a:solidFill>
                  <a:srgbClr val="243046"/>
                </a:solidFill>
                <a:latin typeface="Segoe UI" panose="020B0502040204020203" pitchFamily="34" charset="0"/>
              </a:rPr>
              <a:t>Disponibilidade respeitada</a:t>
            </a:r>
          </a:p>
        </p:txBody>
      </p:sp>
      <p:cxnSp>
        <p:nvCxnSpPr>
          <p:cNvPr id="29" name="Conector reto 28">
            <a:extLst>
              <a:ext uri="{FF2B5EF4-FFF2-40B4-BE49-F238E27FC236}">
                <a16:creationId xmlns:a16="http://schemas.microsoft.com/office/drawing/2014/main" id="{A2F794EA-D540-42FC-53DE-A03DF777436C}"/>
              </a:ext>
            </a:extLst>
          </p:cNvPr>
          <p:cNvCxnSpPr/>
          <p:nvPr/>
        </p:nvCxnSpPr>
        <p:spPr>
          <a:xfrm>
            <a:off x="609600" y="6400800"/>
            <a:ext cx="10972800" cy="0"/>
          </a:xfrm>
          <a:prstGeom prst="line">
            <a:avLst/>
          </a:prstGeom>
          <a:ln w="9525">
            <a:solidFill>
              <a:srgbClr val="DB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2C49FC17-9724-D456-E689-A04FBB70D3E9}"/>
              </a:ext>
            </a:extLst>
          </p:cNvPr>
          <p:cNvSpPr txBox="1"/>
          <p:nvPr/>
        </p:nvSpPr>
        <p:spPr>
          <a:xfrm>
            <a:off x="609600" y="6502400"/>
            <a:ext cx="8128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900">
                <a:solidFill>
                  <a:srgbClr val="647187"/>
                </a:solidFill>
                <a:latin typeface="Segoe UI" panose="020B0502040204020203" pitchFamily="34" charset="0"/>
              </a:rPr>
              <a:t>Introdução à Inteligência Artificial  ·  Tema 9 — Agendamento de Consultas/Atendimentos como PSR</a:t>
            </a:r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5A4AE5DF-745F-101B-F82F-DB12F6B6EE51}"/>
              </a:ext>
            </a:extLst>
          </p:cNvPr>
          <p:cNvSpPr txBox="1"/>
          <p:nvPr/>
        </p:nvSpPr>
        <p:spPr>
          <a:xfrm>
            <a:off x="10058400" y="6502400"/>
            <a:ext cx="1524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pt-BR" sz="900" b="1">
                <a:solidFill>
                  <a:srgbClr val="647187"/>
                </a:solidFill>
                <a:latin typeface="Segoe UI" panose="020B0502040204020203" pitchFamily="34" charset="0"/>
              </a:rPr>
              <a:t>3 / 17</a:t>
            </a:r>
          </a:p>
        </p:txBody>
      </p:sp>
    </p:spTree>
    <p:extLst>
      <p:ext uri="{BB962C8B-B14F-4D97-AF65-F5344CB8AC3E}">
        <p14:creationId xmlns:p14="http://schemas.microsoft.com/office/powerpoint/2010/main" val="20657666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1522F20C-9ABB-E390-C707-3C97B6F31F40}"/>
              </a:ext>
            </a:extLst>
          </p:cNvPr>
          <p:cNvSpPr/>
          <p:nvPr/>
        </p:nvSpPr>
        <p:spPr>
          <a:xfrm>
            <a:off x="0" y="0"/>
            <a:ext cx="127000" cy="6858000"/>
          </a:xfrm>
          <a:prstGeom prst="rect">
            <a:avLst/>
          </a:prstGeom>
          <a:solidFill>
            <a:srgbClr val="1B263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242361B3-55FF-814B-4EC5-4B6E2790BAA4}"/>
              </a:ext>
            </a:extLst>
          </p:cNvPr>
          <p:cNvSpPr/>
          <p:nvPr/>
        </p:nvSpPr>
        <p:spPr>
          <a:xfrm>
            <a:off x="0" y="279400"/>
            <a:ext cx="127000" cy="889000"/>
          </a:xfrm>
          <a:prstGeom prst="rect">
            <a:avLst/>
          </a:prstGeom>
          <a:solidFill>
            <a:srgbClr val="2A9D8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8F2C164F-CE5E-7E1A-97BA-3EFE7E73EF39}"/>
              </a:ext>
            </a:extLst>
          </p:cNvPr>
          <p:cNvSpPr txBox="1"/>
          <p:nvPr/>
        </p:nvSpPr>
        <p:spPr>
          <a:xfrm>
            <a:off x="609600" y="355600"/>
            <a:ext cx="8890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050" b="1" spc="160">
                <a:solidFill>
                  <a:srgbClr val="2A9D8F"/>
                </a:solidFill>
                <a:latin typeface="Segoe UI" panose="020B0502040204020203" pitchFamily="34" charset="0"/>
              </a:rPr>
              <a:t>INTRODUÇÃO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1FDF6F53-D7E3-409D-A6E9-B64610371B27}"/>
              </a:ext>
            </a:extLst>
          </p:cNvPr>
          <p:cNvSpPr txBox="1"/>
          <p:nvPr/>
        </p:nvSpPr>
        <p:spPr>
          <a:xfrm>
            <a:off x="609600" y="558800"/>
            <a:ext cx="94488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2600" b="1">
                <a:solidFill>
                  <a:srgbClr val="1B263B"/>
                </a:solidFill>
                <a:latin typeface="Segoe UI" panose="020B0502040204020203" pitchFamily="34" charset="0"/>
              </a:rPr>
              <a:t>Tamanho das instâncias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6AAA30AB-33EC-F29F-22EF-7377F175459E}"/>
              </a:ext>
            </a:extLst>
          </p:cNvPr>
          <p:cNvSpPr/>
          <p:nvPr/>
        </p:nvSpPr>
        <p:spPr>
          <a:xfrm>
            <a:off x="609600" y="1117600"/>
            <a:ext cx="711200" cy="44450"/>
          </a:xfrm>
          <a:prstGeom prst="rect">
            <a:avLst/>
          </a:prstGeom>
          <a:solidFill>
            <a:srgbClr val="2A9D8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aphicFrame>
        <p:nvGraphicFramePr>
          <p:cNvPr id="7" name="Tabela 6">
            <a:extLst>
              <a:ext uri="{FF2B5EF4-FFF2-40B4-BE49-F238E27FC236}">
                <a16:creationId xmlns:a16="http://schemas.microsoft.com/office/drawing/2014/main" id="{9322A17D-A7F4-762C-61F6-1C780DAF0F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093665"/>
              </p:ext>
            </p:extLst>
          </p:nvPr>
        </p:nvGraphicFramePr>
        <p:xfrm>
          <a:off x="609600" y="1422400"/>
          <a:ext cx="7162800" cy="3937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581400">
                  <a:extLst>
                    <a:ext uri="{9D8B030D-6E8A-4147-A177-3AD203B41FA5}">
                      <a16:colId xmlns:a16="http://schemas.microsoft.com/office/drawing/2014/main" val="613088442"/>
                    </a:ext>
                  </a:extLst>
                </a:gridCol>
                <a:gridCol w="1193800">
                  <a:extLst>
                    <a:ext uri="{9D8B030D-6E8A-4147-A177-3AD203B41FA5}">
                      <a16:colId xmlns:a16="http://schemas.microsoft.com/office/drawing/2014/main" val="1412872080"/>
                    </a:ext>
                  </a:extLst>
                </a:gridCol>
                <a:gridCol w="1193800">
                  <a:extLst>
                    <a:ext uri="{9D8B030D-6E8A-4147-A177-3AD203B41FA5}">
                      <a16:colId xmlns:a16="http://schemas.microsoft.com/office/drawing/2014/main" val="2096422643"/>
                    </a:ext>
                  </a:extLst>
                </a:gridCol>
                <a:gridCol w="1193800">
                  <a:extLst>
                    <a:ext uri="{9D8B030D-6E8A-4147-A177-3AD203B41FA5}">
                      <a16:colId xmlns:a16="http://schemas.microsoft.com/office/drawing/2014/main" val="1890531418"/>
                    </a:ext>
                  </a:extLst>
                </a:gridCol>
              </a:tblGrid>
              <a:tr h="393700">
                <a:tc>
                  <a:txBody>
                    <a:bodyPr/>
                    <a:lstStyle/>
                    <a:p>
                      <a:pPr algn="l"/>
                      <a:r>
                        <a:rPr lang="pt-BR" sz="1250" b="1" i="0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Elemento</a:t>
                      </a:r>
                    </a:p>
                  </a:txBody>
                  <a:tcPr marL="127000" marR="127000" marT="38100" marB="38100" anchor="ctr">
                    <a:lnB w="9525">
                      <a:solidFill>
                        <a:srgbClr val="1B263B"/>
                      </a:solidFill>
                    </a:lnB>
                    <a:solidFill>
                      <a:srgbClr val="1B26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50" b="1" i="0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Pequena</a:t>
                      </a:r>
                    </a:p>
                  </a:txBody>
                  <a:tcPr marL="127000" marR="127000" marT="38100" marB="38100" anchor="ctr">
                    <a:lnB w="9525">
                      <a:solidFill>
                        <a:srgbClr val="1B263B"/>
                      </a:solidFill>
                    </a:lnB>
                    <a:solidFill>
                      <a:srgbClr val="1B26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50" b="1" i="0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Média</a:t>
                      </a:r>
                    </a:p>
                  </a:txBody>
                  <a:tcPr marL="127000" marR="127000" marT="38100" marB="38100" anchor="ctr">
                    <a:lnB w="9525">
                      <a:solidFill>
                        <a:srgbClr val="1B263B"/>
                      </a:solidFill>
                    </a:lnB>
                    <a:solidFill>
                      <a:srgbClr val="1B26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50" b="1" i="0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Grande</a:t>
                      </a:r>
                    </a:p>
                  </a:txBody>
                  <a:tcPr marL="127000" marR="127000" marT="38100" marB="38100" anchor="ctr">
                    <a:lnB w="9525">
                      <a:solidFill>
                        <a:srgbClr val="1B263B"/>
                      </a:solidFill>
                    </a:lnB>
                    <a:solidFill>
                      <a:srgbClr val="1B26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3077334"/>
                  </a:ext>
                </a:extLst>
              </a:tr>
              <a:tr h="393700">
                <a:tc>
                  <a:txBody>
                    <a:bodyPr/>
                    <a:lstStyle/>
                    <a:p>
                      <a:pPr algn="l"/>
                      <a:r>
                        <a:rPr lang="pt-BR" sz="1250" b="0" i="0">
                          <a:solidFill>
                            <a:srgbClr val="243046"/>
                          </a:solidFill>
                          <a:latin typeface="Segoe UI" panose="020B0502040204020203" pitchFamily="34" charset="0"/>
                        </a:rPr>
                        <a:t>Atendimentos (variáveis)</a:t>
                      </a:r>
                    </a:p>
                  </a:txBody>
                  <a:tcPr marL="127000" marR="127000" marT="38100" marB="38100" anchor="ctr">
                    <a:lnT w="9525">
                      <a:solidFill>
                        <a:srgbClr val="1B263B"/>
                      </a:solidFill>
                    </a:lnT>
                    <a:lnB w="9525">
                      <a:solidFill>
                        <a:srgbClr val="DB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50" b="0" i="0">
                          <a:solidFill>
                            <a:srgbClr val="243046"/>
                          </a:solidFill>
                          <a:latin typeface="Segoe UI" panose="020B0502040204020203" pitchFamily="34" charset="0"/>
                        </a:rPr>
                        <a:t>10</a:t>
                      </a:r>
                    </a:p>
                  </a:txBody>
                  <a:tcPr marL="127000" marR="127000" marT="38100" marB="38100" anchor="ctr">
                    <a:lnT w="9525">
                      <a:solidFill>
                        <a:srgbClr val="1B263B"/>
                      </a:solidFill>
                    </a:lnT>
                    <a:lnB w="9525">
                      <a:solidFill>
                        <a:srgbClr val="DB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50" b="0" i="0">
                          <a:solidFill>
                            <a:srgbClr val="243046"/>
                          </a:solidFill>
                          <a:latin typeface="Segoe UI" panose="020B0502040204020203" pitchFamily="34" charset="0"/>
                        </a:rPr>
                        <a:t>30</a:t>
                      </a:r>
                    </a:p>
                  </a:txBody>
                  <a:tcPr marL="127000" marR="127000" marT="38100" marB="38100" anchor="ctr">
                    <a:lnT w="9525">
                      <a:solidFill>
                        <a:srgbClr val="1B263B"/>
                      </a:solidFill>
                    </a:lnT>
                    <a:lnB w="9525">
                      <a:solidFill>
                        <a:srgbClr val="DB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50" b="0" i="0">
                          <a:solidFill>
                            <a:srgbClr val="243046"/>
                          </a:solidFill>
                          <a:latin typeface="Segoe UI" panose="020B0502040204020203" pitchFamily="34" charset="0"/>
                        </a:rPr>
                        <a:t>60</a:t>
                      </a:r>
                    </a:p>
                  </a:txBody>
                  <a:tcPr marL="127000" marR="127000" marT="38100" marB="38100" anchor="ctr">
                    <a:lnT w="9525">
                      <a:solidFill>
                        <a:srgbClr val="1B263B"/>
                      </a:solidFill>
                    </a:lnT>
                    <a:lnB w="9525">
                      <a:solidFill>
                        <a:srgbClr val="DBE2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9449054"/>
                  </a:ext>
                </a:extLst>
              </a:tr>
              <a:tr h="393700">
                <a:tc>
                  <a:txBody>
                    <a:bodyPr/>
                    <a:lstStyle/>
                    <a:p>
                      <a:pPr algn="l"/>
                      <a:r>
                        <a:rPr lang="pt-BR" sz="1250" b="0" i="0">
                          <a:solidFill>
                            <a:srgbClr val="243046"/>
                          </a:solidFill>
                          <a:latin typeface="Segoe UI" panose="020B0502040204020203" pitchFamily="34" charset="0"/>
                        </a:rPr>
                        <a:t>Clientes</a:t>
                      </a:r>
                    </a:p>
                  </a:txBody>
                  <a:tcPr marL="127000" marR="127000" marT="38100" marB="38100" anchor="ctr">
                    <a:lnT w="9525">
                      <a:solidFill>
                        <a:srgbClr val="DBE2EA"/>
                      </a:solidFill>
                    </a:lnT>
                    <a:lnB w="9525">
                      <a:solidFill>
                        <a:srgbClr val="DBE2EA"/>
                      </a:solidFill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50" b="0" i="0">
                          <a:solidFill>
                            <a:srgbClr val="243046"/>
                          </a:solidFill>
                          <a:latin typeface="Segoe UI" panose="020B0502040204020203" pitchFamily="34" charset="0"/>
                        </a:rPr>
                        <a:t>8</a:t>
                      </a:r>
                    </a:p>
                  </a:txBody>
                  <a:tcPr marL="127000" marR="127000" marT="38100" marB="38100" anchor="ctr">
                    <a:lnT w="9525">
                      <a:solidFill>
                        <a:srgbClr val="DBE2EA"/>
                      </a:solidFill>
                    </a:lnT>
                    <a:lnB w="9525">
                      <a:solidFill>
                        <a:srgbClr val="DBE2EA"/>
                      </a:solidFill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50" b="0" i="0">
                          <a:solidFill>
                            <a:srgbClr val="243046"/>
                          </a:solidFill>
                          <a:latin typeface="Segoe UI" panose="020B0502040204020203" pitchFamily="34" charset="0"/>
                        </a:rPr>
                        <a:t>22</a:t>
                      </a:r>
                    </a:p>
                  </a:txBody>
                  <a:tcPr marL="127000" marR="127000" marT="38100" marB="38100" anchor="ctr">
                    <a:lnT w="9525">
                      <a:solidFill>
                        <a:srgbClr val="DBE2EA"/>
                      </a:solidFill>
                    </a:lnT>
                    <a:lnB w="9525">
                      <a:solidFill>
                        <a:srgbClr val="DBE2EA"/>
                      </a:solidFill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50" b="0" i="0">
                          <a:solidFill>
                            <a:srgbClr val="243046"/>
                          </a:solidFill>
                          <a:latin typeface="Segoe UI" panose="020B0502040204020203" pitchFamily="34" charset="0"/>
                        </a:rPr>
                        <a:t>45</a:t>
                      </a:r>
                    </a:p>
                  </a:txBody>
                  <a:tcPr marL="127000" marR="127000" marT="38100" marB="38100" anchor="ctr">
                    <a:lnT w="9525">
                      <a:solidFill>
                        <a:srgbClr val="DBE2EA"/>
                      </a:solidFill>
                    </a:lnT>
                    <a:lnB w="9525">
                      <a:solidFill>
                        <a:srgbClr val="DBE2EA"/>
                      </a:solidFill>
                    </a:lnB>
                    <a:solidFill>
                      <a:srgbClr val="F2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8898866"/>
                  </a:ext>
                </a:extLst>
              </a:tr>
              <a:tr h="393700">
                <a:tc>
                  <a:txBody>
                    <a:bodyPr/>
                    <a:lstStyle/>
                    <a:p>
                      <a:pPr algn="l"/>
                      <a:r>
                        <a:rPr lang="pt-BR" sz="1250" b="0" i="0">
                          <a:solidFill>
                            <a:srgbClr val="243046"/>
                          </a:solidFill>
                          <a:latin typeface="Segoe UI" panose="020B0502040204020203" pitchFamily="34" charset="0"/>
                        </a:rPr>
                        <a:t>Profissionais</a:t>
                      </a:r>
                    </a:p>
                  </a:txBody>
                  <a:tcPr marL="127000" marR="127000" marT="38100" marB="38100" anchor="ctr">
                    <a:lnT w="9525">
                      <a:solidFill>
                        <a:srgbClr val="DBE2EA"/>
                      </a:solidFill>
                    </a:lnT>
                    <a:lnB w="9525">
                      <a:solidFill>
                        <a:srgbClr val="DB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50" b="0" i="0">
                          <a:solidFill>
                            <a:srgbClr val="243046"/>
                          </a:solidFill>
                          <a:latin typeface="Segoe UI" panose="020B0502040204020203" pitchFamily="34" charset="0"/>
                        </a:rPr>
                        <a:t>6</a:t>
                      </a:r>
                    </a:p>
                  </a:txBody>
                  <a:tcPr marL="127000" marR="127000" marT="38100" marB="38100" anchor="ctr">
                    <a:lnT w="9525">
                      <a:solidFill>
                        <a:srgbClr val="DBE2EA"/>
                      </a:solidFill>
                    </a:lnT>
                    <a:lnB w="9525">
                      <a:solidFill>
                        <a:srgbClr val="DB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50" b="0" i="0">
                          <a:solidFill>
                            <a:srgbClr val="243046"/>
                          </a:solidFill>
                          <a:latin typeface="Segoe UI" panose="020B0502040204020203" pitchFamily="34" charset="0"/>
                        </a:rPr>
                        <a:t>8</a:t>
                      </a:r>
                    </a:p>
                  </a:txBody>
                  <a:tcPr marL="127000" marR="127000" marT="38100" marB="38100" anchor="ctr">
                    <a:lnT w="9525">
                      <a:solidFill>
                        <a:srgbClr val="DBE2EA"/>
                      </a:solidFill>
                    </a:lnT>
                    <a:lnB w="9525">
                      <a:solidFill>
                        <a:srgbClr val="DB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50" b="0" i="0">
                          <a:solidFill>
                            <a:srgbClr val="243046"/>
                          </a:solidFill>
                          <a:latin typeface="Segoe UI" panose="020B0502040204020203" pitchFamily="34" charset="0"/>
                        </a:rPr>
                        <a:t>11</a:t>
                      </a:r>
                    </a:p>
                  </a:txBody>
                  <a:tcPr marL="127000" marR="127000" marT="38100" marB="38100" anchor="ctr">
                    <a:lnT w="9525">
                      <a:solidFill>
                        <a:srgbClr val="DBE2EA"/>
                      </a:solidFill>
                    </a:lnT>
                    <a:lnB w="9525">
                      <a:solidFill>
                        <a:srgbClr val="DBE2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9978107"/>
                  </a:ext>
                </a:extLst>
              </a:tr>
              <a:tr h="393700">
                <a:tc>
                  <a:txBody>
                    <a:bodyPr/>
                    <a:lstStyle/>
                    <a:p>
                      <a:pPr algn="l"/>
                      <a:r>
                        <a:rPr lang="pt-BR" sz="1250" b="0" i="0">
                          <a:solidFill>
                            <a:srgbClr val="243046"/>
                          </a:solidFill>
                          <a:latin typeface="Segoe UI" panose="020B0502040204020203" pitchFamily="34" charset="0"/>
                        </a:rPr>
                        <a:t>Salas</a:t>
                      </a:r>
                    </a:p>
                  </a:txBody>
                  <a:tcPr marL="127000" marR="127000" marT="38100" marB="38100" anchor="ctr">
                    <a:lnT w="9525">
                      <a:solidFill>
                        <a:srgbClr val="DBE2EA"/>
                      </a:solidFill>
                    </a:lnT>
                    <a:lnB w="9525">
                      <a:solidFill>
                        <a:srgbClr val="DBE2EA"/>
                      </a:solidFill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50" b="0" i="0">
                          <a:solidFill>
                            <a:srgbClr val="243046"/>
                          </a:solidFill>
                          <a:latin typeface="Segoe UI" panose="020B0502040204020203" pitchFamily="34" charset="0"/>
                        </a:rPr>
                        <a:t>3</a:t>
                      </a:r>
                    </a:p>
                  </a:txBody>
                  <a:tcPr marL="127000" marR="127000" marT="38100" marB="38100" anchor="ctr">
                    <a:lnT w="9525">
                      <a:solidFill>
                        <a:srgbClr val="DBE2EA"/>
                      </a:solidFill>
                    </a:lnT>
                    <a:lnB w="9525">
                      <a:solidFill>
                        <a:srgbClr val="DBE2EA"/>
                      </a:solidFill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50" b="0" i="0">
                          <a:solidFill>
                            <a:srgbClr val="243046"/>
                          </a:solidFill>
                          <a:latin typeface="Segoe UI" panose="020B0502040204020203" pitchFamily="34" charset="0"/>
                        </a:rPr>
                        <a:t>4</a:t>
                      </a:r>
                    </a:p>
                  </a:txBody>
                  <a:tcPr marL="127000" marR="127000" marT="38100" marB="38100" anchor="ctr">
                    <a:lnT w="9525">
                      <a:solidFill>
                        <a:srgbClr val="DBE2EA"/>
                      </a:solidFill>
                    </a:lnT>
                    <a:lnB w="9525">
                      <a:solidFill>
                        <a:srgbClr val="DBE2EA"/>
                      </a:solidFill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50" b="0" i="0">
                          <a:solidFill>
                            <a:srgbClr val="243046"/>
                          </a:solidFill>
                          <a:latin typeface="Segoe UI" panose="020B0502040204020203" pitchFamily="34" charset="0"/>
                        </a:rPr>
                        <a:t>4</a:t>
                      </a:r>
                    </a:p>
                  </a:txBody>
                  <a:tcPr marL="127000" marR="127000" marT="38100" marB="38100" anchor="ctr">
                    <a:lnT w="9525">
                      <a:solidFill>
                        <a:srgbClr val="DBE2EA"/>
                      </a:solidFill>
                    </a:lnT>
                    <a:lnB w="9525">
                      <a:solidFill>
                        <a:srgbClr val="DBE2EA"/>
                      </a:solidFill>
                    </a:lnB>
                    <a:solidFill>
                      <a:srgbClr val="F2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9393604"/>
                  </a:ext>
                </a:extLst>
              </a:tr>
              <a:tr h="393700">
                <a:tc>
                  <a:txBody>
                    <a:bodyPr/>
                    <a:lstStyle/>
                    <a:p>
                      <a:pPr algn="l"/>
                      <a:r>
                        <a:rPr lang="pt-BR" sz="1250" b="0" i="0">
                          <a:solidFill>
                            <a:srgbClr val="243046"/>
                          </a:solidFill>
                          <a:latin typeface="Segoe UI" panose="020B0502040204020203" pitchFamily="34" charset="0"/>
                        </a:rPr>
                        <a:t>Horários no total</a:t>
                      </a:r>
                    </a:p>
                  </a:txBody>
                  <a:tcPr marL="127000" marR="127000" marT="38100" marB="38100" anchor="ctr">
                    <a:lnT w="9525">
                      <a:solidFill>
                        <a:srgbClr val="DBE2EA"/>
                      </a:solidFill>
                    </a:lnT>
                    <a:lnB w="9525">
                      <a:solidFill>
                        <a:srgbClr val="DB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50" b="0" i="0">
                          <a:solidFill>
                            <a:srgbClr val="243046"/>
                          </a:solidFill>
                          <a:latin typeface="Segoe UI" panose="020B0502040204020203" pitchFamily="34" charset="0"/>
                        </a:rPr>
                        <a:t>10</a:t>
                      </a:r>
                    </a:p>
                  </a:txBody>
                  <a:tcPr marL="127000" marR="127000" marT="38100" marB="38100" anchor="ctr">
                    <a:lnT w="9525">
                      <a:solidFill>
                        <a:srgbClr val="DBE2EA"/>
                      </a:solidFill>
                    </a:lnT>
                    <a:lnB w="9525">
                      <a:solidFill>
                        <a:srgbClr val="DB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50" b="0" i="0">
                          <a:solidFill>
                            <a:srgbClr val="243046"/>
                          </a:solidFill>
                          <a:latin typeface="Segoe UI" panose="020B0502040204020203" pitchFamily="34" charset="0"/>
                        </a:rPr>
                        <a:t>30</a:t>
                      </a:r>
                    </a:p>
                  </a:txBody>
                  <a:tcPr marL="127000" marR="127000" marT="38100" marB="38100" anchor="ctr">
                    <a:lnT w="9525">
                      <a:solidFill>
                        <a:srgbClr val="DBE2EA"/>
                      </a:solidFill>
                    </a:lnT>
                    <a:lnB w="9525">
                      <a:solidFill>
                        <a:srgbClr val="DB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50" b="0" i="0">
                          <a:solidFill>
                            <a:srgbClr val="243046"/>
                          </a:solidFill>
                          <a:latin typeface="Segoe UI" panose="020B0502040204020203" pitchFamily="34" charset="0"/>
                        </a:rPr>
                        <a:t>50</a:t>
                      </a:r>
                    </a:p>
                  </a:txBody>
                  <a:tcPr marL="127000" marR="127000" marT="38100" marB="38100" anchor="ctr">
                    <a:lnT w="9525">
                      <a:solidFill>
                        <a:srgbClr val="DBE2EA"/>
                      </a:solidFill>
                    </a:lnT>
                    <a:lnB w="9525">
                      <a:solidFill>
                        <a:srgbClr val="DBE2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7354375"/>
                  </a:ext>
                </a:extLst>
              </a:tr>
              <a:tr h="393700">
                <a:tc>
                  <a:txBody>
                    <a:bodyPr/>
                    <a:lstStyle/>
                    <a:p>
                      <a:pPr algn="l"/>
                      <a:r>
                        <a:rPr lang="pt-BR" sz="1250" b="0" i="0">
                          <a:solidFill>
                            <a:srgbClr val="243046"/>
                          </a:solidFill>
                          <a:latin typeface="Segoe UI" panose="020B0502040204020203" pitchFamily="34" charset="0"/>
                        </a:rPr>
                        <a:t>Dias</a:t>
                      </a:r>
                    </a:p>
                  </a:txBody>
                  <a:tcPr marL="127000" marR="127000" marT="38100" marB="38100" anchor="ctr">
                    <a:lnT w="9525">
                      <a:solidFill>
                        <a:srgbClr val="DBE2EA"/>
                      </a:solidFill>
                    </a:lnT>
                    <a:lnB w="9525">
                      <a:solidFill>
                        <a:srgbClr val="DBE2EA"/>
                      </a:solidFill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50" b="0" i="0">
                          <a:solidFill>
                            <a:srgbClr val="243046"/>
                          </a:solidFill>
                          <a:latin typeface="Segoe UI" panose="020B0502040204020203" pitchFamily="34" charset="0"/>
                        </a:rPr>
                        <a:t>1</a:t>
                      </a:r>
                    </a:p>
                  </a:txBody>
                  <a:tcPr marL="127000" marR="127000" marT="38100" marB="38100" anchor="ctr">
                    <a:lnT w="9525">
                      <a:solidFill>
                        <a:srgbClr val="DBE2EA"/>
                      </a:solidFill>
                    </a:lnT>
                    <a:lnB w="9525">
                      <a:solidFill>
                        <a:srgbClr val="DBE2EA"/>
                      </a:solidFill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50" b="0" i="0">
                          <a:solidFill>
                            <a:srgbClr val="243046"/>
                          </a:solidFill>
                          <a:latin typeface="Segoe UI" panose="020B0502040204020203" pitchFamily="34" charset="0"/>
                        </a:rPr>
                        <a:t>3</a:t>
                      </a:r>
                    </a:p>
                  </a:txBody>
                  <a:tcPr marL="127000" marR="127000" marT="38100" marB="38100" anchor="ctr">
                    <a:lnT w="9525">
                      <a:solidFill>
                        <a:srgbClr val="DBE2EA"/>
                      </a:solidFill>
                    </a:lnT>
                    <a:lnB w="9525">
                      <a:solidFill>
                        <a:srgbClr val="DBE2EA"/>
                      </a:solidFill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50" b="0" i="0">
                          <a:solidFill>
                            <a:srgbClr val="243046"/>
                          </a:solidFill>
                          <a:latin typeface="Segoe UI" panose="020B0502040204020203" pitchFamily="34" charset="0"/>
                        </a:rPr>
                        <a:t>5</a:t>
                      </a:r>
                    </a:p>
                  </a:txBody>
                  <a:tcPr marL="127000" marR="127000" marT="38100" marB="38100" anchor="ctr">
                    <a:lnT w="9525">
                      <a:solidFill>
                        <a:srgbClr val="DBE2EA"/>
                      </a:solidFill>
                    </a:lnT>
                    <a:lnB w="9525">
                      <a:solidFill>
                        <a:srgbClr val="DBE2EA"/>
                      </a:solidFill>
                    </a:lnB>
                    <a:solidFill>
                      <a:srgbClr val="F2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5265532"/>
                  </a:ext>
                </a:extLst>
              </a:tr>
              <a:tr h="393700">
                <a:tc>
                  <a:txBody>
                    <a:bodyPr/>
                    <a:lstStyle/>
                    <a:p>
                      <a:pPr algn="l"/>
                      <a:r>
                        <a:rPr lang="pt-BR" sz="1250" b="0" i="0">
                          <a:solidFill>
                            <a:srgbClr val="243046"/>
                          </a:solidFill>
                          <a:latin typeface="Segoe UI" panose="020B0502040204020203" pitchFamily="34" charset="0"/>
                        </a:rPr>
                        <a:t>Horários por dia</a:t>
                      </a:r>
                    </a:p>
                  </a:txBody>
                  <a:tcPr marL="127000" marR="127000" marT="38100" marB="38100" anchor="ctr">
                    <a:lnT w="9525">
                      <a:solidFill>
                        <a:srgbClr val="DBE2EA"/>
                      </a:solidFill>
                    </a:lnT>
                    <a:lnB w="9525">
                      <a:solidFill>
                        <a:srgbClr val="DB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50" b="0" i="0">
                          <a:solidFill>
                            <a:srgbClr val="243046"/>
                          </a:solidFill>
                          <a:latin typeface="Segoe UI" panose="020B0502040204020203" pitchFamily="34" charset="0"/>
                        </a:rPr>
                        <a:t>10</a:t>
                      </a:r>
                    </a:p>
                  </a:txBody>
                  <a:tcPr marL="127000" marR="127000" marT="38100" marB="38100" anchor="ctr">
                    <a:lnT w="9525">
                      <a:solidFill>
                        <a:srgbClr val="DBE2EA"/>
                      </a:solidFill>
                    </a:lnT>
                    <a:lnB w="9525">
                      <a:solidFill>
                        <a:srgbClr val="DB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50" b="0" i="0">
                          <a:solidFill>
                            <a:srgbClr val="243046"/>
                          </a:solidFill>
                          <a:latin typeface="Segoe UI" panose="020B0502040204020203" pitchFamily="34" charset="0"/>
                        </a:rPr>
                        <a:t>10</a:t>
                      </a:r>
                    </a:p>
                  </a:txBody>
                  <a:tcPr marL="127000" marR="127000" marT="38100" marB="38100" anchor="ctr">
                    <a:lnT w="9525">
                      <a:solidFill>
                        <a:srgbClr val="DBE2EA"/>
                      </a:solidFill>
                    </a:lnT>
                    <a:lnB w="9525">
                      <a:solidFill>
                        <a:srgbClr val="DB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50" b="0" i="0">
                          <a:solidFill>
                            <a:srgbClr val="243046"/>
                          </a:solidFill>
                          <a:latin typeface="Segoe UI" panose="020B0502040204020203" pitchFamily="34" charset="0"/>
                        </a:rPr>
                        <a:t>10</a:t>
                      </a:r>
                    </a:p>
                  </a:txBody>
                  <a:tcPr marL="127000" marR="127000" marT="38100" marB="38100" anchor="ctr">
                    <a:lnT w="9525">
                      <a:solidFill>
                        <a:srgbClr val="DBE2EA"/>
                      </a:solidFill>
                    </a:lnT>
                    <a:lnB w="9525">
                      <a:solidFill>
                        <a:srgbClr val="DBE2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9223262"/>
                  </a:ext>
                </a:extLst>
              </a:tr>
              <a:tr h="393700">
                <a:tc>
                  <a:txBody>
                    <a:bodyPr/>
                    <a:lstStyle/>
                    <a:p>
                      <a:pPr algn="l"/>
                      <a:r>
                        <a:rPr lang="pt-BR" sz="1250" b="0" i="0">
                          <a:solidFill>
                            <a:srgbClr val="243046"/>
                          </a:solidFill>
                          <a:latin typeface="Segoe UI" panose="020B0502040204020203" pitchFamily="34" charset="0"/>
                        </a:rPr>
                        <a:t>Combinações geradas (soma dos domínios)</a:t>
                      </a:r>
                    </a:p>
                  </a:txBody>
                  <a:tcPr marL="127000" marR="127000" marT="38100" marB="38100" anchor="ctr">
                    <a:lnT w="9525">
                      <a:solidFill>
                        <a:srgbClr val="DBE2EA"/>
                      </a:solidFill>
                    </a:lnT>
                    <a:lnB w="9525">
                      <a:solidFill>
                        <a:srgbClr val="DBE2EA"/>
                      </a:solidFill>
                    </a:lnB>
                    <a:solidFill>
                      <a:srgbClr val="FDF3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50" b="0" i="0">
                          <a:solidFill>
                            <a:srgbClr val="243046"/>
                          </a:solidFill>
                          <a:latin typeface="Segoe UI" panose="020B0502040204020203" pitchFamily="34" charset="0"/>
                        </a:rPr>
                        <a:t>83</a:t>
                      </a:r>
                    </a:p>
                  </a:txBody>
                  <a:tcPr marL="127000" marR="127000" marT="38100" marB="38100" anchor="ctr">
                    <a:lnT w="9525">
                      <a:solidFill>
                        <a:srgbClr val="DBE2EA"/>
                      </a:solidFill>
                    </a:lnT>
                    <a:lnB w="9525">
                      <a:solidFill>
                        <a:srgbClr val="DBE2EA"/>
                      </a:solidFill>
                    </a:lnB>
                    <a:solidFill>
                      <a:srgbClr val="FDF3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50" b="0" i="0">
                          <a:solidFill>
                            <a:srgbClr val="243046"/>
                          </a:solidFill>
                          <a:latin typeface="Segoe UI" panose="020B0502040204020203" pitchFamily="34" charset="0"/>
                        </a:rPr>
                        <a:t>371</a:t>
                      </a:r>
                    </a:p>
                  </a:txBody>
                  <a:tcPr marL="127000" marR="127000" marT="38100" marB="38100" anchor="ctr">
                    <a:lnT w="9525">
                      <a:solidFill>
                        <a:srgbClr val="DBE2EA"/>
                      </a:solidFill>
                    </a:lnT>
                    <a:lnB w="9525">
                      <a:solidFill>
                        <a:srgbClr val="DBE2EA"/>
                      </a:solidFill>
                    </a:lnB>
                    <a:solidFill>
                      <a:srgbClr val="FDF3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50" b="0" i="0">
                          <a:solidFill>
                            <a:srgbClr val="243046"/>
                          </a:solidFill>
                          <a:latin typeface="Segoe UI" panose="020B0502040204020203" pitchFamily="34" charset="0"/>
                        </a:rPr>
                        <a:t>1.111</a:t>
                      </a:r>
                    </a:p>
                  </a:txBody>
                  <a:tcPr marL="127000" marR="127000" marT="38100" marB="38100" anchor="ctr">
                    <a:lnT w="9525">
                      <a:solidFill>
                        <a:srgbClr val="DBE2EA"/>
                      </a:solidFill>
                    </a:lnT>
                    <a:lnB w="9525">
                      <a:solidFill>
                        <a:srgbClr val="DBE2EA"/>
                      </a:solidFill>
                    </a:lnB>
                    <a:solidFill>
                      <a:srgbClr val="FDF3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3270322"/>
                  </a:ext>
                </a:extLst>
              </a:tr>
              <a:tr h="393700">
                <a:tc>
                  <a:txBody>
                    <a:bodyPr/>
                    <a:lstStyle/>
                    <a:p>
                      <a:pPr algn="l"/>
                      <a:r>
                        <a:rPr lang="pt-BR" sz="1250" b="1" i="0">
                          <a:solidFill>
                            <a:srgbClr val="243046"/>
                          </a:solidFill>
                          <a:latin typeface="Segoe UI" panose="020B0502040204020203" pitchFamily="34" charset="0"/>
                        </a:rPr>
                        <a:t>Tamanho da árvore (produto dos domínios, aprox.)</a:t>
                      </a:r>
                    </a:p>
                  </a:txBody>
                  <a:tcPr marL="127000" marR="127000" marT="38100" marB="38100" anchor="ctr">
                    <a:lnT w="9525">
                      <a:solidFill>
                        <a:srgbClr val="DBE2EA"/>
                      </a:solidFill>
                    </a:lnT>
                    <a:lnB w="9525">
                      <a:solidFill>
                        <a:srgbClr val="DBE2EA"/>
                      </a:solidFill>
                    </a:lnB>
                    <a:solidFill>
                      <a:srgbClr val="FDF3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50" b="1" i="0">
                          <a:solidFill>
                            <a:srgbClr val="E76F51"/>
                          </a:solidFill>
                          <a:latin typeface="Segoe UI" panose="020B0502040204020203" pitchFamily="34" charset="0"/>
                        </a:rPr>
                        <a:t>5,5 × 10</a:t>
                      </a:r>
                      <a:r>
                        <a:rPr lang="pt-BR" sz="1250" b="1" i="0" baseline="30000">
                          <a:solidFill>
                            <a:srgbClr val="E76F51"/>
                          </a:solidFill>
                          <a:latin typeface="Segoe UI" panose="020B0502040204020203" pitchFamily="34" charset="0"/>
                        </a:rPr>
                        <a:t>8</a:t>
                      </a:r>
                    </a:p>
                  </a:txBody>
                  <a:tcPr marL="127000" marR="127000" marT="38100" marB="38100" anchor="ctr">
                    <a:lnT w="9525">
                      <a:solidFill>
                        <a:srgbClr val="DBE2EA"/>
                      </a:solidFill>
                    </a:lnT>
                    <a:lnB w="9525">
                      <a:solidFill>
                        <a:srgbClr val="DBE2EA"/>
                      </a:solidFill>
                    </a:lnB>
                    <a:solidFill>
                      <a:srgbClr val="FDF3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50" b="1" i="0">
                          <a:solidFill>
                            <a:srgbClr val="E76F51"/>
                          </a:solidFill>
                          <a:latin typeface="Segoe UI" panose="020B0502040204020203" pitchFamily="34" charset="0"/>
                        </a:rPr>
                        <a:t>6,1 × 10</a:t>
                      </a:r>
                      <a:r>
                        <a:rPr lang="pt-BR" sz="1250" b="1" i="0" baseline="30000">
                          <a:solidFill>
                            <a:srgbClr val="E76F51"/>
                          </a:solidFill>
                          <a:latin typeface="Segoe UI" panose="020B0502040204020203" pitchFamily="34" charset="0"/>
                        </a:rPr>
                        <a:t>28</a:t>
                      </a:r>
                    </a:p>
                  </a:txBody>
                  <a:tcPr marL="127000" marR="127000" marT="38100" marB="38100" anchor="ctr">
                    <a:lnT w="9525">
                      <a:solidFill>
                        <a:srgbClr val="DBE2EA"/>
                      </a:solidFill>
                    </a:lnT>
                    <a:lnB w="9525">
                      <a:solidFill>
                        <a:srgbClr val="DBE2EA"/>
                      </a:solidFill>
                    </a:lnB>
                    <a:solidFill>
                      <a:srgbClr val="FDF3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50" b="1" i="0">
                          <a:solidFill>
                            <a:srgbClr val="E76F51"/>
                          </a:solidFill>
                          <a:latin typeface="Segoe UI" panose="020B0502040204020203" pitchFamily="34" charset="0"/>
                        </a:rPr>
                        <a:t>3,0 × 10</a:t>
                      </a:r>
                      <a:r>
                        <a:rPr lang="pt-BR" sz="1250" b="1" i="0" baseline="30000">
                          <a:solidFill>
                            <a:srgbClr val="E76F51"/>
                          </a:solidFill>
                          <a:latin typeface="Segoe UI" panose="020B0502040204020203" pitchFamily="34" charset="0"/>
                        </a:rPr>
                        <a:t>62</a:t>
                      </a:r>
                    </a:p>
                  </a:txBody>
                  <a:tcPr marL="127000" marR="127000" marT="38100" marB="38100" anchor="ctr">
                    <a:lnT w="9525">
                      <a:solidFill>
                        <a:srgbClr val="DBE2EA"/>
                      </a:solidFill>
                    </a:lnT>
                    <a:lnB w="9525">
                      <a:solidFill>
                        <a:srgbClr val="DBE2EA"/>
                      </a:solidFill>
                    </a:lnB>
                    <a:solidFill>
                      <a:srgbClr val="FDF3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3980048"/>
                  </a:ext>
                </a:extLst>
              </a:tr>
            </a:tbl>
          </a:graphicData>
        </a:graphic>
      </p:graphicFrame>
      <p:sp>
        <p:nvSpPr>
          <p:cNvPr id="8" name="CaixaDeTexto 7">
            <a:extLst>
              <a:ext uri="{FF2B5EF4-FFF2-40B4-BE49-F238E27FC236}">
                <a16:creationId xmlns:a16="http://schemas.microsoft.com/office/drawing/2014/main" id="{E0067939-D936-1FBD-D646-3ED83C3A5AB7}"/>
              </a:ext>
            </a:extLst>
          </p:cNvPr>
          <p:cNvSpPr txBox="1"/>
          <p:nvPr/>
        </p:nvSpPr>
        <p:spPr>
          <a:xfrm>
            <a:off x="609600" y="5867400"/>
            <a:ext cx="71628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050">
                <a:solidFill>
                  <a:srgbClr val="647187"/>
                </a:solidFill>
                <a:latin typeface="Segoe UI" panose="020B0502040204020203" pitchFamily="34" charset="0"/>
              </a:rPr>
              <a:t>Árvore de busca: produto dos tamanhos dos domínios de todos os atendimentos — o espaço que o backtracking pode ter de percorrer.</a:t>
            </a:r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F3206FE0-9CAC-7ABD-4A0D-3759D0C88E7B}"/>
              </a:ext>
            </a:extLst>
          </p:cNvPr>
          <p:cNvSpPr/>
          <p:nvPr/>
        </p:nvSpPr>
        <p:spPr>
          <a:xfrm>
            <a:off x="8077200" y="1422400"/>
            <a:ext cx="3505200" cy="1422400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9525" cap="flat" cmpd="sng" algn="ctr">
            <a:solidFill>
              <a:srgbClr val="DBE2EA"/>
            </a:solidFill>
            <a:prstDash val="solid"/>
            <a:miter lim="800000"/>
          </a:ln>
          <a:effectLst>
            <a:outerShdw blurRad="152400" dist="50800" dir="5400000" rotWithShape="0">
              <a:srgbClr val="0F172A">
                <a:alpha val="1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42C80C59-6D1F-68F2-0D9F-BB52D69176BA}"/>
              </a:ext>
            </a:extLst>
          </p:cNvPr>
          <p:cNvSpPr txBox="1"/>
          <p:nvPr/>
        </p:nvSpPr>
        <p:spPr>
          <a:xfrm>
            <a:off x="8331200" y="1651000"/>
            <a:ext cx="3048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pt-BR" sz="1550" b="1">
                <a:solidFill>
                  <a:srgbClr val="1B263B"/>
                </a:solidFill>
                <a:latin typeface="Segoe UI" panose="020B0502040204020203" pitchFamily="34" charset="0"/>
              </a:rPr>
              <a:t>3 especialidades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950AFAC5-AC59-E037-FE41-B75433EC1404}"/>
              </a:ext>
            </a:extLst>
          </p:cNvPr>
          <p:cNvSpPr/>
          <p:nvPr/>
        </p:nvSpPr>
        <p:spPr>
          <a:xfrm>
            <a:off x="8331200" y="2209800"/>
            <a:ext cx="457200" cy="38100"/>
          </a:xfrm>
          <a:prstGeom prst="rect">
            <a:avLst/>
          </a:prstGeom>
          <a:solidFill>
            <a:srgbClr val="2A9D8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FD3D6A28-0009-181C-B69F-17C5D24F5D1F}"/>
              </a:ext>
            </a:extLst>
          </p:cNvPr>
          <p:cNvSpPr txBox="1"/>
          <p:nvPr/>
        </p:nvSpPr>
        <p:spPr>
          <a:xfrm>
            <a:off x="8331200" y="2387600"/>
            <a:ext cx="29972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200">
                <a:solidFill>
                  <a:srgbClr val="243046"/>
                </a:solidFill>
                <a:latin typeface="Segoe UI" panose="020B0502040204020203" pitchFamily="34" charset="0"/>
              </a:rPr>
              <a:t>Clínica geral, jurídico e psicologia — em todas as instâncias.</a:t>
            </a:r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567B15CD-DC75-D437-6AEA-46C3305C7D35}"/>
              </a:ext>
            </a:extLst>
          </p:cNvPr>
          <p:cNvSpPr/>
          <p:nvPr/>
        </p:nvSpPr>
        <p:spPr>
          <a:xfrm>
            <a:off x="8077200" y="2997200"/>
            <a:ext cx="3505200" cy="1422400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9525" cap="flat" cmpd="sng" algn="ctr">
            <a:solidFill>
              <a:srgbClr val="DBE2EA"/>
            </a:solidFill>
            <a:prstDash val="solid"/>
            <a:miter lim="800000"/>
          </a:ln>
          <a:effectLst>
            <a:outerShdw blurRad="152400" dist="50800" dir="5400000" rotWithShape="0">
              <a:srgbClr val="0F172A">
                <a:alpha val="1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95ECB4CE-0A97-13B7-1517-FE5A6973E72C}"/>
              </a:ext>
            </a:extLst>
          </p:cNvPr>
          <p:cNvSpPr txBox="1"/>
          <p:nvPr/>
        </p:nvSpPr>
        <p:spPr>
          <a:xfrm>
            <a:off x="8331200" y="3225800"/>
            <a:ext cx="3048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pt-BR" sz="1550" b="1">
                <a:solidFill>
                  <a:srgbClr val="1B263B"/>
                </a:solidFill>
                <a:latin typeface="Segoe UI" panose="020B0502040204020203" pitchFamily="34" charset="0"/>
              </a:rPr>
              <a:t>Duração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ABE27E5B-EBC5-856F-A074-5A797216390D}"/>
              </a:ext>
            </a:extLst>
          </p:cNvPr>
          <p:cNvSpPr/>
          <p:nvPr/>
        </p:nvSpPr>
        <p:spPr>
          <a:xfrm>
            <a:off x="8331200" y="3784600"/>
            <a:ext cx="457200" cy="38100"/>
          </a:xfrm>
          <a:prstGeom prst="rect">
            <a:avLst/>
          </a:prstGeom>
          <a:solidFill>
            <a:srgbClr val="7C5CB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67F3EE96-9E0F-593A-2A7B-0A31E69D81B4}"/>
              </a:ext>
            </a:extLst>
          </p:cNvPr>
          <p:cNvSpPr txBox="1"/>
          <p:nvPr/>
        </p:nvSpPr>
        <p:spPr>
          <a:xfrm>
            <a:off x="8331200" y="3962400"/>
            <a:ext cx="29972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200">
                <a:solidFill>
                  <a:srgbClr val="243046"/>
                </a:solidFill>
                <a:latin typeface="Segoe UI" panose="020B0502040204020203" pitchFamily="34" charset="0"/>
              </a:rPr>
              <a:t>Cada atendimento ocupa 1 ou 2 horários (slots de 60 min).</a:t>
            </a:r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22801640-1F10-530D-EBD5-F8C4A1723179}"/>
              </a:ext>
            </a:extLst>
          </p:cNvPr>
          <p:cNvSpPr/>
          <p:nvPr/>
        </p:nvSpPr>
        <p:spPr>
          <a:xfrm>
            <a:off x="8077200" y="4572000"/>
            <a:ext cx="3505200" cy="1600200"/>
          </a:xfrm>
          <a:prstGeom prst="roundRect">
            <a:avLst>
              <a:gd name="adj" fmla="val 7937"/>
            </a:avLst>
          </a:prstGeom>
          <a:solidFill>
            <a:srgbClr val="FCE9E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EFB8FA7D-415E-1D76-7A2A-DD2300E3B368}"/>
              </a:ext>
            </a:extLst>
          </p:cNvPr>
          <p:cNvSpPr txBox="1"/>
          <p:nvPr/>
        </p:nvSpPr>
        <p:spPr>
          <a:xfrm>
            <a:off x="8331200" y="4749800"/>
            <a:ext cx="2997200" cy="558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3200" b="1">
                <a:solidFill>
                  <a:srgbClr val="E76F51"/>
                </a:solidFill>
                <a:latin typeface="Segoe UI" panose="020B0502040204020203" pitchFamily="34" charset="0"/>
              </a:rPr>
              <a:t>10</a:t>
            </a:r>
            <a:r>
              <a:rPr lang="pt-BR" sz="3200" b="1" baseline="30000">
                <a:solidFill>
                  <a:srgbClr val="E76F51"/>
                </a:solidFill>
                <a:latin typeface="Segoe UI" panose="020B0502040204020203" pitchFamily="34" charset="0"/>
              </a:rPr>
              <a:t>62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964915E6-C55B-FDB6-243E-F827462DE498}"/>
              </a:ext>
            </a:extLst>
          </p:cNvPr>
          <p:cNvSpPr txBox="1"/>
          <p:nvPr/>
        </p:nvSpPr>
        <p:spPr>
          <a:xfrm>
            <a:off x="8331200" y="5359400"/>
            <a:ext cx="2997200" cy="711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200">
                <a:solidFill>
                  <a:srgbClr val="243046"/>
                </a:solidFill>
                <a:latin typeface="Segoe UI" panose="020B0502040204020203" pitchFamily="34" charset="0"/>
              </a:rPr>
              <a:t>atribuições completas possíveis na instância grande: explorar tudo às cegas é inviável.</a:t>
            </a:r>
          </a:p>
        </p:txBody>
      </p:sp>
      <p:cxnSp>
        <p:nvCxnSpPr>
          <p:cNvPr id="20" name="Conector reto 19">
            <a:extLst>
              <a:ext uri="{FF2B5EF4-FFF2-40B4-BE49-F238E27FC236}">
                <a16:creationId xmlns:a16="http://schemas.microsoft.com/office/drawing/2014/main" id="{606541FD-C60D-5379-DF69-D1727F3E4783}"/>
              </a:ext>
            </a:extLst>
          </p:cNvPr>
          <p:cNvCxnSpPr/>
          <p:nvPr/>
        </p:nvCxnSpPr>
        <p:spPr>
          <a:xfrm>
            <a:off x="609600" y="6400800"/>
            <a:ext cx="10972800" cy="0"/>
          </a:xfrm>
          <a:prstGeom prst="line">
            <a:avLst/>
          </a:prstGeom>
          <a:ln w="9525">
            <a:solidFill>
              <a:srgbClr val="DB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2093264D-9149-FD9E-4C1E-083F12971657}"/>
              </a:ext>
            </a:extLst>
          </p:cNvPr>
          <p:cNvSpPr txBox="1"/>
          <p:nvPr/>
        </p:nvSpPr>
        <p:spPr>
          <a:xfrm>
            <a:off x="609600" y="6502400"/>
            <a:ext cx="8128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900">
                <a:solidFill>
                  <a:srgbClr val="647187"/>
                </a:solidFill>
                <a:latin typeface="Segoe UI" panose="020B0502040204020203" pitchFamily="34" charset="0"/>
              </a:rPr>
              <a:t>Introdução à Inteligência Artificial  ·  Tema 9 — Agendamento de Consultas/Atendimentos como PSR</a:t>
            </a: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C2395F9C-701F-F937-6BC0-E87692AF63EA}"/>
              </a:ext>
            </a:extLst>
          </p:cNvPr>
          <p:cNvSpPr txBox="1"/>
          <p:nvPr/>
        </p:nvSpPr>
        <p:spPr>
          <a:xfrm>
            <a:off x="10058400" y="6502400"/>
            <a:ext cx="1524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pt-BR" sz="900" b="1">
                <a:solidFill>
                  <a:srgbClr val="647187"/>
                </a:solidFill>
                <a:latin typeface="Segoe UI" panose="020B0502040204020203" pitchFamily="34" charset="0"/>
              </a:rPr>
              <a:t>4 / 17</a:t>
            </a:r>
          </a:p>
        </p:txBody>
      </p:sp>
    </p:spTree>
    <p:extLst>
      <p:ext uri="{BB962C8B-B14F-4D97-AF65-F5344CB8AC3E}">
        <p14:creationId xmlns:p14="http://schemas.microsoft.com/office/powerpoint/2010/main" val="308925839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63D9B0B2-6732-72D8-61FF-406DEA69C025}"/>
              </a:ext>
            </a:extLst>
          </p:cNvPr>
          <p:cNvSpPr/>
          <p:nvPr/>
        </p:nvSpPr>
        <p:spPr>
          <a:xfrm>
            <a:off x="0" y="0"/>
            <a:ext cx="127000" cy="6858000"/>
          </a:xfrm>
          <a:prstGeom prst="rect">
            <a:avLst/>
          </a:prstGeom>
          <a:solidFill>
            <a:srgbClr val="1B263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C58B3389-5CEB-7EC0-E264-7F605E52B2DA}"/>
              </a:ext>
            </a:extLst>
          </p:cNvPr>
          <p:cNvSpPr/>
          <p:nvPr/>
        </p:nvSpPr>
        <p:spPr>
          <a:xfrm>
            <a:off x="0" y="279400"/>
            <a:ext cx="127000" cy="889000"/>
          </a:xfrm>
          <a:prstGeom prst="rect">
            <a:avLst/>
          </a:prstGeom>
          <a:solidFill>
            <a:srgbClr val="2A9D8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3ECB9B41-E105-AB07-008C-FB502601F195}"/>
              </a:ext>
            </a:extLst>
          </p:cNvPr>
          <p:cNvSpPr txBox="1"/>
          <p:nvPr/>
        </p:nvSpPr>
        <p:spPr>
          <a:xfrm>
            <a:off x="609600" y="355600"/>
            <a:ext cx="8890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050" b="1" spc="160">
                <a:solidFill>
                  <a:srgbClr val="2A9D8F"/>
                </a:solidFill>
                <a:latin typeface="Segoe UI" panose="020B0502040204020203" pitchFamily="34" charset="0"/>
              </a:rPr>
              <a:t>MATERIAIS E MÉTODOS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6EAC6EA7-84FC-BA28-C4CD-E68B823CE65C}"/>
              </a:ext>
            </a:extLst>
          </p:cNvPr>
          <p:cNvSpPr txBox="1"/>
          <p:nvPr/>
        </p:nvSpPr>
        <p:spPr>
          <a:xfrm>
            <a:off x="609600" y="558800"/>
            <a:ext cx="94488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2600" b="1">
                <a:solidFill>
                  <a:srgbClr val="1B263B"/>
                </a:solidFill>
                <a:latin typeface="Segoe UI" panose="020B0502040204020203" pitchFamily="34" charset="0"/>
              </a:rPr>
              <a:t>Materiais e métodos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0E439C74-1E9C-7752-6B6C-CD33A43D6B01}"/>
              </a:ext>
            </a:extLst>
          </p:cNvPr>
          <p:cNvSpPr/>
          <p:nvPr/>
        </p:nvSpPr>
        <p:spPr>
          <a:xfrm>
            <a:off x="609600" y="1117600"/>
            <a:ext cx="711200" cy="44450"/>
          </a:xfrm>
          <a:prstGeom prst="rect">
            <a:avLst/>
          </a:prstGeom>
          <a:solidFill>
            <a:srgbClr val="2A9D8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12" name="Agrupar 11">
            <a:extLst>
              <a:ext uri="{FF2B5EF4-FFF2-40B4-BE49-F238E27FC236}">
                <a16:creationId xmlns:a16="http://schemas.microsoft.com/office/drawing/2014/main" id="{1A792483-2366-9893-EEAD-36403C1F3863}"/>
              </a:ext>
            </a:extLst>
          </p:cNvPr>
          <p:cNvGrpSpPr/>
          <p:nvPr/>
        </p:nvGrpSpPr>
        <p:grpSpPr>
          <a:xfrm>
            <a:off x="609600" y="1422400"/>
            <a:ext cx="5359400" cy="2311400"/>
            <a:chOff x="609600" y="1422400"/>
            <a:chExt cx="5359400" cy="2311400"/>
          </a:xfrm>
        </p:grpSpPr>
        <p:sp>
          <p:nvSpPr>
            <p:cNvPr id="7" name="Elemento_1">
              <a:extLst>
                <a:ext uri="{FF2B5EF4-FFF2-40B4-BE49-F238E27FC236}">
                  <a16:creationId xmlns:a16="http://schemas.microsoft.com/office/drawing/2014/main" id="{C1D2591B-3C26-3212-8C0B-EF1817C3A6DB}"/>
                </a:ext>
              </a:extLst>
            </p:cNvPr>
            <p:cNvSpPr/>
            <p:nvPr/>
          </p:nvSpPr>
          <p:spPr>
            <a:xfrm>
              <a:off x="609600" y="1422400"/>
              <a:ext cx="5359400" cy="2311400"/>
            </a:xfrm>
            <a:prstGeom prst="roundRect">
              <a:avLst>
                <a:gd name="adj" fmla="val 5495"/>
              </a:avLst>
            </a:prstGeom>
            <a:solidFill>
              <a:srgbClr val="FFFFFF"/>
            </a:solidFill>
            <a:ln w="9525" cap="flat" cmpd="sng" algn="ctr">
              <a:solidFill>
                <a:srgbClr val="DBE2EA"/>
              </a:solidFill>
              <a:prstDash val="solid"/>
              <a:miter lim="800000"/>
            </a:ln>
            <a:effectLst>
              <a:outerShdw blurRad="152400" dist="50800" dir="5400000" rotWithShape="0">
                <a:srgbClr val="0F172A">
                  <a:alpha val="1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8" name="Elemento_2">
              <a:extLst>
                <a:ext uri="{FF2B5EF4-FFF2-40B4-BE49-F238E27FC236}">
                  <a16:creationId xmlns:a16="http://schemas.microsoft.com/office/drawing/2014/main" id="{39CCD32D-F77A-4135-D518-8D90219B3D27}"/>
                </a:ext>
              </a:extLst>
            </p:cNvPr>
            <p:cNvSpPr/>
            <p:nvPr/>
          </p:nvSpPr>
          <p:spPr>
            <a:xfrm>
              <a:off x="863600" y="1651000"/>
              <a:ext cx="431800" cy="431800"/>
            </a:xfrm>
            <a:prstGeom prst="roundRect">
              <a:avLst>
                <a:gd name="adj" fmla="val 23529"/>
              </a:avLst>
            </a:prstGeom>
            <a:solidFill>
              <a:srgbClr val="2A9D8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25400" rIns="0" bIns="25400" rtlCol="0" anchor="ctr"/>
            <a:lstStyle/>
            <a:p>
              <a:pPr algn="ctr"/>
              <a:r>
                <a:rPr lang="pt-BR" sz="1200" b="1">
                  <a:solidFill>
                    <a:srgbClr val="FFFFFF"/>
                  </a:solidFill>
                  <a:latin typeface="Segoe UI" panose="020B0502040204020203" pitchFamily="34" charset="0"/>
                </a:rPr>
                <a:t>01</a:t>
              </a:r>
            </a:p>
          </p:txBody>
        </p:sp>
        <p:sp>
          <p:nvSpPr>
            <p:cNvPr id="9" name="Elemento_3">
              <a:extLst>
                <a:ext uri="{FF2B5EF4-FFF2-40B4-BE49-F238E27FC236}">
                  <a16:creationId xmlns:a16="http://schemas.microsoft.com/office/drawing/2014/main" id="{33273447-0847-91F9-D348-5E4C6193C565}"/>
                </a:ext>
              </a:extLst>
            </p:cNvPr>
            <p:cNvSpPr txBox="1"/>
            <p:nvPr/>
          </p:nvSpPr>
          <p:spPr>
            <a:xfrm>
              <a:off x="1447800" y="1651000"/>
              <a:ext cx="4318000" cy="4318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>
              <a:noAutofit/>
            </a:bodyPr>
            <a:lstStyle/>
            <a:p>
              <a:r>
                <a:rPr lang="pt-BR" sz="1550" b="1">
                  <a:solidFill>
                    <a:srgbClr val="1B263B"/>
                  </a:solidFill>
                  <a:latin typeface="Segoe UI" panose="020B0502040204020203" pitchFamily="34" charset="0"/>
                </a:rPr>
                <a:t>Linguagem</a:t>
              </a:r>
            </a:p>
          </p:txBody>
        </p:sp>
        <p:sp>
          <p:nvSpPr>
            <p:cNvPr id="10" name="Elemento_4">
              <a:extLst>
                <a:ext uri="{FF2B5EF4-FFF2-40B4-BE49-F238E27FC236}">
                  <a16:creationId xmlns:a16="http://schemas.microsoft.com/office/drawing/2014/main" id="{90952FAD-7D75-32C5-18FD-784A619E1856}"/>
                </a:ext>
              </a:extLst>
            </p:cNvPr>
            <p:cNvSpPr/>
            <p:nvPr/>
          </p:nvSpPr>
          <p:spPr>
            <a:xfrm>
              <a:off x="863600" y="2209800"/>
              <a:ext cx="457200" cy="38100"/>
            </a:xfrm>
            <a:prstGeom prst="rect">
              <a:avLst/>
            </a:prstGeom>
            <a:solidFill>
              <a:srgbClr val="2A9D8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1" name="Elemento_5">
              <a:extLst>
                <a:ext uri="{FF2B5EF4-FFF2-40B4-BE49-F238E27FC236}">
                  <a16:creationId xmlns:a16="http://schemas.microsoft.com/office/drawing/2014/main" id="{09B4E8AA-A441-FE6D-24ED-F4C968E0CEB3}"/>
                </a:ext>
              </a:extLst>
            </p:cNvPr>
            <p:cNvSpPr txBox="1"/>
            <p:nvPr/>
          </p:nvSpPr>
          <p:spPr>
            <a:xfrm>
              <a:off x="863600" y="2387600"/>
              <a:ext cx="4851400" cy="12192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pPr marL="368300" indent="-342900">
                <a:lnSpc>
                  <a:spcPct val="105000"/>
                </a:lnSpc>
                <a:spcAft>
                  <a:spcPts val="585"/>
                </a:spcAft>
                <a:buClr>
                  <a:srgbClr val="2A9D8F"/>
                </a:buClr>
                <a:buSzPct val="100000"/>
                <a:buFont typeface="Arial" panose="020B0604020202020204" pitchFamily="34" charset="0"/>
                <a:buChar char="•"/>
              </a:pPr>
              <a:r>
                <a:rPr lang="pt-BR" sz="1300">
                  <a:solidFill>
                    <a:srgbClr val="243046"/>
                  </a:solidFill>
                  <a:latin typeface="Segoe UI" panose="020B0502040204020203" pitchFamily="34" charset="0"/>
                </a:rPr>
                <a:t>Python 3.11+</a:t>
              </a:r>
            </a:p>
            <a:p>
              <a:pPr marL="368300" indent="-342900">
                <a:lnSpc>
                  <a:spcPct val="105000"/>
                </a:lnSpc>
                <a:spcAft>
                  <a:spcPts val="585"/>
                </a:spcAft>
                <a:buClr>
                  <a:srgbClr val="2A9D8F"/>
                </a:buClr>
                <a:buSzPct val="100000"/>
                <a:buFont typeface="Arial" panose="020B0604020202020204" pitchFamily="34" charset="0"/>
                <a:buChar char="•"/>
              </a:pPr>
              <a:r>
                <a:rPr lang="pt-BR" sz="1300">
                  <a:solidFill>
                    <a:srgbClr val="243046"/>
                  </a:solidFill>
                  <a:latin typeface="Segoe UI" panose="020B0502040204020203" pitchFamily="34" charset="0"/>
                </a:rPr>
                <a:t>Apenas a biblioteca padrão</a:t>
              </a:r>
            </a:p>
            <a:p>
              <a:pPr marL="368300" indent="-342900">
                <a:lnSpc>
                  <a:spcPct val="105000"/>
                </a:lnSpc>
                <a:spcAft>
                  <a:spcPts val="585"/>
                </a:spcAft>
                <a:buClr>
                  <a:srgbClr val="2A9D8F"/>
                </a:buClr>
                <a:buSzPct val="100000"/>
                <a:buFont typeface="Arial" panose="020B0604020202020204" pitchFamily="34" charset="0"/>
                <a:buChar char="•"/>
              </a:pPr>
              <a:r>
                <a:rPr lang="pt-BR" sz="1300">
                  <a:solidFill>
                    <a:srgbClr val="243046"/>
                  </a:solidFill>
                  <a:latin typeface="Segoe UI" panose="020B0502040204020203" pitchFamily="34" charset="0"/>
                </a:rPr>
                <a:t>Testes automatizados com pytest</a:t>
              </a:r>
            </a:p>
          </p:txBody>
        </p:sp>
      </p:grpSp>
      <p:grpSp>
        <p:nvGrpSpPr>
          <p:cNvPr id="18" name="Agrupar 17">
            <a:extLst>
              <a:ext uri="{FF2B5EF4-FFF2-40B4-BE49-F238E27FC236}">
                <a16:creationId xmlns:a16="http://schemas.microsoft.com/office/drawing/2014/main" id="{0D8E27EA-B9DB-3D64-28C9-091DA6C8DD30}"/>
              </a:ext>
            </a:extLst>
          </p:cNvPr>
          <p:cNvGrpSpPr/>
          <p:nvPr/>
        </p:nvGrpSpPr>
        <p:grpSpPr>
          <a:xfrm>
            <a:off x="6223000" y="1422400"/>
            <a:ext cx="5359400" cy="2311400"/>
            <a:chOff x="6223000" y="1422400"/>
            <a:chExt cx="5359400" cy="2311400"/>
          </a:xfrm>
        </p:grpSpPr>
        <p:sp>
          <p:nvSpPr>
            <p:cNvPr id="13" name="Elemento_6">
              <a:extLst>
                <a:ext uri="{FF2B5EF4-FFF2-40B4-BE49-F238E27FC236}">
                  <a16:creationId xmlns:a16="http://schemas.microsoft.com/office/drawing/2014/main" id="{4D57CBDB-5FD2-28AA-A860-EA633F2618C1}"/>
                </a:ext>
              </a:extLst>
            </p:cNvPr>
            <p:cNvSpPr/>
            <p:nvPr/>
          </p:nvSpPr>
          <p:spPr>
            <a:xfrm>
              <a:off x="6223000" y="1422400"/>
              <a:ext cx="5359400" cy="2311400"/>
            </a:xfrm>
            <a:prstGeom prst="roundRect">
              <a:avLst>
                <a:gd name="adj" fmla="val 5495"/>
              </a:avLst>
            </a:prstGeom>
            <a:solidFill>
              <a:srgbClr val="FFFFFF"/>
            </a:solidFill>
            <a:ln w="9525" cap="flat" cmpd="sng" algn="ctr">
              <a:solidFill>
                <a:srgbClr val="DBE2EA"/>
              </a:solidFill>
              <a:prstDash val="solid"/>
              <a:miter lim="800000"/>
            </a:ln>
            <a:effectLst>
              <a:outerShdw blurRad="152400" dist="50800" dir="5400000" rotWithShape="0">
                <a:srgbClr val="0F172A">
                  <a:alpha val="1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4" name="Elemento_7">
              <a:extLst>
                <a:ext uri="{FF2B5EF4-FFF2-40B4-BE49-F238E27FC236}">
                  <a16:creationId xmlns:a16="http://schemas.microsoft.com/office/drawing/2014/main" id="{580740CC-CCB7-4A51-F0F2-E9751C5D4063}"/>
                </a:ext>
              </a:extLst>
            </p:cNvPr>
            <p:cNvSpPr/>
            <p:nvPr/>
          </p:nvSpPr>
          <p:spPr>
            <a:xfrm>
              <a:off x="6477000" y="1651000"/>
              <a:ext cx="431800" cy="431800"/>
            </a:xfrm>
            <a:prstGeom prst="roundRect">
              <a:avLst>
                <a:gd name="adj" fmla="val 23529"/>
              </a:avLst>
            </a:prstGeom>
            <a:solidFill>
              <a:srgbClr val="7C5CB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25400" rIns="0" bIns="25400" rtlCol="0" anchor="ctr"/>
            <a:lstStyle/>
            <a:p>
              <a:pPr algn="ctr"/>
              <a:r>
                <a:rPr lang="pt-BR" sz="1200" b="1">
                  <a:solidFill>
                    <a:srgbClr val="FFFFFF"/>
                  </a:solidFill>
                  <a:latin typeface="Segoe UI" panose="020B0502040204020203" pitchFamily="34" charset="0"/>
                </a:rPr>
                <a:t>02</a:t>
              </a:r>
            </a:p>
          </p:txBody>
        </p:sp>
        <p:sp>
          <p:nvSpPr>
            <p:cNvPr id="15" name="Elemento_8">
              <a:extLst>
                <a:ext uri="{FF2B5EF4-FFF2-40B4-BE49-F238E27FC236}">
                  <a16:creationId xmlns:a16="http://schemas.microsoft.com/office/drawing/2014/main" id="{B309A2B7-6ACA-3888-3C34-3888D3312FC3}"/>
                </a:ext>
              </a:extLst>
            </p:cNvPr>
            <p:cNvSpPr txBox="1"/>
            <p:nvPr/>
          </p:nvSpPr>
          <p:spPr>
            <a:xfrm>
              <a:off x="7061200" y="1651000"/>
              <a:ext cx="4318000" cy="4318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>
              <a:noAutofit/>
            </a:bodyPr>
            <a:lstStyle/>
            <a:p>
              <a:r>
                <a:rPr lang="pt-BR" sz="1550" b="1">
                  <a:solidFill>
                    <a:srgbClr val="1B263B"/>
                  </a:solidFill>
                  <a:latin typeface="Segoe UI" panose="020B0502040204020203" pitchFamily="34" charset="0"/>
                </a:rPr>
                <a:t>Plataforma</a:t>
              </a:r>
            </a:p>
          </p:txBody>
        </p:sp>
        <p:sp>
          <p:nvSpPr>
            <p:cNvPr id="16" name="Elemento_9">
              <a:extLst>
                <a:ext uri="{FF2B5EF4-FFF2-40B4-BE49-F238E27FC236}">
                  <a16:creationId xmlns:a16="http://schemas.microsoft.com/office/drawing/2014/main" id="{92703D32-B47E-BFDE-7941-6BC25F636595}"/>
                </a:ext>
              </a:extLst>
            </p:cNvPr>
            <p:cNvSpPr/>
            <p:nvPr/>
          </p:nvSpPr>
          <p:spPr>
            <a:xfrm>
              <a:off x="6477000" y="2209800"/>
              <a:ext cx="457200" cy="38100"/>
            </a:xfrm>
            <a:prstGeom prst="rect">
              <a:avLst/>
            </a:prstGeom>
            <a:solidFill>
              <a:srgbClr val="7C5CB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7" name="Elemento_10">
              <a:extLst>
                <a:ext uri="{FF2B5EF4-FFF2-40B4-BE49-F238E27FC236}">
                  <a16:creationId xmlns:a16="http://schemas.microsoft.com/office/drawing/2014/main" id="{DA847334-9E61-087F-35C4-9CC85FC4DA05}"/>
                </a:ext>
              </a:extLst>
            </p:cNvPr>
            <p:cNvSpPr txBox="1"/>
            <p:nvPr/>
          </p:nvSpPr>
          <p:spPr>
            <a:xfrm>
              <a:off x="6477000" y="2387600"/>
              <a:ext cx="4851400" cy="12192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pPr marL="368300" indent="-342900">
                <a:lnSpc>
                  <a:spcPct val="105000"/>
                </a:lnSpc>
                <a:spcAft>
                  <a:spcPts val="585"/>
                </a:spcAft>
                <a:buClr>
                  <a:srgbClr val="7C5CBF"/>
                </a:buClr>
                <a:buSzPct val="100000"/>
                <a:buFont typeface="Arial" panose="020B0604020202020204" pitchFamily="34" charset="0"/>
                <a:buChar char="•"/>
              </a:pPr>
              <a:r>
                <a:rPr lang="pt-BR" sz="1300" b="1">
                  <a:solidFill>
                    <a:srgbClr val="243046"/>
                  </a:solidFill>
                  <a:latin typeface="Segoe UI" panose="020B0502040204020203" pitchFamily="34" charset="0"/>
                </a:rPr>
                <a:t>CPU:</a:t>
              </a:r>
              <a:r>
                <a:rPr lang="pt-BR" sz="1300">
                  <a:solidFill>
                    <a:srgbClr val="243046"/>
                  </a:solidFill>
                  <a:latin typeface="Segoe UI" panose="020B0502040204020203" pitchFamily="34" charset="0"/>
                </a:rPr>
                <a:t> Intel Core i5 10ª geração — 6 núcleos, 12 threads, 2,9 GHz, 12 MB de cache L3</a:t>
              </a:r>
            </a:p>
            <a:p>
              <a:pPr marL="368300" indent="-342900">
                <a:lnSpc>
                  <a:spcPct val="105000"/>
                </a:lnSpc>
                <a:spcAft>
                  <a:spcPts val="585"/>
                </a:spcAft>
                <a:buClr>
                  <a:srgbClr val="7C5CBF"/>
                </a:buClr>
                <a:buSzPct val="100000"/>
                <a:buFont typeface="Arial" panose="020B0604020202020204" pitchFamily="34" charset="0"/>
                <a:buChar char="•"/>
              </a:pPr>
              <a:r>
                <a:rPr lang="pt-BR" sz="1300" b="1">
                  <a:solidFill>
                    <a:srgbClr val="243046"/>
                  </a:solidFill>
                  <a:latin typeface="Segoe UI" panose="020B0502040204020203" pitchFamily="34" charset="0"/>
                </a:rPr>
                <a:t>RAM:</a:t>
              </a:r>
              <a:r>
                <a:rPr lang="pt-BR" sz="1300">
                  <a:solidFill>
                    <a:srgbClr val="243046"/>
                  </a:solidFill>
                  <a:latin typeface="Segoe UI" panose="020B0502040204020203" pitchFamily="34" charset="0"/>
                </a:rPr>
                <a:t> 16 GB DDR4 (2 × 8 GB, dual channel), 2666 MHz, CL19</a:t>
              </a:r>
            </a:p>
            <a:p>
              <a:pPr marL="368300" indent="-342900">
                <a:lnSpc>
                  <a:spcPct val="105000"/>
                </a:lnSpc>
                <a:spcAft>
                  <a:spcPts val="585"/>
                </a:spcAft>
                <a:buClr>
                  <a:srgbClr val="7C5CBF"/>
                </a:buClr>
                <a:buSzPct val="100000"/>
                <a:buFont typeface="Arial" panose="020B0604020202020204" pitchFamily="34" charset="0"/>
                <a:buChar char="•"/>
              </a:pPr>
              <a:r>
                <a:rPr lang="pt-BR" sz="1300" b="1">
                  <a:solidFill>
                    <a:srgbClr val="243046"/>
                  </a:solidFill>
                  <a:latin typeface="Segoe UI" panose="020B0502040204020203" pitchFamily="34" charset="0"/>
                </a:rPr>
                <a:t>SO:</a:t>
              </a:r>
              <a:r>
                <a:rPr lang="pt-BR" sz="1300">
                  <a:solidFill>
                    <a:srgbClr val="243046"/>
                  </a:solidFill>
                  <a:latin typeface="Segoe UI" panose="020B0502040204020203" pitchFamily="34" charset="0"/>
                </a:rPr>
                <a:t> Windows 11</a:t>
              </a:r>
            </a:p>
          </p:txBody>
        </p:sp>
      </p:grpSp>
      <p:grpSp>
        <p:nvGrpSpPr>
          <p:cNvPr id="24" name="Agrupar 23">
            <a:extLst>
              <a:ext uri="{FF2B5EF4-FFF2-40B4-BE49-F238E27FC236}">
                <a16:creationId xmlns:a16="http://schemas.microsoft.com/office/drawing/2014/main" id="{00E98A1C-8E0D-1E9E-AF6C-1B9BFFE087C9}"/>
              </a:ext>
            </a:extLst>
          </p:cNvPr>
          <p:cNvGrpSpPr/>
          <p:nvPr/>
        </p:nvGrpSpPr>
        <p:grpSpPr>
          <a:xfrm>
            <a:off x="609600" y="3911600"/>
            <a:ext cx="5359400" cy="2311400"/>
            <a:chOff x="609600" y="3911600"/>
            <a:chExt cx="5359400" cy="2311400"/>
          </a:xfrm>
        </p:grpSpPr>
        <p:sp>
          <p:nvSpPr>
            <p:cNvPr id="19" name="Elemento_11">
              <a:extLst>
                <a:ext uri="{FF2B5EF4-FFF2-40B4-BE49-F238E27FC236}">
                  <a16:creationId xmlns:a16="http://schemas.microsoft.com/office/drawing/2014/main" id="{7CF455F0-A164-8D74-C089-0E34D4259F0E}"/>
                </a:ext>
              </a:extLst>
            </p:cNvPr>
            <p:cNvSpPr/>
            <p:nvPr/>
          </p:nvSpPr>
          <p:spPr>
            <a:xfrm>
              <a:off x="609600" y="3911600"/>
              <a:ext cx="5359400" cy="2311400"/>
            </a:xfrm>
            <a:prstGeom prst="roundRect">
              <a:avLst>
                <a:gd name="adj" fmla="val 5495"/>
              </a:avLst>
            </a:prstGeom>
            <a:solidFill>
              <a:srgbClr val="FFFFFF"/>
            </a:solidFill>
            <a:ln w="9525" cap="flat" cmpd="sng" algn="ctr">
              <a:solidFill>
                <a:srgbClr val="DBE2EA"/>
              </a:solidFill>
              <a:prstDash val="solid"/>
              <a:miter lim="800000"/>
            </a:ln>
            <a:effectLst>
              <a:outerShdw blurRad="152400" dist="50800" dir="5400000" rotWithShape="0">
                <a:srgbClr val="0F172A">
                  <a:alpha val="1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0" name="Elemento_12">
              <a:extLst>
                <a:ext uri="{FF2B5EF4-FFF2-40B4-BE49-F238E27FC236}">
                  <a16:creationId xmlns:a16="http://schemas.microsoft.com/office/drawing/2014/main" id="{2B309335-E28F-CB51-B984-13FBE30DBC78}"/>
                </a:ext>
              </a:extLst>
            </p:cNvPr>
            <p:cNvSpPr/>
            <p:nvPr/>
          </p:nvSpPr>
          <p:spPr>
            <a:xfrm>
              <a:off x="863600" y="4140200"/>
              <a:ext cx="431800" cy="431800"/>
            </a:xfrm>
            <a:prstGeom prst="roundRect">
              <a:avLst>
                <a:gd name="adj" fmla="val 23529"/>
              </a:avLst>
            </a:prstGeom>
            <a:solidFill>
              <a:srgbClr val="DE9C28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25400" rIns="0" bIns="25400" rtlCol="0" anchor="ctr"/>
            <a:lstStyle/>
            <a:p>
              <a:pPr algn="ctr"/>
              <a:r>
                <a:rPr lang="pt-BR" sz="1200" b="1">
                  <a:solidFill>
                    <a:srgbClr val="FFFFFF"/>
                  </a:solidFill>
                  <a:latin typeface="Segoe UI" panose="020B0502040204020203" pitchFamily="34" charset="0"/>
                </a:rPr>
                <a:t>03</a:t>
              </a:r>
            </a:p>
          </p:txBody>
        </p:sp>
        <p:sp>
          <p:nvSpPr>
            <p:cNvPr id="21" name="Elemento_13">
              <a:extLst>
                <a:ext uri="{FF2B5EF4-FFF2-40B4-BE49-F238E27FC236}">
                  <a16:creationId xmlns:a16="http://schemas.microsoft.com/office/drawing/2014/main" id="{DDB286AC-D3F9-AA08-227E-44739ABDC02D}"/>
                </a:ext>
              </a:extLst>
            </p:cNvPr>
            <p:cNvSpPr txBox="1"/>
            <p:nvPr/>
          </p:nvSpPr>
          <p:spPr>
            <a:xfrm>
              <a:off x="1447800" y="4140200"/>
              <a:ext cx="4318000" cy="4318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>
              <a:noAutofit/>
            </a:bodyPr>
            <a:lstStyle/>
            <a:p>
              <a:r>
                <a:rPr lang="pt-BR" sz="1550" b="1">
                  <a:solidFill>
                    <a:srgbClr val="1B263B"/>
                  </a:solidFill>
                  <a:latin typeface="Segoe UI" panose="020B0502040204020203" pitchFamily="34" charset="0"/>
                </a:rPr>
                <a:t>Técnicas de IA</a:t>
              </a:r>
            </a:p>
          </p:txBody>
        </p:sp>
        <p:sp>
          <p:nvSpPr>
            <p:cNvPr id="22" name="Elemento_14">
              <a:extLst>
                <a:ext uri="{FF2B5EF4-FFF2-40B4-BE49-F238E27FC236}">
                  <a16:creationId xmlns:a16="http://schemas.microsoft.com/office/drawing/2014/main" id="{A04CACAE-7385-813E-E2D8-4DB4E68636B8}"/>
                </a:ext>
              </a:extLst>
            </p:cNvPr>
            <p:cNvSpPr/>
            <p:nvPr/>
          </p:nvSpPr>
          <p:spPr>
            <a:xfrm>
              <a:off x="863600" y="4699000"/>
              <a:ext cx="457200" cy="38100"/>
            </a:xfrm>
            <a:prstGeom prst="rect">
              <a:avLst/>
            </a:prstGeom>
            <a:solidFill>
              <a:srgbClr val="DE9C28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3" name="Elemento_15">
              <a:extLst>
                <a:ext uri="{FF2B5EF4-FFF2-40B4-BE49-F238E27FC236}">
                  <a16:creationId xmlns:a16="http://schemas.microsoft.com/office/drawing/2014/main" id="{3C7D1B8A-EFD7-ECBE-6054-7C0D60F48C34}"/>
                </a:ext>
              </a:extLst>
            </p:cNvPr>
            <p:cNvSpPr txBox="1"/>
            <p:nvPr/>
          </p:nvSpPr>
          <p:spPr>
            <a:xfrm>
              <a:off x="863600" y="4876800"/>
              <a:ext cx="4851400" cy="12192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pPr marL="368300" indent="-342900">
                <a:lnSpc>
                  <a:spcPct val="105000"/>
                </a:lnSpc>
                <a:spcAft>
                  <a:spcPts val="585"/>
                </a:spcAft>
                <a:buClr>
                  <a:srgbClr val="DE9C28"/>
                </a:buClr>
                <a:buSzPct val="100000"/>
                <a:buFont typeface="Arial" panose="020B0604020202020204" pitchFamily="34" charset="0"/>
                <a:buChar char="•"/>
              </a:pPr>
              <a:r>
                <a:rPr lang="pt-BR" sz="1300">
                  <a:solidFill>
                    <a:srgbClr val="243046"/>
                  </a:solidFill>
                  <a:latin typeface="Segoe UI" panose="020B0502040204020203" pitchFamily="34" charset="0"/>
                </a:rPr>
                <a:t>Busca com retrocesso (backtracking)</a:t>
              </a:r>
            </a:p>
            <a:p>
              <a:pPr marL="368300" indent="-342900">
                <a:lnSpc>
                  <a:spcPct val="105000"/>
                </a:lnSpc>
                <a:spcAft>
                  <a:spcPts val="585"/>
                </a:spcAft>
                <a:buClr>
                  <a:srgbClr val="DE9C28"/>
                </a:buClr>
                <a:buSzPct val="100000"/>
                <a:buFont typeface="Arial" panose="020B0604020202020204" pitchFamily="34" charset="0"/>
                <a:buChar char="•"/>
              </a:pPr>
              <a:r>
                <a:rPr lang="pt-BR" sz="1300" b="1">
                  <a:solidFill>
                    <a:srgbClr val="243046"/>
                  </a:solidFill>
                  <a:latin typeface="Segoe UI" panose="020B0502040204020203" pitchFamily="34" charset="0"/>
                </a:rPr>
                <a:t>Heurísticas:</a:t>
              </a:r>
              <a:r>
                <a:rPr lang="pt-BR" sz="1300">
                  <a:solidFill>
                    <a:srgbClr val="243046"/>
                  </a:solidFill>
                  <a:latin typeface="Segoe UI" panose="020B0502040204020203" pitchFamily="34" charset="0"/>
                </a:rPr>
                <a:t> MRV, Forward Checking e LCV</a:t>
              </a:r>
            </a:p>
          </p:txBody>
        </p:sp>
      </p:grpSp>
      <p:grpSp>
        <p:nvGrpSpPr>
          <p:cNvPr id="30" name="Agrupar 29">
            <a:extLst>
              <a:ext uri="{FF2B5EF4-FFF2-40B4-BE49-F238E27FC236}">
                <a16:creationId xmlns:a16="http://schemas.microsoft.com/office/drawing/2014/main" id="{38FE8800-3D7C-8C01-698D-8E6304DD3A11}"/>
              </a:ext>
            </a:extLst>
          </p:cNvPr>
          <p:cNvGrpSpPr/>
          <p:nvPr/>
        </p:nvGrpSpPr>
        <p:grpSpPr>
          <a:xfrm>
            <a:off x="6223000" y="3911600"/>
            <a:ext cx="5359400" cy="2311400"/>
            <a:chOff x="6223000" y="3911600"/>
            <a:chExt cx="5359400" cy="2311400"/>
          </a:xfrm>
        </p:grpSpPr>
        <p:sp>
          <p:nvSpPr>
            <p:cNvPr id="25" name="Elemento_16">
              <a:extLst>
                <a:ext uri="{FF2B5EF4-FFF2-40B4-BE49-F238E27FC236}">
                  <a16:creationId xmlns:a16="http://schemas.microsoft.com/office/drawing/2014/main" id="{32384B10-3FCE-E601-1F48-F2C906394AF3}"/>
                </a:ext>
              </a:extLst>
            </p:cNvPr>
            <p:cNvSpPr/>
            <p:nvPr/>
          </p:nvSpPr>
          <p:spPr>
            <a:xfrm>
              <a:off x="6223000" y="3911600"/>
              <a:ext cx="5359400" cy="2311400"/>
            </a:xfrm>
            <a:prstGeom prst="roundRect">
              <a:avLst>
                <a:gd name="adj" fmla="val 5495"/>
              </a:avLst>
            </a:prstGeom>
            <a:solidFill>
              <a:srgbClr val="FFFFFF"/>
            </a:solidFill>
            <a:ln w="9525" cap="flat" cmpd="sng" algn="ctr">
              <a:solidFill>
                <a:srgbClr val="DBE2EA"/>
              </a:solidFill>
              <a:prstDash val="solid"/>
              <a:miter lim="800000"/>
            </a:ln>
            <a:effectLst>
              <a:outerShdw blurRad="152400" dist="50800" dir="5400000" rotWithShape="0">
                <a:srgbClr val="0F172A">
                  <a:alpha val="1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6" name="Elemento_17">
              <a:extLst>
                <a:ext uri="{FF2B5EF4-FFF2-40B4-BE49-F238E27FC236}">
                  <a16:creationId xmlns:a16="http://schemas.microsoft.com/office/drawing/2014/main" id="{CBBCF9B7-5202-EB40-50D9-DA624D0A4756}"/>
                </a:ext>
              </a:extLst>
            </p:cNvPr>
            <p:cNvSpPr/>
            <p:nvPr/>
          </p:nvSpPr>
          <p:spPr>
            <a:xfrm>
              <a:off x="6477000" y="4140200"/>
              <a:ext cx="431800" cy="431800"/>
            </a:xfrm>
            <a:prstGeom prst="roundRect">
              <a:avLst>
                <a:gd name="adj" fmla="val 23529"/>
              </a:avLst>
            </a:prstGeom>
            <a:solidFill>
              <a:srgbClr val="E76F51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25400" rIns="0" bIns="25400" rtlCol="0" anchor="ctr"/>
            <a:lstStyle/>
            <a:p>
              <a:pPr algn="ctr"/>
              <a:r>
                <a:rPr lang="pt-BR" sz="1200" b="1">
                  <a:solidFill>
                    <a:srgbClr val="FFFFFF"/>
                  </a:solidFill>
                  <a:latin typeface="Segoe UI" panose="020B0502040204020203" pitchFamily="34" charset="0"/>
                </a:rPr>
                <a:t>04</a:t>
              </a:r>
            </a:p>
          </p:txBody>
        </p:sp>
        <p:sp>
          <p:nvSpPr>
            <p:cNvPr id="27" name="Elemento_18">
              <a:extLst>
                <a:ext uri="{FF2B5EF4-FFF2-40B4-BE49-F238E27FC236}">
                  <a16:creationId xmlns:a16="http://schemas.microsoft.com/office/drawing/2014/main" id="{49CE97BA-F6C2-207B-2854-5DEA80907F3F}"/>
                </a:ext>
              </a:extLst>
            </p:cNvPr>
            <p:cNvSpPr txBox="1"/>
            <p:nvPr/>
          </p:nvSpPr>
          <p:spPr>
            <a:xfrm>
              <a:off x="7061200" y="4140200"/>
              <a:ext cx="4318000" cy="4318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>
              <a:noAutofit/>
            </a:bodyPr>
            <a:lstStyle/>
            <a:p>
              <a:r>
                <a:rPr lang="pt-BR" sz="1550" b="1">
                  <a:solidFill>
                    <a:srgbClr val="1B263B"/>
                  </a:solidFill>
                  <a:latin typeface="Segoe UI" panose="020B0502040204020203" pitchFamily="34" charset="0"/>
                </a:rPr>
                <a:t>Método de avaliação</a:t>
              </a:r>
            </a:p>
          </p:txBody>
        </p:sp>
        <p:sp>
          <p:nvSpPr>
            <p:cNvPr id="28" name="Elemento_19">
              <a:extLst>
                <a:ext uri="{FF2B5EF4-FFF2-40B4-BE49-F238E27FC236}">
                  <a16:creationId xmlns:a16="http://schemas.microsoft.com/office/drawing/2014/main" id="{4F60347D-0695-6C50-10AC-29EF17B8918B}"/>
                </a:ext>
              </a:extLst>
            </p:cNvPr>
            <p:cNvSpPr/>
            <p:nvPr/>
          </p:nvSpPr>
          <p:spPr>
            <a:xfrm>
              <a:off x="6477000" y="4699000"/>
              <a:ext cx="457200" cy="38100"/>
            </a:xfrm>
            <a:prstGeom prst="rect">
              <a:avLst/>
            </a:prstGeom>
            <a:solidFill>
              <a:srgbClr val="E76F51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9" name="Elemento_20">
              <a:extLst>
                <a:ext uri="{FF2B5EF4-FFF2-40B4-BE49-F238E27FC236}">
                  <a16:creationId xmlns:a16="http://schemas.microsoft.com/office/drawing/2014/main" id="{378EFC4B-45B4-380B-9373-08C439F878D9}"/>
                </a:ext>
              </a:extLst>
            </p:cNvPr>
            <p:cNvSpPr txBox="1"/>
            <p:nvPr/>
          </p:nvSpPr>
          <p:spPr>
            <a:xfrm>
              <a:off x="6477000" y="4876800"/>
              <a:ext cx="4851400" cy="12192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pPr marL="368300" indent="-342900">
                <a:lnSpc>
                  <a:spcPct val="105000"/>
                </a:lnSpc>
                <a:spcAft>
                  <a:spcPts val="585"/>
                </a:spcAft>
                <a:buClr>
                  <a:srgbClr val="E76F51"/>
                </a:buClr>
                <a:buSzPct val="100000"/>
                <a:buFont typeface="Arial" panose="020B0604020202020204" pitchFamily="34" charset="0"/>
                <a:buChar char="•"/>
              </a:pPr>
              <a:r>
                <a:rPr lang="pt-BR" sz="1300" b="1">
                  <a:solidFill>
                    <a:srgbClr val="243046"/>
                  </a:solidFill>
                  <a:latin typeface="Segoe UI" panose="020B0502040204020203" pitchFamily="34" charset="0"/>
                </a:rPr>
                <a:t>Métricas:</a:t>
              </a:r>
              <a:r>
                <a:rPr lang="pt-BR" sz="1300">
                  <a:solidFill>
                    <a:srgbClr val="243046"/>
                  </a:solidFill>
                  <a:latin typeface="Segoe UI" panose="020B0502040204020203" pitchFamily="34" charset="0"/>
                </a:rPr>
                <a:t> tempo, nº de atribuições, nº de retrocessos e nº de nós explorados</a:t>
              </a:r>
            </a:p>
            <a:p>
              <a:pPr marL="368300" indent="-342900">
                <a:lnSpc>
                  <a:spcPct val="105000"/>
                </a:lnSpc>
                <a:spcAft>
                  <a:spcPts val="585"/>
                </a:spcAft>
                <a:buClr>
                  <a:srgbClr val="E76F51"/>
                </a:buClr>
                <a:buSzPct val="100000"/>
                <a:buFont typeface="Arial" panose="020B0604020202020204" pitchFamily="34" charset="0"/>
                <a:buChar char="•"/>
              </a:pPr>
              <a:r>
                <a:rPr lang="pt-BR" sz="1300">
                  <a:solidFill>
                    <a:srgbClr val="243046"/>
                  </a:solidFill>
                  <a:latin typeface="Segoe UI" panose="020B0502040204020203" pitchFamily="34" charset="0"/>
                </a:rPr>
                <a:t>Simples × aprimorado em 3 tamanhos de instância</a:t>
              </a:r>
            </a:p>
            <a:p>
              <a:pPr marL="368300" indent="-342900">
                <a:lnSpc>
                  <a:spcPct val="105000"/>
                </a:lnSpc>
                <a:spcAft>
                  <a:spcPts val="585"/>
                </a:spcAft>
                <a:buClr>
                  <a:srgbClr val="E76F51"/>
                </a:buClr>
                <a:buSzPct val="100000"/>
                <a:buFont typeface="Arial" panose="020B0604020202020204" pitchFamily="34" charset="0"/>
                <a:buChar char="•"/>
              </a:pPr>
              <a:r>
                <a:rPr lang="pt-BR" sz="1300">
                  <a:solidFill>
                    <a:srgbClr val="243046"/>
                  </a:solidFill>
                  <a:latin typeface="Segoe UI" panose="020B0502040204020203" pitchFamily="34" charset="0"/>
                </a:rPr>
                <a:t>Experimento extra variando só a densidade de restrições (horários disponíveis por dia)</a:t>
              </a:r>
            </a:p>
          </p:txBody>
        </p:sp>
      </p:grpSp>
      <p:cxnSp>
        <p:nvCxnSpPr>
          <p:cNvPr id="31" name="Conector reto 30">
            <a:extLst>
              <a:ext uri="{FF2B5EF4-FFF2-40B4-BE49-F238E27FC236}">
                <a16:creationId xmlns:a16="http://schemas.microsoft.com/office/drawing/2014/main" id="{51C84AD5-143F-2CF1-FC96-335E42E964DE}"/>
              </a:ext>
            </a:extLst>
          </p:cNvPr>
          <p:cNvCxnSpPr/>
          <p:nvPr/>
        </p:nvCxnSpPr>
        <p:spPr>
          <a:xfrm>
            <a:off x="609600" y="6400800"/>
            <a:ext cx="10972800" cy="0"/>
          </a:xfrm>
          <a:prstGeom prst="line">
            <a:avLst/>
          </a:prstGeom>
          <a:ln w="9525">
            <a:solidFill>
              <a:srgbClr val="DB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63EA4ED4-8F5C-DDEF-35C1-CCBBB1B9640A}"/>
              </a:ext>
            </a:extLst>
          </p:cNvPr>
          <p:cNvSpPr txBox="1"/>
          <p:nvPr/>
        </p:nvSpPr>
        <p:spPr>
          <a:xfrm>
            <a:off x="609600" y="6502400"/>
            <a:ext cx="8128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900">
                <a:solidFill>
                  <a:srgbClr val="647187"/>
                </a:solidFill>
                <a:latin typeface="Segoe UI" panose="020B0502040204020203" pitchFamily="34" charset="0"/>
              </a:rPr>
              <a:t>Introdução à Inteligência Artificial  ·  Tema 9 — Agendamento de Consultas/Atendimentos como PSR</a:t>
            </a:r>
          </a:p>
        </p:txBody>
      </p:sp>
      <p:sp>
        <p:nvSpPr>
          <p:cNvPr id="33" name="CaixaDeTexto 32">
            <a:extLst>
              <a:ext uri="{FF2B5EF4-FFF2-40B4-BE49-F238E27FC236}">
                <a16:creationId xmlns:a16="http://schemas.microsoft.com/office/drawing/2014/main" id="{B6D594DE-FABA-3121-90F5-39D772531F17}"/>
              </a:ext>
            </a:extLst>
          </p:cNvPr>
          <p:cNvSpPr txBox="1"/>
          <p:nvPr/>
        </p:nvSpPr>
        <p:spPr>
          <a:xfrm>
            <a:off x="10058400" y="6502400"/>
            <a:ext cx="1524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pt-BR" sz="900" b="1">
                <a:solidFill>
                  <a:srgbClr val="647187"/>
                </a:solidFill>
                <a:latin typeface="Segoe UI" panose="020B0502040204020203" pitchFamily="34" charset="0"/>
              </a:rPr>
              <a:t>5 / 17</a:t>
            </a:r>
          </a:p>
        </p:txBody>
      </p:sp>
    </p:spTree>
    <p:extLst>
      <p:ext uri="{BB962C8B-B14F-4D97-AF65-F5344CB8AC3E}">
        <p14:creationId xmlns:p14="http://schemas.microsoft.com/office/powerpoint/2010/main" val="238324519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5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7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5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4CB2CA16-F226-599F-8873-1C3682F045C8}"/>
              </a:ext>
            </a:extLst>
          </p:cNvPr>
          <p:cNvSpPr/>
          <p:nvPr/>
        </p:nvSpPr>
        <p:spPr>
          <a:xfrm>
            <a:off x="0" y="0"/>
            <a:ext cx="127000" cy="6858000"/>
          </a:xfrm>
          <a:prstGeom prst="rect">
            <a:avLst/>
          </a:prstGeom>
          <a:solidFill>
            <a:srgbClr val="1B263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B5BC9D3F-8033-8211-7EE4-CBB027C1AFF2}"/>
              </a:ext>
            </a:extLst>
          </p:cNvPr>
          <p:cNvSpPr/>
          <p:nvPr/>
        </p:nvSpPr>
        <p:spPr>
          <a:xfrm>
            <a:off x="0" y="279400"/>
            <a:ext cx="127000" cy="889000"/>
          </a:xfrm>
          <a:prstGeom prst="rect">
            <a:avLst/>
          </a:prstGeom>
          <a:solidFill>
            <a:srgbClr val="2A9D8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44BE58FB-FFDD-3B8A-693D-028F377B1FEE}"/>
              </a:ext>
            </a:extLst>
          </p:cNvPr>
          <p:cNvSpPr txBox="1"/>
          <p:nvPr/>
        </p:nvSpPr>
        <p:spPr>
          <a:xfrm>
            <a:off x="609600" y="355600"/>
            <a:ext cx="8890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050" b="1" spc="160">
                <a:solidFill>
                  <a:srgbClr val="2A9D8F"/>
                </a:solidFill>
                <a:latin typeface="Segoe UI" panose="020B0502040204020203" pitchFamily="34" charset="0"/>
              </a:rPr>
              <a:t>FUNDAMENTAÇÃO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E6D8CC47-54EB-A544-47B2-739C5276CC4B}"/>
              </a:ext>
            </a:extLst>
          </p:cNvPr>
          <p:cNvSpPr txBox="1"/>
          <p:nvPr/>
        </p:nvSpPr>
        <p:spPr>
          <a:xfrm>
            <a:off x="609600" y="558800"/>
            <a:ext cx="94488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2600" b="1">
                <a:solidFill>
                  <a:srgbClr val="1B263B"/>
                </a:solidFill>
                <a:latin typeface="Segoe UI" panose="020B0502040204020203" pitchFamily="34" charset="0"/>
              </a:rPr>
              <a:t>Versão 1 — Backtracking simples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00EF9396-9EC8-3878-DDCD-0C32B4BD93C5}"/>
              </a:ext>
            </a:extLst>
          </p:cNvPr>
          <p:cNvSpPr/>
          <p:nvPr/>
        </p:nvSpPr>
        <p:spPr>
          <a:xfrm>
            <a:off x="609600" y="1117600"/>
            <a:ext cx="711200" cy="44450"/>
          </a:xfrm>
          <a:prstGeom prst="rect">
            <a:avLst/>
          </a:prstGeom>
          <a:solidFill>
            <a:srgbClr val="2A9D8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AB69584E-6E14-17FA-0E00-34EB7294A108}"/>
              </a:ext>
            </a:extLst>
          </p:cNvPr>
          <p:cNvSpPr/>
          <p:nvPr/>
        </p:nvSpPr>
        <p:spPr>
          <a:xfrm>
            <a:off x="10414000" y="381000"/>
            <a:ext cx="1168400" cy="330200"/>
          </a:xfrm>
          <a:prstGeom prst="roundRect">
            <a:avLst>
              <a:gd name="adj" fmla="val 50000"/>
            </a:avLst>
          </a:prstGeom>
          <a:solidFill>
            <a:srgbClr val="F2F5F9"/>
          </a:solidFill>
          <a:ln w="9525" cap="flat" cmpd="sng" algn="ctr">
            <a:solidFill>
              <a:srgbClr val="DBE2EA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25400" rIns="76200" bIns="25400" rtlCol="0" anchor="ctr">
            <a:noAutofit/>
          </a:bodyPr>
          <a:lstStyle/>
          <a:p>
            <a:pPr algn="ctr"/>
            <a:r>
              <a:rPr lang="pt-BR" sz="1100" b="1">
                <a:solidFill>
                  <a:srgbClr val="647187"/>
                </a:solidFill>
                <a:latin typeface="Segoe UI" panose="020B0502040204020203" pitchFamily="34" charset="0"/>
              </a:rPr>
              <a:t>≈ 4 min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197A6C5E-CDFB-C3F5-6676-2E757E59F9BD}"/>
              </a:ext>
            </a:extLst>
          </p:cNvPr>
          <p:cNvSpPr txBox="1"/>
          <p:nvPr/>
        </p:nvSpPr>
        <p:spPr>
          <a:xfrm>
            <a:off x="609600" y="1447800"/>
            <a:ext cx="6604000" cy="4826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  <a:spcAft>
                <a:spcPts val="697"/>
              </a:spcAft>
            </a:pPr>
            <a:r>
              <a:rPr lang="pt-BR" sz="1550">
                <a:solidFill>
                  <a:srgbClr val="243046"/>
                </a:solidFill>
                <a:latin typeface="Segoe UI" panose="020B0502040204020203" pitchFamily="34" charset="0"/>
              </a:rPr>
              <a:t>Ordem de variáveis e de valores fixa, sem heurísticas. Cada nível da árvore é um atendimento; cada ramo, um valor (profissional, horário, sala).</a:t>
            </a:r>
          </a:p>
          <a:p>
            <a:pPr marL="342900" indent="-342900">
              <a:lnSpc>
                <a:spcPct val="105000"/>
              </a:lnSpc>
              <a:spcAft>
                <a:spcPts val="697"/>
              </a:spcAft>
              <a:buClr>
                <a:srgbClr val="E76F51"/>
              </a:buClr>
              <a:buFont typeface="+mj-lt"/>
              <a:buAutoNum type="arabicPeriod"/>
            </a:pPr>
            <a:r>
              <a:rPr lang="pt-BR" sz="1550" b="1">
                <a:solidFill>
                  <a:srgbClr val="243046"/>
                </a:solidFill>
                <a:latin typeface="Segoe UI" panose="020B0502040204020203" pitchFamily="34" charset="0"/>
              </a:rPr>
              <a:t>Desce um nível:</a:t>
            </a:r>
            <a:r>
              <a:rPr lang="pt-BR" sz="1550">
                <a:solidFill>
                  <a:srgbClr val="243046"/>
                </a:solidFill>
                <a:latin typeface="Segoe UI" panose="020B0502040204020203" pitchFamily="34" charset="0"/>
              </a:rPr>
              <a:t> atribui ao próximo atendimento o primeiro valor que não viola nenhuma restrição com o que já foi atribuído.</a:t>
            </a:r>
          </a:p>
          <a:p>
            <a:pPr marL="342900" indent="-342900">
              <a:lnSpc>
                <a:spcPct val="105000"/>
              </a:lnSpc>
              <a:spcAft>
                <a:spcPts val="697"/>
              </a:spcAft>
              <a:buClr>
                <a:srgbClr val="E76F51"/>
              </a:buClr>
              <a:buFont typeface="+mj-lt"/>
              <a:buAutoNum type="arabicPeriod" startAt="2"/>
            </a:pPr>
            <a:r>
              <a:rPr lang="pt-BR" sz="1550" b="1">
                <a:solidFill>
                  <a:srgbClr val="243046"/>
                </a:solidFill>
                <a:latin typeface="Segoe UI" panose="020B0502040204020203" pitchFamily="34" charset="0"/>
              </a:rPr>
              <a:t>Solução:</a:t>
            </a:r>
            <a:r>
              <a:rPr lang="pt-BR" sz="1550">
                <a:solidFill>
                  <a:srgbClr val="243046"/>
                </a:solidFill>
                <a:latin typeface="Segoe UI" panose="020B0502040204020203" pitchFamily="34" charset="0"/>
              </a:rPr>
              <a:t> se todos os atendimentos foram atribuídos, a busca termina.</a:t>
            </a:r>
          </a:p>
          <a:p>
            <a:pPr marL="342900" indent="-342900">
              <a:lnSpc>
                <a:spcPct val="105000"/>
              </a:lnSpc>
              <a:spcAft>
                <a:spcPts val="697"/>
              </a:spcAft>
              <a:buClr>
                <a:srgbClr val="E76F51"/>
              </a:buClr>
              <a:buFont typeface="+mj-lt"/>
              <a:buAutoNum type="arabicPeriod" startAt="3"/>
            </a:pPr>
            <a:r>
              <a:rPr lang="pt-BR" sz="1550" b="1">
                <a:solidFill>
                  <a:srgbClr val="243046"/>
                </a:solidFill>
                <a:latin typeface="Segoe UI" panose="020B0502040204020203" pitchFamily="34" charset="0"/>
              </a:rPr>
              <a:t>Beco sem saída:</a:t>
            </a:r>
            <a:r>
              <a:rPr lang="pt-BR" sz="1550">
                <a:solidFill>
                  <a:srgbClr val="243046"/>
                </a:solidFill>
                <a:latin typeface="Segoe UI" panose="020B0502040204020203" pitchFamily="34" charset="0"/>
              </a:rPr>
              <a:t> se nenhum valor serve, retrocede (backtrack) ao nível anterior, desfaz aquela atribuição e tenta o próximo valor dali.</a:t>
            </a:r>
          </a:p>
          <a:p>
            <a:pPr marL="342900" indent="-342900">
              <a:lnSpc>
                <a:spcPct val="105000"/>
              </a:lnSpc>
              <a:spcAft>
                <a:spcPts val="697"/>
              </a:spcAft>
              <a:buClr>
                <a:srgbClr val="E76F51"/>
              </a:buClr>
              <a:buFont typeface="+mj-lt"/>
              <a:buAutoNum type="arabicPeriod" startAt="4"/>
            </a:pPr>
            <a:r>
              <a:rPr lang="pt-BR" sz="1550" b="1">
                <a:solidFill>
                  <a:srgbClr val="243046"/>
                </a:solidFill>
                <a:latin typeface="Segoe UI" panose="020B0502040204020203" pitchFamily="34" charset="0"/>
              </a:rPr>
              <a:t>Sem solução:</a:t>
            </a:r>
            <a:r>
              <a:rPr lang="pt-BR" sz="1550">
                <a:solidFill>
                  <a:srgbClr val="243046"/>
                </a:solidFill>
                <a:latin typeface="Segoe UI" panose="020B0502040204020203" pitchFamily="34" charset="0"/>
              </a:rPr>
              <a:t> se esgotar todos os valores do primeiro nível, não há solução.</a:t>
            </a:r>
          </a:p>
          <a:p>
            <a:pPr>
              <a:lnSpc>
                <a:spcPct val="105000"/>
              </a:lnSpc>
              <a:spcAft>
                <a:spcPts val="697"/>
              </a:spcAft>
            </a:pPr>
            <a:r>
              <a:rPr lang="pt-BR" sz="1550" i="1">
                <a:solidFill>
                  <a:srgbClr val="647187"/>
                </a:solidFill>
                <a:latin typeface="Segoe UI" panose="020B0502040204020203" pitchFamily="34" charset="0"/>
              </a:rPr>
              <a:t>Toda atribuição é uma tentativa, não uma decisão definitiva: só se confirma quando todos os atendimentos estiverem atribuídos.</a:t>
            </a:r>
          </a:p>
        </p:txBody>
      </p:sp>
      <p:grpSp>
        <p:nvGrpSpPr>
          <p:cNvPr id="13" name="Agrupar 12">
            <a:extLst>
              <a:ext uri="{FF2B5EF4-FFF2-40B4-BE49-F238E27FC236}">
                <a16:creationId xmlns:a16="http://schemas.microsoft.com/office/drawing/2014/main" id="{176B8733-8266-3A28-8F16-96EE4CAD012B}"/>
              </a:ext>
            </a:extLst>
          </p:cNvPr>
          <p:cNvGrpSpPr/>
          <p:nvPr/>
        </p:nvGrpSpPr>
        <p:grpSpPr>
          <a:xfrm>
            <a:off x="7569200" y="1422400"/>
            <a:ext cx="4013200" cy="2387600"/>
            <a:chOff x="7569200" y="1422400"/>
            <a:chExt cx="4013200" cy="2387600"/>
          </a:xfrm>
        </p:grpSpPr>
        <p:sp>
          <p:nvSpPr>
            <p:cNvPr id="9" name="Elemento_21">
              <a:extLst>
                <a:ext uri="{FF2B5EF4-FFF2-40B4-BE49-F238E27FC236}">
                  <a16:creationId xmlns:a16="http://schemas.microsoft.com/office/drawing/2014/main" id="{4A8274A3-96BF-B571-D09E-076C5CBE05CF}"/>
                </a:ext>
              </a:extLst>
            </p:cNvPr>
            <p:cNvSpPr/>
            <p:nvPr/>
          </p:nvSpPr>
          <p:spPr>
            <a:xfrm>
              <a:off x="7569200" y="1422400"/>
              <a:ext cx="4013200" cy="2387600"/>
            </a:xfrm>
            <a:prstGeom prst="roundRect">
              <a:avLst>
                <a:gd name="adj" fmla="val 5319"/>
              </a:avLst>
            </a:prstGeom>
            <a:solidFill>
              <a:srgbClr val="FFFFFF"/>
            </a:solidFill>
            <a:ln w="9525" cap="flat" cmpd="sng" algn="ctr">
              <a:solidFill>
                <a:srgbClr val="DBE2EA"/>
              </a:solidFill>
              <a:prstDash val="solid"/>
              <a:miter lim="800000"/>
            </a:ln>
            <a:effectLst>
              <a:outerShdw blurRad="152400" dist="50800" dir="5400000" rotWithShape="0">
                <a:srgbClr val="0F172A">
                  <a:alpha val="1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0" name="Elemento_22">
              <a:extLst>
                <a:ext uri="{FF2B5EF4-FFF2-40B4-BE49-F238E27FC236}">
                  <a16:creationId xmlns:a16="http://schemas.microsoft.com/office/drawing/2014/main" id="{D099B51C-D9CE-5540-39F7-88E8077E978B}"/>
                </a:ext>
              </a:extLst>
            </p:cNvPr>
            <p:cNvSpPr txBox="1"/>
            <p:nvPr/>
          </p:nvSpPr>
          <p:spPr>
            <a:xfrm>
              <a:off x="7823200" y="1651000"/>
              <a:ext cx="3556000" cy="4318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>
              <a:noAutofit/>
            </a:bodyPr>
            <a:lstStyle/>
            <a:p>
              <a:r>
                <a:rPr lang="pt-BR" sz="1550" b="1">
                  <a:solidFill>
                    <a:srgbClr val="1B263B"/>
                  </a:solidFill>
                  <a:latin typeface="Segoe UI" panose="020B0502040204020203" pitchFamily="34" charset="0"/>
                </a:rPr>
                <a:t>Memória</a:t>
              </a:r>
            </a:p>
          </p:txBody>
        </p:sp>
        <p:sp>
          <p:nvSpPr>
            <p:cNvPr id="11" name="Elemento_23">
              <a:extLst>
                <a:ext uri="{FF2B5EF4-FFF2-40B4-BE49-F238E27FC236}">
                  <a16:creationId xmlns:a16="http://schemas.microsoft.com/office/drawing/2014/main" id="{09747281-9C88-6E0A-A2D1-02757E5321A2}"/>
                </a:ext>
              </a:extLst>
            </p:cNvPr>
            <p:cNvSpPr/>
            <p:nvPr/>
          </p:nvSpPr>
          <p:spPr>
            <a:xfrm>
              <a:off x="7823200" y="2209800"/>
              <a:ext cx="457200" cy="38100"/>
            </a:xfrm>
            <a:prstGeom prst="rect">
              <a:avLst/>
            </a:prstGeom>
            <a:solidFill>
              <a:srgbClr val="2A9D8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2" name="Elemento_24">
              <a:extLst>
                <a:ext uri="{FF2B5EF4-FFF2-40B4-BE49-F238E27FC236}">
                  <a16:creationId xmlns:a16="http://schemas.microsoft.com/office/drawing/2014/main" id="{39639DB6-20D3-77F5-B08F-996017BEAE98}"/>
                </a:ext>
              </a:extLst>
            </p:cNvPr>
            <p:cNvSpPr txBox="1"/>
            <p:nvPr/>
          </p:nvSpPr>
          <p:spPr>
            <a:xfrm>
              <a:off x="7823200" y="2387600"/>
              <a:ext cx="3505200" cy="12954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r>
                <a:rPr lang="pt-BR" sz="1250">
                  <a:solidFill>
                    <a:srgbClr val="243046"/>
                  </a:solidFill>
                  <a:latin typeface="Segoe UI" panose="020B0502040204020203" pitchFamily="34" charset="0"/>
                </a:rPr>
                <a:t>Guarda só o caminho atual (da raiz até o nível onde está). A árvore completa nunca é construída: a memória cresce com o nº de atendimentos, não com o tamanho da árvore. O custo é de tempo.</a:t>
              </a:r>
            </a:p>
          </p:txBody>
        </p:sp>
      </p:grpSp>
      <p:grpSp>
        <p:nvGrpSpPr>
          <p:cNvPr id="18" name="Agrupar 17">
            <a:extLst>
              <a:ext uri="{FF2B5EF4-FFF2-40B4-BE49-F238E27FC236}">
                <a16:creationId xmlns:a16="http://schemas.microsoft.com/office/drawing/2014/main" id="{A4D6FA9E-2A29-E69C-299A-E35529002513}"/>
              </a:ext>
            </a:extLst>
          </p:cNvPr>
          <p:cNvGrpSpPr/>
          <p:nvPr/>
        </p:nvGrpSpPr>
        <p:grpSpPr>
          <a:xfrm>
            <a:off x="7569200" y="3962400"/>
            <a:ext cx="4013200" cy="2209800"/>
            <a:chOff x="7569200" y="3962400"/>
            <a:chExt cx="4013200" cy="2209800"/>
          </a:xfrm>
        </p:grpSpPr>
        <p:sp>
          <p:nvSpPr>
            <p:cNvPr id="14" name="Elemento_25">
              <a:extLst>
                <a:ext uri="{FF2B5EF4-FFF2-40B4-BE49-F238E27FC236}">
                  <a16:creationId xmlns:a16="http://schemas.microsoft.com/office/drawing/2014/main" id="{22650934-A258-C335-B6C7-1B302B1CA80C}"/>
                </a:ext>
              </a:extLst>
            </p:cNvPr>
            <p:cNvSpPr/>
            <p:nvPr/>
          </p:nvSpPr>
          <p:spPr>
            <a:xfrm>
              <a:off x="7569200" y="3962400"/>
              <a:ext cx="4013200" cy="2209800"/>
            </a:xfrm>
            <a:prstGeom prst="roundRect">
              <a:avLst>
                <a:gd name="adj" fmla="val 5747"/>
              </a:avLst>
            </a:prstGeom>
            <a:solidFill>
              <a:srgbClr val="FFFFFF"/>
            </a:solidFill>
            <a:ln w="9525" cap="flat" cmpd="sng" algn="ctr">
              <a:solidFill>
                <a:srgbClr val="DBE2EA"/>
              </a:solidFill>
              <a:prstDash val="solid"/>
              <a:miter lim="800000"/>
            </a:ln>
            <a:effectLst>
              <a:outerShdw blurRad="152400" dist="50800" dir="5400000" rotWithShape="0">
                <a:srgbClr val="0F172A">
                  <a:alpha val="1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5" name="Elemento_26">
              <a:extLst>
                <a:ext uri="{FF2B5EF4-FFF2-40B4-BE49-F238E27FC236}">
                  <a16:creationId xmlns:a16="http://schemas.microsoft.com/office/drawing/2014/main" id="{6832807D-BF26-17E2-AC55-C326C4D1B20A}"/>
                </a:ext>
              </a:extLst>
            </p:cNvPr>
            <p:cNvSpPr txBox="1"/>
            <p:nvPr/>
          </p:nvSpPr>
          <p:spPr>
            <a:xfrm>
              <a:off x="7823200" y="4191000"/>
              <a:ext cx="3556000" cy="4318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>
              <a:noAutofit/>
            </a:bodyPr>
            <a:lstStyle/>
            <a:p>
              <a:r>
                <a:rPr lang="pt-BR" sz="1550" b="1">
                  <a:solidFill>
                    <a:srgbClr val="1B263B"/>
                  </a:solidFill>
                  <a:latin typeface="Segoe UI" panose="020B0502040204020203" pitchFamily="34" charset="0"/>
                </a:rPr>
                <a:t>Limitação</a:t>
              </a:r>
            </a:p>
          </p:txBody>
        </p:sp>
        <p:sp>
          <p:nvSpPr>
            <p:cNvPr id="16" name="Elemento_27">
              <a:extLst>
                <a:ext uri="{FF2B5EF4-FFF2-40B4-BE49-F238E27FC236}">
                  <a16:creationId xmlns:a16="http://schemas.microsoft.com/office/drawing/2014/main" id="{7C51B8C2-B8FF-1E84-D5A6-83B8024A7D89}"/>
                </a:ext>
              </a:extLst>
            </p:cNvPr>
            <p:cNvSpPr/>
            <p:nvPr/>
          </p:nvSpPr>
          <p:spPr>
            <a:xfrm>
              <a:off x="7823200" y="4749800"/>
              <a:ext cx="457200" cy="38100"/>
            </a:xfrm>
            <a:prstGeom prst="rect">
              <a:avLst/>
            </a:prstGeom>
            <a:solidFill>
              <a:srgbClr val="E76F51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7" name="Elemento_28">
              <a:extLst>
                <a:ext uri="{FF2B5EF4-FFF2-40B4-BE49-F238E27FC236}">
                  <a16:creationId xmlns:a16="http://schemas.microsoft.com/office/drawing/2014/main" id="{20FB4665-C23E-4601-4174-919F9BD1B09C}"/>
                </a:ext>
              </a:extLst>
            </p:cNvPr>
            <p:cNvSpPr txBox="1"/>
            <p:nvPr/>
          </p:nvSpPr>
          <p:spPr>
            <a:xfrm>
              <a:off x="7823200" y="4927600"/>
              <a:ext cx="3505200" cy="11176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r>
                <a:rPr lang="pt-BR" sz="1250">
                  <a:solidFill>
                    <a:srgbClr val="243046"/>
                  </a:solidFill>
                  <a:latin typeface="Segoe UI" panose="020B0502040204020203" pitchFamily="34" charset="0"/>
                </a:rPr>
                <a:t>Só descobre um erro ao esbarrar nele — pode explorar muitos ramos inúteis antes de corrigir uma escolha ruim feita lá no início.</a:t>
              </a:r>
            </a:p>
          </p:txBody>
        </p:sp>
      </p:grpSp>
      <p:cxnSp>
        <p:nvCxnSpPr>
          <p:cNvPr id="19" name="Conector reto 18">
            <a:extLst>
              <a:ext uri="{FF2B5EF4-FFF2-40B4-BE49-F238E27FC236}">
                <a16:creationId xmlns:a16="http://schemas.microsoft.com/office/drawing/2014/main" id="{88C9964F-DC27-6BEF-B37D-908CD2419C75}"/>
              </a:ext>
            </a:extLst>
          </p:cNvPr>
          <p:cNvCxnSpPr/>
          <p:nvPr/>
        </p:nvCxnSpPr>
        <p:spPr>
          <a:xfrm>
            <a:off x="609600" y="6400800"/>
            <a:ext cx="10972800" cy="0"/>
          </a:xfrm>
          <a:prstGeom prst="line">
            <a:avLst/>
          </a:prstGeom>
          <a:ln w="9525">
            <a:solidFill>
              <a:srgbClr val="DB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06276907-FE24-C9FC-2167-E3A6D4B12FD0}"/>
              </a:ext>
            </a:extLst>
          </p:cNvPr>
          <p:cNvSpPr txBox="1"/>
          <p:nvPr/>
        </p:nvSpPr>
        <p:spPr>
          <a:xfrm>
            <a:off x="609600" y="6502400"/>
            <a:ext cx="8128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900">
                <a:solidFill>
                  <a:srgbClr val="647187"/>
                </a:solidFill>
                <a:latin typeface="Segoe UI" panose="020B0502040204020203" pitchFamily="34" charset="0"/>
              </a:rPr>
              <a:t>Introdução à Inteligência Artificial  ·  Tema 9 — Agendamento de Consultas/Atendimentos como PSR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2E4CA0CA-9921-70E5-4DE7-E2BBA2AD8F42}"/>
              </a:ext>
            </a:extLst>
          </p:cNvPr>
          <p:cNvSpPr txBox="1"/>
          <p:nvPr/>
        </p:nvSpPr>
        <p:spPr>
          <a:xfrm>
            <a:off x="10058400" y="6502400"/>
            <a:ext cx="1524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pt-BR" sz="900" b="1">
                <a:solidFill>
                  <a:srgbClr val="647187"/>
                </a:solidFill>
                <a:latin typeface="Segoe UI" panose="020B0502040204020203" pitchFamily="34" charset="0"/>
              </a:rPr>
              <a:t>6 / 17</a:t>
            </a:r>
          </a:p>
        </p:txBody>
      </p:sp>
    </p:spTree>
    <p:extLst>
      <p:ext uri="{BB962C8B-B14F-4D97-AF65-F5344CB8AC3E}">
        <p14:creationId xmlns:p14="http://schemas.microsoft.com/office/powerpoint/2010/main" val="173157667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5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BBA56F1B-7766-2D0F-F9CD-255C6A37A1D0}"/>
              </a:ext>
            </a:extLst>
          </p:cNvPr>
          <p:cNvSpPr/>
          <p:nvPr/>
        </p:nvSpPr>
        <p:spPr>
          <a:xfrm>
            <a:off x="0" y="0"/>
            <a:ext cx="127000" cy="6858000"/>
          </a:xfrm>
          <a:prstGeom prst="rect">
            <a:avLst/>
          </a:prstGeom>
          <a:solidFill>
            <a:srgbClr val="1B263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68D7B538-DDB6-1992-9C1E-8171AB63651D}"/>
              </a:ext>
            </a:extLst>
          </p:cNvPr>
          <p:cNvSpPr/>
          <p:nvPr/>
        </p:nvSpPr>
        <p:spPr>
          <a:xfrm>
            <a:off x="0" y="279400"/>
            <a:ext cx="127000" cy="889000"/>
          </a:xfrm>
          <a:prstGeom prst="rect">
            <a:avLst/>
          </a:prstGeom>
          <a:solidFill>
            <a:srgbClr val="2A9D8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981F9FDC-2573-5009-3F7F-B5FFA9243E4E}"/>
              </a:ext>
            </a:extLst>
          </p:cNvPr>
          <p:cNvSpPr txBox="1"/>
          <p:nvPr/>
        </p:nvSpPr>
        <p:spPr>
          <a:xfrm>
            <a:off x="609600" y="355600"/>
            <a:ext cx="8890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050" b="1" spc="160">
                <a:solidFill>
                  <a:srgbClr val="2A9D8F"/>
                </a:solidFill>
                <a:latin typeface="Segoe UI" panose="020B0502040204020203" pitchFamily="34" charset="0"/>
              </a:rPr>
              <a:t>FUNDAMENTAÇÃO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DF63A529-6A7A-A2A4-01F6-3F7DDA983412}"/>
              </a:ext>
            </a:extLst>
          </p:cNvPr>
          <p:cNvSpPr txBox="1"/>
          <p:nvPr/>
        </p:nvSpPr>
        <p:spPr>
          <a:xfrm>
            <a:off x="609600" y="558800"/>
            <a:ext cx="94488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2600" b="1">
                <a:solidFill>
                  <a:srgbClr val="1B263B"/>
                </a:solidFill>
                <a:latin typeface="Segoe UI" panose="020B0502040204020203" pitchFamily="34" charset="0"/>
              </a:rPr>
              <a:t>Versão 2 — Backtracking aprimorado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F08BEF54-DC96-640F-3AD4-7EDB69D90E0D}"/>
              </a:ext>
            </a:extLst>
          </p:cNvPr>
          <p:cNvSpPr/>
          <p:nvPr/>
        </p:nvSpPr>
        <p:spPr>
          <a:xfrm>
            <a:off x="609600" y="1117600"/>
            <a:ext cx="711200" cy="44450"/>
          </a:xfrm>
          <a:prstGeom prst="rect">
            <a:avLst/>
          </a:prstGeom>
          <a:solidFill>
            <a:srgbClr val="2A9D8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14" name="Agrupar 13">
            <a:extLst>
              <a:ext uri="{FF2B5EF4-FFF2-40B4-BE49-F238E27FC236}">
                <a16:creationId xmlns:a16="http://schemas.microsoft.com/office/drawing/2014/main" id="{3DB4EC05-8330-276A-5B75-30D2576D839E}"/>
              </a:ext>
            </a:extLst>
          </p:cNvPr>
          <p:cNvGrpSpPr/>
          <p:nvPr/>
        </p:nvGrpSpPr>
        <p:grpSpPr>
          <a:xfrm>
            <a:off x="609600" y="1422400"/>
            <a:ext cx="3522133" cy="3860800"/>
            <a:chOff x="609600" y="1422400"/>
            <a:chExt cx="3522133" cy="3860800"/>
          </a:xfrm>
        </p:grpSpPr>
        <p:sp>
          <p:nvSpPr>
            <p:cNvPr id="7" name="Elemento_29">
              <a:extLst>
                <a:ext uri="{FF2B5EF4-FFF2-40B4-BE49-F238E27FC236}">
                  <a16:creationId xmlns:a16="http://schemas.microsoft.com/office/drawing/2014/main" id="{1120E4D3-4A03-BDEC-2101-C377E922118C}"/>
                </a:ext>
              </a:extLst>
            </p:cNvPr>
            <p:cNvSpPr/>
            <p:nvPr/>
          </p:nvSpPr>
          <p:spPr>
            <a:xfrm>
              <a:off x="609600" y="1422400"/>
              <a:ext cx="3522133" cy="3860800"/>
            </a:xfrm>
            <a:prstGeom prst="roundRect">
              <a:avLst>
                <a:gd name="adj" fmla="val 3606"/>
              </a:avLst>
            </a:prstGeom>
            <a:solidFill>
              <a:srgbClr val="FFFFFF"/>
            </a:solidFill>
            <a:ln w="9525" cap="flat" cmpd="sng" algn="ctr">
              <a:solidFill>
                <a:srgbClr val="DBE2EA"/>
              </a:solidFill>
              <a:prstDash val="solid"/>
              <a:miter lim="800000"/>
            </a:ln>
            <a:effectLst>
              <a:outerShdw blurRad="152400" dist="50800" dir="5400000" rotWithShape="0">
                <a:srgbClr val="0F172A">
                  <a:alpha val="1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8" name="Elemento_30">
              <a:extLst>
                <a:ext uri="{FF2B5EF4-FFF2-40B4-BE49-F238E27FC236}">
                  <a16:creationId xmlns:a16="http://schemas.microsoft.com/office/drawing/2014/main" id="{B31BD1EB-ADF8-3319-9DA0-A6C22CB36C64}"/>
                </a:ext>
              </a:extLst>
            </p:cNvPr>
            <p:cNvSpPr txBox="1"/>
            <p:nvPr/>
          </p:nvSpPr>
          <p:spPr>
            <a:xfrm>
              <a:off x="863600" y="1600200"/>
              <a:ext cx="3014133" cy="5334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r>
                <a:rPr lang="pt-BR" sz="3000" b="1">
                  <a:solidFill>
                    <a:srgbClr val="2A9D8F"/>
                  </a:solidFill>
                  <a:latin typeface="Segoe UI" panose="020B0502040204020203" pitchFamily="34" charset="0"/>
                </a:rPr>
                <a:t>MRV</a:t>
              </a:r>
            </a:p>
          </p:txBody>
        </p:sp>
        <p:sp>
          <p:nvSpPr>
            <p:cNvPr id="9" name="Elemento_31">
              <a:extLst>
                <a:ext uri="{FF2B5EF4-FFF2-40B4-BE49-F238E27FC236}">
                  <a16:creationId xmlns:a16="http://schemas.microsoft.com/office/drawing/2014/main" id="{B645EE50-DD13-6B38-C359-6662A8D070AE}"/>
                </a:ext>
              </a:extLst>
            </p:cNvPr>
            <p:cNvSpPr txBox="1"/>
            <p:nvPr/>
          </p:nvSpPr>
          <p:spPr>
            <a:xfrm>
              <a:off x="863600" y="2133600"/>
              <a:ext cx="3014133" cy="2286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r>
                <a:rPr lang="pt-BR" sz="1150" b="1">
                  <a:solidFill>
                    <a:srgbClr val="647187"/>
                  </a:solidFill>
                  <a:latin typeface="Segoe UI" panose="020B0502040204020203" pitchFamily="34" charset="0"/>
                </a:rPr>
                <a:t>Minimum Remaining Values</a:t>
              </a:r>
            </a:p>
          </p:txBody>
        </p:sp>
        <p:cxnSp>
          <p:nvCxnSpPr>
            <p:cNvPr id="10" name="Elemento_32">
              <a:extLst>
                <a:ext uri="{FF2B5EF4-FFF2-40B4-BE49-F238E27FC236}">
                  <a16:creationId xmlns:a16="http://schemas.microsoft.com/office/drawing/2014/main" id="{3EE3D0EA-8B7D-0CEA-AB72-D603D3BF709E}"/>
                </a:ext>
              </a:extLst>
            </p:cNvPr>
            <p:cNvCxnSpPr/>
            <p:nvPr/>
          </p:nvCxnSpPr>
          <p:spPr>
            <a:xfrm>
              <a:off x="863600" y="2489200"/>
              <a:ext cx="3014133" cy="0"/>
            </a:xfrm>
            <a:prstGeom prst="line">
              <a:avLst/>
            </a:prstGeom>
            <a:ln w="12700">
              <a:solidFill>
                <a:srgbClr val="DBE2E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Elemento_33">
              <a:extLst>
                <a:ext uri="{FF2B5EF4-FFF2-40B4-BE49-F238E27FC236}">
                  <a16:creationId xmlns:a16="http://schemas.microsoft.com/office/drawing/2014/main" id="{B92B7C42-D99B-10D8-D69D-7BC8224DDD67}"/>
                </a:ext>
              </a:extLst>
            </p:cNvPr>
            <p:cNvSpPr txBox="1"/>
            <p:nvPr/>
          </p:nvSpPr>
          <p:spPr>
            <a:xfrm>
              <a:off x="863600" y="2641600"/>
              <a:ext cx="3014133" cy="13462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r>
                <a:rPr lang="pt-BR" sz="1350">
                  <a:solidFill>
                    <a:srgbClr val="243046"/>
                  </a:solidFill>
                  <a:latin typeface="Segoe UI" panose="020B0502040204020203" pitchFamily="34" charset="0"/>
                </a:rPr>
                <a:t>Escolhe sempre o atendimento com menor domínio restante — o mais restrito, com maior chance de ficar sem opção.</a:t>
              </a:r>
            </a:p>
          </p:txBody>
        </p:sp>
        <p:sp>
          <p:nvSpPr>
            <p:cNvPr id="12" name="Elemento_34">
              <a:extLst>
                <a:ext uri="{FF2B5EF4-FFF2-40B4-BE49-F238E27FC236}">
                  <a16:creationId xmlns:a16="http://schemas.microsoft.com/office/drawing/2014/main" id="{AE6E64E7-09E7-C6AD-6B92-1F8BAE6E1A7D}"/>
                </a:ext>
              </a:extLst>
            </p:cNvPr>
            <p:cNvSpPr/>
            <p:nvPr/>
          </p:nvSpPr>
          <p:spPr>
            <a:xfrm>
              <a:off x="787400" y="4064000"/>
              <a:ext cx="3166533" cy="1041400"/>
            </a:xfrm>
            <a:prstGeom prst="roundRect">
              <a:avLst>
                <a:gd name="adj" fmla="val 9756"/>
              </a:avLst>
            </a:prstGeom>
            <a:solidFill>
              <a:srgbClr val="E1F3F0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3" name="Elemento_35">
              <a:extLst>
                <a:ext uri="{FF2B5EF4-FFF2-40B4-BE49-F238E27FC236}">
                  <a16:creationId xmlns:a16="http://schemas.microsoft.com/office/drawing/2014/main" id="{27DEBA5D-88DA-2F48-8F5C-37F618F2A974}"/>
                </a:ext>
              </a:extLst>
            </p:cNvPr>
            <p:cNvSpPr txBox="1"/>
            <p:nvPr/>
          </p:nvSpPr>
          <p:spPr>
            <a:xfrm>
              <a:off x="939800" y="4191000"/>
              <a:ext cx="2861733" cy="8128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pPr>
                <a:lnSpc>
                  <a:spcPct val="105000"/>
                </a:lnSpc>
                <a:spcAft>
                  <a:spcPts val="563"/>
                </a:spcAft>
              </a:pPr>
              <a:r>
                <a:rPr lang="pt-BR" sz="1250" b="1">
                  <a:solidFill>
                    <a:srgbClr val="243046"/>
                  </a:solidFill>
                  <a:latin typeface="Segoe UI" panose="020B0502040204020203" pitchFamily="34" charset="0"/>
                </a:rPr>
                <a:t>Efeito:</a:t>
              </a:r>
              <a:r>
                <a:rPr lang="pt-BR" sz="1250">
                  <a:solidFill>
                    <a:srgbClr val="243046"/>
                  </a:solidFill>
                  <a:latin typeface="Segoe UI" panose="020B0502040204020203" pitchFamily="34" charset="0"/>
                </a:rPr>
                <a:t> os becos sem saída aparecem perto da raiz, e não no fundo da árvore.</a:t>
              </a:r>
            </a:p>
          </p:txBody>
        </p:sp>
      </p:grpSp>
      <p:grpSp>
        <p:nvGrpSpPr>
          <p:cNvPr id="22" name="Agrupar 21">
            <a:extLst>
              <a:ext uri="{FF2B5EF4-FFF2-40B4-BE49-F238E27FC236}">
                <a16:creationId xmlns:a16="http://schemas.microsoft.com/office/drawing/2014/main" id="{B69A2E4D-5612-3A6C-CC32-178E1BCBEE76}"/>
              </a:ext>
            </a:extLst>
          </p:cNvPr>
          <p:cNvGrpSpPr/>
          <p:nvPr/>
        </p:nvGrpSpPr>
        <p:grpSpPr>
          <a:xfrm>
            <a:off x="4334933" y="1422400"/>
            <a:ext cx="3522134" cy="3860800"/>
            <a:chOff x="4334933" y="1422400"/>
            <a:chExt cx="3522134" cy="3860800"/>
          </a:xfrm>
        </p:grpSpPr>
        <p:sp>
          <p:nvSpPr>
            <p:cNvPr id="15" name="Elemento_36">
              <a:extLst>
                <a:ext uri="{FF2B5EF4-FFF2-40B4-BE49-F238E27FC236}">
                  <a16:creationId xmlns:a16="http://schemas.microsoft.com/office/drawing/2014/main" id="{323395F4-C056-6ECA-9119-7F3C93074C0F}"/>
                </a:ext>
              </a:extLst>
            </p:cNvPr>
            <p:cNvSpPr/>
            <p:nvPr/>
          </p:nvSpPr>
          <p:spPr>
            <a:xfrm>
              <a:off x="4334933" y="1422400"/>
              <a:ext cx="3522134" cy="3860800"/>
            </a:xfrm>
            <a:prstGeom prst="roundRect">
              <a:avLst>
                <a:gd name="adj" fmla="val 3606"/>
              </a:avLst>
            </a:prstGeom>
            <a:solidFill>
              <a:srgbClr val="FFFFFF"/>
            </a:solidFill>
            <a:ln w="9525" cap="flat" cmpd="sng" algn="ctr">
              <a:solidFill>
                <a:srgbClr val="DBE2EA"/>
              </a:solidFill>
              <a:prstDash val="solid"/>
              <a:miter lim="800000"/>
            </a:ln>
            <a:effectLst>
              <a:outerShdw blurRad="152400" dist="50800" dir="5400000" rotWithShape="0">
                <a:srgbClr val="0F172A">
                  <a:alpha val="1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6" name="Elemento_37">
              <a:extLst>
                <a:ext uri="{FF2B5EF4-FFF2-40B4-BE49-F238E27FC236}">
                  <a16:creationId xmlns:a16="http://schemas.microsoft.com/office/drawing/2014/main" id="{E5D39DAE-A916-10F4-369E-27788ACDBB08}"/>
                </a:ext>
              </a:extLst>
            </p:cNvPr>
            <p:cNvSpPr txBox="1"/>
            <p:nvPr/>
          </p:nvSpPr>
          <p:spPr>
            <a:xfrm>
              <a:off x="4588933" y="1600200"/>
              <a:ext cx="3014133" cy="5334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r>
                <a:rPr lang="pt-BR" sz="3000" b="1">
                  <a:solidFill>
                    <a:srgbClr val="7C5CBF"/>
                  </a:solidFill>
                  <a:latin typeface="Segoe UI" panose="020B0502040204020203" pitchFamily="34" charset="0"/>
                </a:rPr>
                <a:t>FC</a:t>
              </a:r>
            </a:p>
          </p:txBody>
        </p:sp>
        <p:sp>
          <p:nvSpPr>
            <p:cNvPr id="17" name="Elemento_38">
              <a:extLst>
                <a:ext uri="{FF2B5EF4-FFF2-40B4-BE49-F238E27FC236}">
                  <a16:creationId xmlns:a16="http://schemas.microsoft.com/office/drawing/2014/main" id="{C18DB589-F86E-C5BC-BE3D-6855629AAF06}"/>
                </a:ext>
              </a:extLst>
            </p:cNvPr>
            <p:cNvSpPr txBox="1"/>
            <p:nvPr/>
          </p:nvSpPr>
          <p:spPr>
            <a:xfrm>
              <a:off x="4588933" y="2133600"/>
              <a:ext cx="3014133" cy="2286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r>
                <a:rPr lang="pt-BR" sz="1150" b="1">
                  <a:solidFill>
                    <a:srgbClr val="647187"/>
                  </a:solidFill>
                  <a:latin typeface="Segoe UI" panose="020B0502040204020203" pitchFamily="34" charset="0"/>
                </a:rPr>
                <a:t>Forward Checking</a:t>
              </a:r>
            </a:p>
          </p:txBody>
        </p:sp>
        <p:cxnSp>
          <p:nvCxnSpPr>
            <p:cNvPr id="18" name="Elemento_39">
              <a:extLst>
                <a:ext uri="{FF2B5EF4-FFF2-40B4-BE49-F238E27FC236}">
                  <a16:creationId xmlns:a16="http://schemas.microsoft.com/office/drawing/2014/main" id="{C367F46A-1F3A-558E-81EA-476FD84C3E0A}"/>
                </a:ext>
              </a:extLst>
            </p:cNvPr>
            <p:cNvCxnSpPr/>
            <p:nvPr/>
          </p:nvCxnSpPr>
          <p:spPr>
            <a:xfrm>
              <a:off x="4588933" y="2489200"/>
              <a:ext cx="3014134" cy="0"/>
            </a:xfrm>
            <a:prstGeom prst="line">
              <a:avLst/>
            </a:prstGeom>
            <a:ln w="12700">
              <a:solidFill>
                <a:srgbClr val="DBE2E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Elemento_40">
              <a:extLst>
                <a:ext uri="{FF2B5EF4-FFF2-40B4-BE49-F238E27FC236}">
                  <a16:creationId xmlns:a16="http://schemas.microsoft.com/office/drawing/2014/main" id="{C994A2C9-6D0F-EA2E-9F0D-4937EB476400}"/>
                </a:ext>
              </a:extLst>
            </p:cNvPr>
            <p:cNvSpPr txBox="1"/>
            <p:nvPr/>
          </p:nvSpPr>
          <p:spPr>
            <a:xfrm>
              <a:off x="4588933" y="2641600"/>
              <a:ext cx="3014133" cy="13462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r>
                <a:rPr lang="pt-BR" sz="1350">
                  <a:solidFill>
                    <a:srgbClr val="243046"/>
                  </a:solidFill>
                  <a:latin typeface="Segoe UI" panose="020B0502040204020203" pitchFamily="34" charset="0"/>
                </a:rPr>
                <a:t>Após cada atribuição, remove dos domínios futuros os valores que ficaram inconsistentes.</a:t>
              </a:r>
            </a:p>
          </p:txBody>
        </p:sp>
        <p:sp>
          <p:nvSpPr>
            <p:cNvPr id="20" name="Elemento_41">
              <a:extLst>
                <a:ext uri="{FF2B5EF4-FFF2-40B4-BE49-F238E27FC236}">
                  <a16:creationId xmlns:a16="http://schemas.microsoft.com/office/drawing/2014/main" id="{4804E35B-7986-77D4-5B68-E310980EE7A8}"/>
                </a:ext>
              </a:extLst>
            </p:cNvPr>
            <p:cNvSpPr/>
            <p:nvPr/>
          </p:nvSpPr>
          <p:spPr>
            <a:xfrm>
              <a:off x="4512733" y="4064000"/>
              <a:ext cx="3166534" cy="1041400"/>
            </a:xfrm>
            <a:prstGeom prst="roundRect">
              <a:avLst>
                <a:gd name="adj" fmla="val 9756"/>
              </a:avLst>
            </a:prstGeom>
            <a:solidFill>
              <a:srgbClr val="EFEAFA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1" name="Elemento_42">
              <a:extLst>
                <a:ext uri="{FF2B5EF4-FFF2-40B4-BE49-F238E27FC236}">
                  <a16:creationId xmlns:a16="http://schemas.microsoft.com/office/drawing/2014/main" id="{D9F7E80C-1298-EB19-03DE-E89BC3073569}"/>
                </a:ext>
              </a:extLst>
            </p:cNvPr>
            <p:cNvSpPr txBox="1"/>
            <p:nvPr/>
          </p:nvSpPr>
          <p:spPr>
            <a:xfrm>
              <a:off x="4665133" y="4191000"/>
              <a:ext cx="2861733" cy="8128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pPr>
                <a:lnSpc>
                  <a:spcPct val="105000"/>
                </a:lnSpc>
                <a:spcAft>
                  <a:spcPts val="563"/>
                </a:spcAft>
              </a:pPr>
              <a:r>
                <a:rPr lang="pt-BR" sz="1250" b="1">
                  <a:solidFill>
                    <a:srgbClr val="243046"/>
                  </a:solidFill>
                  <a:latin typeface="Segoe UI" panose="020B0502040204020203" pitchFamily="34" charset="0"/>
                </a:rPr>
                <a:t>Efeito:</a:t>
              </a:r>
              <a:r>
                <a:rPr lang="pt-BR" sz="1250">
                  <a:solidFill>
                    <a:srgbClr val="243046"/>
                  </a:solidFill>
                  <a:latin typeface="Segoe UI" panose="020B0502040204020203" pitchFamily="34" charset="0"/>
                </a:rPr>
                <a:t> se algum domínio esvazia, o ramo é podado na hora, sem descer níveis inúteis.</a:t>
              </a:r>
            </a:p>
          </p:txBody>
        </p:sp>
      </p:grpSp>
      <p:grpSp>
        <p:nvGrpSpPr>
          <p:cNvPr id="30" name="Agrupar 29">
            <a:extLst>
              <a:ext uri="{FF2B5EF4-FFF2-40B4-BE49-F238E27FC236}">
                <a16:creationId xmlns:a16="http://schemas.microsoft.com/office/drawing/2014/main" id="{6684297B-8008-7DE8-0A8D-62266752AE35}"/>
              </a:ext>
            </a:extLst>
          </p:cNvPr>
          <p:cNvGrpSpPr/>
          <p:nvPr/>
        </p:nvGrpSpPr>
        <p:grpSpPr>
          <a:xfrm>
            <a:off x="8060267" y="1422400"/>
            <a:ext cx="3522133" cy="3860800"/>
            <a:chOff x="8060267" y="1422400"/>
            <a:chExt cx="3522133" cy="3860800"/>
          </a:xfrm>
        </p:grpSpPr>
        <p:sp>
          <p:nvSpPr>
            <p:cNvPr id="23" name="Elemento_43">
              <a:extLst>
                <a:ext uri="{FF2B5EF4-FFF2-40B4-BE49-F238E27FC236}">
                  <a16:creationId xmlns:a16="http://schemas.microsoft.com/office/drawing/2014/main" id="{84E7DEDE-3323-C152-9985-1D30CAB1D912}"/>
                </a:ext>
              </a:extLst>
            </p:cNvPr>
            <p:cNvSpPr/>
            <p:nvPr/>
          </p:nvSpPr>
          <p:spPr>
            <a:xfrm>
              <a:off x="8060267" y="1422400"/>
              <a:ext cx="3522133" cy="3860800"/>
            </a:xfrm>
            <a:prstGeom prst="roundRect">
              <a:avLst>
                <a:gd name="adj" fmla="val 3606"/>
              </a:avLst>
            </a:prstGeom>
            <a:solidFill>
              <a:srgbClr val="FFFFFF"/>
            </a:solidFill>
            <a:ln w="9525" cap="flat" cmpd="sng" algn="ctr">
              <a:solidFill>
                <a:srgbClr val="DBE2EA"/>
              </a:solidFill>
              <a:prstDash val="solid"/>
              <a:miter lim="800000"/>
            </a:ln>
            <a:effectLst>
              <a:outerShdw blurRad="152400" dist="50800" dir="5400000" rotWithShape="0">
                <a:srgbClr val="0F172A">
                  <a:alpha val="1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4" name="Elemento_44">
              <a:extLst>
                <a:ext uri="{FF2B5EF4-FFF2-40B4-BE49-F238E27FC236}">
                  <a16:creationId xmlns:a16="http://schemas.microsoft.com/office/drawing/2014/main" id="{41548ED0-3DC5-6940-16A3-6A484FAC2022}"/>
                </a:ext>
              </a:extLst>
            </p:cNvPr>
            <p:cNvSpPr txBox="1"/>
            <p:nvPr/>
          </p:nvSpPr>
          <p:spPr>
            <a:xfrm>
              <a:off x="8314267" y="1600200"/>
              <a:ext cx="3014133" cy="5334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r>
                <a:rPr lang="pt-BR" sz="3000" b="1">
                  <a:solidFill>
                    <a:srgbClr val="DE9C28"/>
                  </a:solidFill>
                  <a:latin typeface="Segoe UI" panose="020B0502040204020203" pitchFamily="34" charset="0"/>
                </a:rPr>
                <a:t>LCV</a:t>
              </a:r>
            </a:p>
          </p:txBody>
        </p:sp>
        <p:sp>
          <p:nvSpPr>
            <p:cNvPr id="25" name="Elemento_45">
              <a:extLst>
                <a:ext uri="{FF2B5EF4-FFF2-40B4-BE49-F238E27FC236}">
                  <a16:creationId xmlns:a16="http://schemas.microsoft.com/office/drawing/2014/main" id="{1B31FC0E-CCEF-DC87-D59D-2A0324604C5B}"/>
                </a:ext>
              </a:extLst>
            </p:cNvPr>
            <p:cNvSpPr txBox="1"/>
            <p:nvPr/>
          </p:nvSpPr>
          <p:spPr>
            <a:xfrm>
              <a:off x="8314267" y="2133600"/>
              <a:ext cx="3014133" cy="2286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r>
                <a:rPr lang="pt-BR" sz="1150" b="1">
                  <a:solidFill>
                    <a:srgbClr val="647187"/>
                  </a:solidFill>
                  <a:latin typeface="Segoe UI" panose="020B0502040204020203" pitchFamily="34" charset="0"/>
                </a:rPr>
                <a:t>Least Constraining Value</a:t>
              </a:r>
            </a:p>
          </p:txBody>
        </p:sp>
        <p:cxnSp>
          <p:nvCxnSpPr>
            <p:cNvPr id="26" name="Elemento_46">
              <a:extLst>
                <a:ext uri="{FF2B5EF4-FFF2-40B4-BE49-F238E27FC236}">
                  <a16:creationId xmlns:a16="http://schemas.microsoft.com/office/drawing/2014/main" id="{3980EAF3-1666-6FF7-7172-0A16DB533640}"/>
                </a:ext>
              </a:extLst>
            </p:cNvPr>
            <p:cNvCxnSpPr/>
            <p:nvPr/>
          </p:nvCxnSpPr>
          <p:spPr>
            <a:xfrm>
              <a:off x="8314267" y="2489200"/>
              <a:ext cx="3014133" cy="0"/>
            </a:xfrm>
            <a:prstGeom prst="line">
              <a:avLst/>
            </a:prstGeom>
            <a:ln w="12700">
              <a:solidFill>
                <a:srgbClr val="DBE2E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Elemento_47">
              <a:extLst>
                <a:ext uri="{FF2B5EF4-FFF2-40B4-BE49-F238E27FC236}">
                  <a16:creationId xmlns:a16="http://schemas.microsoft.com/office/drawing/2014/main" id="{0750037F-9942-C68B-7C67-C515DB7E2491}"/>
                </a:ext>
              </a:extLst>
            </p:cNvPr>
            <p:cNvSpPr txBox="1"/>
            <p:nvPr/>
          </p:nvSpPr>
          <p:spPr>
            <a:xfrm>
              <a:off x="8314267" y="2641600"/>
              <a:ext cx="3014133" cy="13462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r>
                <a:rPr lang="pt-BR" sz="1350">
                  <a:solidFill>
                    <a:srgbClr val="243046"/>
                  </a:solidFill>
                  <a:latin typeface="Segoe UI" panose="020B0502040204020203" pitchFamily="34" charset="0"/>
                </a:rPr>
                <a:t>Entre os valores possíveis, tenta primeiro o que menos restringe as opções dos demais atendimentos.</a:t>
              </a:r>
            </a:p>
          </p:txBody>
        </p:sp>
        <p:sp>
          <p:nvSpPr>
            <p:cNvPr id="28" name="Elemento_48">
              <a:extLst>
                <a:ext uri="{FF2B5EF4-FFF2-40B4-BE49-F238E27FC236}">
                  <a16:creationId xmlns:a16="http://schemas.microsoft.com/office/drawing/2014/main" id="{60D1E512-07EC-2202-F644-51E68A50CF64}"/>
                </a:ext>
              </a:extLst>
            </p:cNvPr>
            <p:cNvSpPr/>
            <p:nvPr/>
          </p:nvSpPr>
          <p:spPr>
            <a:xfrm>
              <a:off x="8238067" y="4064000"/>
              <a:ext cx="3166533" cy="1041400"/>
            </a:xfrm>
            <a:prstGeom prst="roundRect">
              <a:avLst>
                <a:gd name="adj" fmla="val 9756"/>
              </a:avLst>
            </a:prstGeom>
            <a:solidFill>
              <a:srgbClr val="FDF3DE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9" name="Elemento_49">
              <a:extLst>
                <a:ext uri="{FF2B5EF4-FFF2-40B4-BE49-F238E27FC236}">
                  <a16:creationId xmlns:a16="http://schemas.microsoft.com/office/drawing/2014/main" id="{373C53AC-54C8-91AF-6308-D42DEF0254C0}"/>
                </a:ext>
              </a:extLst>
            </p:cNvPr>
            <p:cNvSpPr txBox="1"/>
            <p:nvPr/>
          </p:nvSpPr>
          <p:spPr>
            <a:xfrm>
              <a:off x="8390467" y="4191000"/>
              <a:ext cx="2861733" cy="8128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pPr>
                <a:lnSpc>
                  <a:spcPct val="105000"/>
                </a:lnSpc>
                <a:spcAft>
                  <a:spcPts val="563"/>
                </a:spcAft>
              </a:pPr>
              <a:r>
                <a:rPr lang="pt-BR" sz="1250" b="1">
                  <a:solidFill>
                    <a:srgbClr val="243046"/>
                  </a:solidFill>
                  <a:latin typeface="Segoe UI" panose="020B0502040204020203" pitchFamily="34" charset="0"/>
                </a:rPr>
                <a:t>Efeito:</a:t>
              </a:r>
              <a:r>
                <a:rPr lang="pt-BR" sz="1250">
                  <a:solidFill>
                    <a:srgbClr val="243046"/>
                  </a:solidFill>
                  <a:latin typeface="Segoe UI" panose="020B0502040204020203" pitchFamily="34" charset="0"/>
                </a:rPr>
                <a:t> deixa mais opções para os demais e reduz a chance de retroceder.</a:t>
              </a:r>
            </a:p>
          </p:txBody>
        </p:sp>
      </p:grpSp>
      <p:sp>
        <p:nvSpPr>
          <p:cNvPr id="31" name="Retângulo 30">
            <a:extLst>
              <a:ext uri="{FF2B5EF4-FFF2-40B4-BE49-F238E27FC236}">
                <a16:creationId xmlns:a16="http://schemas.microsoft.com/office/drawing/2014/main" id="{ED1F55CC-E05C-B855-8263-4A4CA403C4D6}"/>
              </a:ext>
            </a:extLst>
          </p:cNvPr>
          <p:cNvSpPr/>
          <p:nvPr/>
        </p:nvSpPr>
        <p:spPr>
          <a:xfrm>
            <a:off x="609600" y="5461000"/>
            <a:ext cx="10972800" cy="685800"/>
          </a:xfrm>
          <a:prstGeom prst="rect">
            <a:avLst/>
          </a:prstGeom>
          <a:solidFill>
            <a:srgbClr val="E1F3F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2" name="Retângulo 31">
            <a:extLst>
              <a:ext uri="{FF2B5EF4-FFF2-40B4-BE49-F238E27FC236}">
                <a16:creationId xmlns:a16="http://schemas.microsoft.com/office/drawing/2014/main" id="{AF70821F-3F20-E405-ACE7-55AD6EFDC679}"/>
              </a:ext>
            </a:extLst>
          </p:cNvPr>
          <p:cNvSpPr/>
          <p:nvPr/>
        </p:nvSpPr>
        <p:spPr>
          <a:xfrm>
            <a:off x="609600" y="5461000"/>
            <a:ext cx="63500" cy="685800"/>
          </a:xfrm>
          <a:prstGeom prst="rect">
            <a:avLst/>
          </a:prstGeom>
          <a:solidFill>
            <a:srgbClr val="2A9D8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3" name="CaixaDeTexto 32">
            <a:extLst>
              <a:ext uri="{FF2B5EF4-FFF2-40B4-BE49-F238E27FC236}">
                <a16:creationId xmlns:a16="http://schemas.microsoft.com/office/drawing/2014/main" id="{4944FAC1-51B5-E7E8-5513-3E34729C2C6B}"/>
              </a:ext>
            </a:extLst>
          </p:cNvPr>
          <p:cNvSpPr txBox="1"/>
          <p:nvPr/>
        </p:nvSpPr>
        <p:spPr>
          <a:xfrm>
            <a:off x="889000" y="5461000"/>
            <a:ext cx="10464800" cy="685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105000"/>
              </a:lnSpc>
            </a:pPr>
            <a:r>
              <a:rPr lang="pt-BR" sz="1350" b="1">
                <a:solidFill>
                  <a:srgbClr val="243046"/>
                </a:solidFill>
                <a:latin typeface="Segoe UI" panose="020B0502040204020203" pitchFamily="34" charset="0"/>
              </a:rPr>
              <a:t>Memória:</a:t>
            </a:r>
            <a:r>
              <a:rPr lang="pt-BR" sz="1350">
                <a:solidFill>
                  <a:srgbClr val="243046"/>
                </a:solidFill>
                <a:latin typeface="Segoe UI" panose="020B0502040204020203" pitchFamily="34" charset="0"/>
              </a:rPr>
              <a:t> além do caminho atual, guarda os valores que o Forward Checking removeu dos domínios, para devolvê-los ao retroceder.</a:t>
            </a:r>
          </a:p>
        </p:txBody>
      </p:sp>
      <p:cxnSp>
        <p:nvCxnSpPr>
          <p:cNvPr id="34" name="Conector reto 33">
            <a:extLst>
              <a:ext uri="{FF2B5EF4-FFF2-40B4-BE49-F238E27FC236}">
                <a16:creationId xmlns:a16="http://schemas.microsoft.com/office/drawing/2014/main" id="{89AB17ED-2A12-8945-1485-4CB7EF72FF3F}"/>
              </a:ext>
            </a:extLst>
          </p:cNvPr>
          <p:cNvCxnSpPr/>
          <p:nvPr/>
        </p:nvCxnSpPr>
        <p:spPr>
          <a:xfrm>
            <a:off x="609600" y="6400800"/>
            <a:ext cx="10972800" cy="0"/>
          </a:xfrm>
          <a:prstGeom prst="line">
            <a:avLst/>
          </a:prstGeom>
          <a:ln w="9525">
            <a:solidFill>
              <a:srgbClr val="DB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CaixaDeTexto 34">
            <a:extLst>
              <a:ext uri="{FF2B5EF4-FFF2-40B4-BE49-F238E27FC236}">
                <a16:creationId xmlns:a16="http://schemas.microsoft.com/office/drawing/2014/main" id="{945A899B-B019-F665-610D-D10A62DEA070}"/>
              </a:ext>
            </a:extLst>
          </p:cNvPr>
          <p:cNvSpPr txBox="1"/>
          <p:nvPr/>
        </p:nvSpPr>
        <p:spPr>
          <a:xfrm>
            <a:off x="609600" y="6502400"/>
            <a:ext cx="8128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900">
                <a:solidFill>
                  <a:srgbClr val="647187"/>
                </a:solidFill>
                <a:latin typeface="Segoe UI" panose="020B0502040204020203" pitchFamily="34" charset="0"/>
              </a:rPr>
              <a:t>Introdução à Inteligência Artificial  ·  Tema 9 — Agendamento de Consultas/Atendimentos como PSR</a:t>
            </a:r>
          </a:p>
        </p:txBody>
      </p: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F6A3B94A-CDE8-5B25-5C30-1F5D8D0679E7}"/>
              </a:ext>
            </a:extLst>
          </p:cNvPr>
          <p:cNvSpPr txBox="1"/>
          <p:nvPr/>
        </p:nvSpPr>
        <p:spPr>
          <a:xfrm>
            <a:off x="10058400" y="6502400"/>
            <a:ext cx="1524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pt-BR" sz="900" b="1">
                <a:solidFill>
                  <a:srgbClr val="647187"/>
                </a:solidFill>
                <a:latin typeface="Segoe UI" panose="020B0502040204020203" pitchFamily="34" charset="0"/>
              </a:rPr>
              <a:t>7 / 17</a:t>
            </a:r>
          </a:p>
        </p:txBody>
      </p:sp>
    </p:spTree>
    <p:extLst>
      <p:ext uri="{BB962C8B-B14F-4D97-AF65-F5344CB8AC3E}">
        <p14:creationId xmlns:p14="http://schemas.microsoft.com/office/powerpoint/2010/main" val="342546141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5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7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B5818D02-65C0-118A-62CB-34B2F20E060D}"/>
              </a:ext>
            </a:extLst>
          </p:cNvPr>
          <p:cNvSpPr/>
          <p:nvPr/>
        </p:nvSpPr>
        <p:spPr>
          <a:xfrm>
            <a:off x="0" y="0"/>
            <a:ext cx="127000" cy="6858000"/>
          </a:xfrm>
          <a:prstGeom prst="rect">
            <a:avLst/>
          </a:prstGeom>
          <a:solidFill>
            <a:srgbClr val="1B263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1B3810AA-7CDB-69C3-B893-E13E36540686}"/>
              </a:ext>
            </a:extLst>
          </p:cNvPr>
          <p:cNvSpPr/>
          <p:nvPr/>
        </p:nvSpPr>
        <p:spPr>
          <a:xfrm>
            <a:off x="0" y="279400"/>
            <a:ext cx="127000" cy="889000"/>
          </a:xfrm>
          <a:prstGeom prst="rect">
            <a:avLst/>
          </a:prstGeom>
          <a:solidFill>
            <a:srgbClr val="2A9D8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6747A539-8F86-1C6A-F555-6EA7E562BF61}"/>
              </a:ext>
            </a:extLst>
          </p:cNvPr>
          <p:cNvSpPr txBox="1"/>
          <p:nvPr/>
        </p:nvSpPr>
        <p:spPr>
          <a:xfrm>
            <a:off x="609600" y="355600"/>
            <a:ext cx="8890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050" b="1" spc="160">
                <a:solidFill>
                  <a:srgbClr val="2A9D8F"/>
                </a:solidFill>
                <a:latin typeface="Segoe UI" panose="020B0502040204020203" pitchFamily="34" charset="0"/>
              </a:rPr>
              <a:t>FUNDAMENTAÇÃO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259876BE-3E3C-DC7E-441A-F1320E47A30E}"/>
              </a:ext>
            </a:extLst>
          </p:cNvPr>
          <p:cNvSpPr txBox="1"/>
          <p:nvPr/>
        </p:nvSpPr>
        <p:spPr>
          <a:xfrm>
            <a:off x="609600" y="558800"/>
            <a:ext cx="94488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2600" b="1">
                <a:solidFill>
                  <a:srgbClr val="1B263B"/>
                </a:solidFill>
                <a:latin typeface="Segoe UI" panose="020B0502040204020203" pitchFamily="34" charset="0"/>
              </a:rPr>
              <a:t>Como a Versão 2 resolve os problemas da Versão 1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4D9208F7-6A9B-4531-B9E5-6382E067FBFC}"/>
              </a:ext>
            </a:extLst>
          </p:cNvPr>
          <p:cNvSpPr/>
          <p:nvPr/>
        </p:nvSpPr>
        <p:spPr>
          <a:xfrm>
            <a:off x="609600" y="1117600"/>
            <a:ext cx="711200" cy="44450"/>
          </a:xfrm>
          <a:prstGeom prst="rect">
            <a:avLst/>
          </a:prstGeom>
          <a:solidFill>
            <a:srgbClr val="2A9D8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2F75F466-F1C2-F7C6-BD3C-58E6DD45E92B}"/>
              </a:ext>
            </a:extLst>
          </p:cNvPr>
          <p:cNvSpPr/>
          <p:nvPr/>
        </p:nvSpPr>
        <p:spPr>
          <a:xfrm>
            <a:off x="609600" y="1422400"/>
            <a:ext cx="5080000" cy="431800"/>
          </a:xfrm>
          <a:prstGeom prst="roundRect">
            <a:avLst>
              <a:gd name="adj" fmla="val 23529"/>
            </a:avLst>
          </a:prstGeom>
          <a:solidFill>
            <a:srgbClr val="E76F5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25400" rIns="76200" bIns="25400" rtlCol="0" anchor="ctr"/>
          <a:lstStyle/>
          <a:p>
            <a:pPr algn="ctr"/>
            <a:r>
              <a:rPr lang="pt-BR" sz="1400" b="1">
                <a:solidFill>
                  <a:srgbClr val="FFFFFF"/>
                </a:solidFill>
                <a:latin typeface="Segoe UI" panose="020B0502040204020203" pitchFamily="34" charset="0"/>
              </a:rPr>
              <a:t>Versão 1 — simples</a:t>
            </a:r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CA2E7286-0C1F-0E2F-087F-955E329F4E54}"/>
              </a:ext>
            </a:extLst>
          </p:cNvPr>
          <p:cNvSpPr/>
          <p:nvPr/>
        </p:nvSpPr>
        <p:spPr>
          <a:xfrm>
            <a:off x="6502400" y="1422400"/>
            <a:ext cx="5080000" cy="431800"/>
          </a:xfrm>
          <a:prstGeom prst="roundRect">
            <a:avLst>
              <a:gd name="adj" fmla="val 23529"/>
            </a:avLst>
          </a:prstGeom>
          <a:solidFill>
            <a:srgbClr val="2A9D8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25400" rIns="76200" bIns="25400" rtlCol="0" anchor="ctr"/>
          <a:lstStyle/>
          <a:p>
            <a:pPr algn="ctr"/>
            <a:r>
              <a:rPr lang="pt-BR" sz="1400" b="1">
                <a:solidFill>
                  <a:srgbClr val="FFFFFF"/>
                </a:solidFill>
                <a:latin typeface="Segoe UI" panose="020B0502040204020203" pitchFamily="34" charset="0"/>
              </a:rPr>
              <a:t>Versão 2 — aprimorado</a:t>
            </a:r>
          </a:p>
        </p:txBody>
      </p:sp>
      <p:grpSp>
        <p:nvGrpSpPr>
          <p:cNvPr id="12" name="Agrupar 11">
            <a:extLst>
              <a:ext uri="{FF2B5EF4-FFF2-40B4-BE49-F238E27FC236}">
                <a16:creationId xmlns:a16="http://schemas.microsoft.com/office/drawing/2014/main" id="{F711BCA9-D396-D829-13B9-11AAE71E40D6}"/>
              </a:ext>
            </a:extLst>
          </p:cNvPr>
          <p:cNvGrpSpPr/>
          <p:nvPr/>
        </p:nvGrpSpPr>
        <p:grpSpPr>
          <a:xfrm>
            <a:off x="609600" y="1981200"/>
            <a:ext cx="10972800" cy="787400"/>
            <a:chOff x="609600" y="1981200"/>
            <a:chExt cx="10972800" cy="787400"/>
          </a:xfrm>
        </p:grpSpPr>
        <p:sp>
          <p:nvSpPr>
            <p:cNvPr id="9" name="Elemento_50">
              <a:extLst>
                <a:ext uri="{FF2B5EF4-FFF2-40B4-BE49-F238E27FC236}">
                  <a16:creationId xmlns:a16="http://schemas.microsoft.com/office/drawing/2014/main" id="{0696C561-AB4A-8822-BD6B-C4A998BE6D48}"/>
                </a:ext>
              </a:extLst>
            </p:cNvPr>
            <p:cNvSpPr/>
            <p:nvPr/>
          </p:nvSpPr>
          <p:spPr>
            <a:xfrm>
              <a:off x="609600" y="1981200"/>
              <a:ext cx="5080000" cy="787400"/>
            </a:xfrm>
            <a:prstGeom prst="roundRect">
              <a:avLst>
                <a:gd name="adj" fmla="val 12903"/>
              </a:avLst>
            </a:prstGeom>
            <a:solidFill>
              <a:srgbClr val="FCE9E3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03200" tIns="25400" rIns="203200" bIns="25400" rtlCol="0" anchor="ctr"/>
            <a:lstStyle/>
            <a:p>
              <a:r>
                <a:rPr lang="pt-BR" sz="1300" b="1">
                  <a:solidFill>
                    <a:srgbClr val="243046"/>
                  </a:solidFill>
                  <a:latin typeface="Segoe UI" panose="020B0502040204020203" pitchFamily="34" charset="0"/>
                </a:rPr>
                <a:t>Ordem fixa:</a:t>
              </a:r>
              <a:r>
                <a:rPr lang="pt-BR" sz="1300">
                  <a:solidFill>
                    <a:srgbClr val="243046"/>
                  </a:solidFill>
                  <a:latin typeface="Segoe UI" panose="020B0502040204020203" pitchFamily="34" charset="0"/>
                </a:rPr>
                <a:t> escolhe o próximo atendimento sempre na mesma sequência.</a:t>
              </a:r>
            </a:p>
          </p:txBody>
        </p:sp>
        <p:sp>
          <p:nvSpPr>
            <p:cNvPr id="10" name="Elemento_51">
              <a:extLst>
                <a:ext uri="{FF2B5EF4-FFF2-40B4-BE49-F238E27FC236}">
                  <a16:creationId xmlns:a16="http://schemas.microsoft.com/office/drawing/2014/main" id="{727E0885-109C-D864-A340-403776CA36DB}"/>
                </a:ext>
              </a:extLst>
            </p:cNvPr>
            <p:cNvSpPr/>
            <p:nvPr/>
          </p:nvSpPr>
          <p:spPr>
            <a:xfrm>
              <a:off x="5867400" y="2222500"/>
              <a:ext cx="482600" cy="304800"/>
            </a:xfrm>
            <a:prstGeom prst="rightArrow">
              <a:avLst/>
            </a:prstGeom>
            <a:solidFill>
              <a:srgbClr val="A5B1C3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1" name="Elemento_52">
              <a:extLst>
                <a:ext uri="{FF2B5EF4-FFF2-40B4-BE49-F238E27FC236}">
                  <a16:creationId xmlns:a16="http://schemas.microsoft.com/office/drawing/2014/main" id="{F5AAD256-6112-71B4-E0A7-A6EAE24508CF}"/>
                </a:ext>
              </a:extLst>
            </p:cNvPr>
            <p:cNvSpPr/>
            <p:nvPr/>
          </p:nvSpPr>
          <p:spPr>
            <a:xfrm>
              <a:off x="6502400" y="1981200"/>
              <a:ext cx="5080000" cy="787400"/>
            </a:xfrm>
            <a:prstGeom prst="roundRect">
              <a:avLst>
                <a:gd name="adj" fmla="val 12903"/>
              </a:avLst>
            </a:prstGeom>
            <a:solidFill>
              <a:srgbClr val="E1F3F0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03200" tIns="25400" rIns="203200" bIns="25400" rtlCol="0" anchor="ctr"/>
            <a:lstStyle/>
            <a:p>
              <a:r>
                <a:rPr lang="pt-BR" sz="1300" b="1">
                  <a:solidFill>
                    <a:srgbClr val="243046"/>
                  </a:solidFill>
                  <a:latin typeface="Segoe UI" panose="020B0502040204020203" pitchFamily="34" charset="0"/>
                </a:rPr>
                <a:t>MRV:</a:t>
              </a:r>
              <a:r>
                <a:rPr lang="pt-BR" sz="1300">
                  <a:solidFill>
                    <a:srgbClr val="243046"/>
                  </a:solidFill>
                  <a:latin typeface="Segoe UI" panose="020B0502040204020203" pitchFamily="34" charset="0"/>
                </a:rPr>
                <a:t> começa pelo atendimento mais restrito — os becos sem saída aparecem perto da raiz.</a:t>
              </a:r>
            </a:p>
          </p:txBody>
        </p:sp>
      </p:grpSp>
      <p:grpSp>
        <p:nvGrpSpPr>
          <p:cNvPr id="16" name="Agrupar 15">
            <a:extLst>
              <a:ext uri="{FF2B5EF4-FFF2-40B4-BE49-F238E27FC236}">
                <a16:creationId xmlns:a16="http://schemas.microsoft.com/office/drawing/2014/main" id="{A208E615-135B-2BDF-D3B2-18B943B2BCD0}"/>
              </a:ext>
            </a:extLst>
          </p:cNvPr>
          <p:cNvGrpSpPr/>
          <p:nvPr/>
        </p:nvGrpSpPr>
        <p:grpSpPr>
          <a:xfrm>
            <a:off x="609600" y="2895600"/>
            <a:ext cx="10972800" cy="787400"/>
            <a:chOff x="609600" y="2895600"/>
            <a:chExt cx="10972800" cy="787400"/>
          </a:xfrm>
        </p:grpSpPr>
        <p:sp>
          <p:nvSpPr>
            <p:cNvPr id="13" name="Elemento_53">
              <a:extLst>
                <a:ext uri="{FF2B5EF4-FFF2-40B4-BE49-F238E27FC236}">
                  <a16:creationId xmlns:a16="http://schemas.microsoft.com/office/drawing/2014/main" id="{B9AC055E-8474-69B5-3DDD-E16AA130EC13}"/>
                </a:ext>
              </a:extLst>
            </p:cNvPr>
            <p:cNvSpPr/>
            <p:nvPr/>
          </p:nvSpPr>
          <p:spPr>
            <a:xfrm>
              <a:off x="609600" y="2895600"/>
              <a:ext cx="5080000" cy="787400"/>
            </a:xfrm>
            <a:prstGeom prst="roundRect">
              <a:avLst>
                <a:gd name="adj" fmla="val 12903"/>
              </a:avLst>
            </a:prstGeom>
            <a:solidFill>
              <a:srgbClr val="FCE9E3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03200" tIns="25400" rIns="203200" bIns="25400" rtlCol="0" anchor="ctr"/>
            <a:lstStyle/>
            <a:p>
              <a:r>
                <a:rPr lang="pt-BR" sz="1300" b="1">
                  <a:solidFill>
                    <a:srgbClr val="243046"/>
                  </a:solidFill>
                  <a:latin typeface="Segoe UI" panose="020B0502040204020203" pitchFamily="34" charset="0"/>
                </a:rPr>
                <a:t>Erro tardio:</a:t>
              </a:r>
              <a:r>
                <a:rPr lang="pt-BR" sz="1300">
                  <a:solidFill>
                    <a:srgbClr val="243046"/>
                  </a:solidFill>
                  <a:latin typeface="Segoe UI" panose="020B0502040204020203" pitchFamily="34" charset="0"/>
                </a:rPr>
                <a:t> só descobre o erro ao esbarrar nele, bem abaixo na árvore.</a:t>
              </a:r>
            </a:p>
          </p:txBody>
        </p:sp>
        <p:sp>
          <p:nvSpPr>
            <p:cNvPr id="14" name="Elemento_54">
              <a:extLst>
                <a:ext uri="{FF2B5EF4-FFF2-40B4-BE49-F238E27FC236}">
                  <a16:creationId xmlns:a16="http://schemas.microsoft.com/office/drawing/2014/main" id="{2FF8ED6E-D0F2-197E-85FF-65B99B93AA05}"/>
                </a:ext>
              </a:extLst>
            </p:cNvPr>
            <p:cNvSpPr/>
            <p:nvPr/>
          </p:nvSpPr>
          <p:spPr>
            <a:xfrm>
              <a:off x="5867400" y="3136900"/>
              <a:ext cx="482600" cy="304800"/>
            </a:xfrm>
            <a:prstGeom prst="rightArrow">
              <a:avLst/>
            </a:prstGeom>
            <a:solidFill>
              <a:srgbClr val="A5B1C3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5" name="Elemento_55">
              <a:extLst>
                <a:ext uri="{FF2B5EF4-FFF2-40B4-BE49-F238E27FC236}">
                  <a16:creationId xmlns:a16="http://schemas.microsoft.com/office/drawing/2014/main" id="{61FFEA74-B0B9-6F6B-3C57-92FB0889F9D7}"/>
                </a:ext>
              </a:extLst>
            </p:cNvPr>
            <p:cNvSpPr/>
            <p:nvPr/>
          </p:nvSpPr>
          <p:spPr>
            <a:xfrm>
              <a:off x="6502400" y="2895600"/>
              <a:ext cx="5080000" cy="787400"/>
            </a:xfrm>
            <a:prstGeom prst="roundRect">
              <a:avLst>
                <a:gd name="adj" fmla="val 12903"/>
              </a:avLst>
            </a:prstGeom>
            <a:solidFill>
              <a:srgbClr val="E1F3F0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03200" tIns="25400" rIns="203200" bIns="25400" rtlCol="0" anchor="ctr"/>
            <a:lstStyle/>
            <a:p>
              <a:r>
                <a:rPr lang="pt-BR" sz="1300" b="1">
                  <a:solidFill>
                    <a:srgbClr val="243046"/>
                  </a:solidFill>
                  <a:latin typeface="Segoe UI" panose="020B0502040204020203" pitchFamily="34" charset="0"/>
                </a:rPr>
                <a:t>Forward Checking:</a:t>
              </a:r>
              <a:r>
                <a:rPr lang="pt-BR" sz="1300">
                  <a:solidFill>
                    <a:srgbClr val="243046"/>
                  </a:solidFill>
                  <a:latin typeface="Segoe UI" panose="020B0502040204020203" pitchFamily="34" charset="0"/>
                </a:rPr>
                <a:t> enxerga o erro assim que ele se torna inevitável (domínio vazio) e corta o ramo na hora.</a:t>
              </a:r>
            </a:p>
          </p:txBody>
        </p:sp>
      </p:grpSp>
      <p:grpSp>
        <p:nvGrpSpPr>
          <p:cNvPr id="20" name="Agrupar 19">
            <a:extLst>
              <a:ext uri="{FF2B5EF4-FFF2-40B4-BE49-F238E27FC236}">
                <a16:creationId xmlns:a16="http://schemas.microsoft.com/office/drawing/2014/main" id="{38BAE535-246A-529D-EDB1-39267E457D95}"/>
              </a:ext>
            </a:extLst>
          </p:cNvPr>
          <p:cNvGrpSpPr/>
          <p:nvPr/>
        </p:nvGrpSpPr>
        <p:grpSpPr>
          <a:xfrm>
            <a:off x="609600" y="3810000"/>
            <a:ext cx="10972800" cy="787400"/>
            <a:chOff x="609600" y="3810000"/>
            <a:chExt cx="10972800" cy="787400"/>
          </a:xfrm>
        </p:grpSpPr>
        <p:sp>
          <p:nvSpPr>
            <p:cNvPr id="17" name="Elemento_56">
              <a:extLst>
                <a:ext uri="{FF2B5EF4-FFF2-40B4-BE49-F238E27FC236}">
                  <a16:creationId xmlns:a16="http://schemas.microsoft.com/office/drawing/2014/main" id="{F1DC2063-978C-87B3-5864-9DB854903A9F}"/>
                </a:ext>
              </a:extLst>
            </p:cNvPr>
            <p:cNvSpPr/>
            <p:nvPr/>
          </p:nvSpPr>
          <p:spPr>
            <a:xfrm>
              <a:off x="609600" y="3810000"/>
              <a:ext cx="5080000" cy="787400"/>
            </a:xfrm>
            <a:prstGeom prst="roundRect">
              <a:avLst>
                <a:gd name="adj" fmla="val 12903"/>
              </a:avLst>
            </a:prstGeom>
            <a:solidFill>
              <a:srgbClr val="FCE9E3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03200" tIns="25400" rIns="203200" bIns="25400" rtlCol="0" anchor="ctr"/>
            <a:lstStyle/>
            <a:p>
              <a:r>
                <a:rPr lang="pt-BR" sz="1300" b="1">
                  <a:solidFill>
                    <a:srgbClr val="243046"/>
                  </a:solidFill>
                  <a:latin typeface="Segoe UI" panose="020B0502040204020203" pitchFamily="34" charset="0"/>
                </a:rPr>
                <a:t>Valores em ordem fixa:</a:t>
              </a:r>
              <a:r>
                <a:rPr lang="pt-BR" sz="1300">
                  <a:solidFill>
                    <a:srgbClr val="243046"/>
                  </a:solidFill>
                  <a:latin typeface="Segoe UI" panose="020B0502040204020203" pitchFamily="34" charset="0"/>
                </a:rPr>
                <a:t> pode escolher valores que bloqueiam os demais.</a:t>
              </a:r>
            </a:p>
          </p:txBody>
        </p:sp>
        <p:sp>
          <p:nvSpPr>
            <p:cNvPr id="18" name="Elemento_57">
              <a:extLst>
                <a:ext uri="{FF2B5EF4-FFF2-40B4-BE49-F238E27FC236}">
                  <a16:creationId xmlns:a16="http://schemas.microsoft.com/office/drawing/2014/main" id="{5057D562-5455-D3F9-8A95-301DA162C152}"/>
                </a:ext>
              </a:extLst>
            </p:cNvPr>
            <p:cNvSpPr/>
            <p:nvPr/>
          </p:nvSpPr>
          <p:spPr>
            <a:xfrm>
              <a:off x="5867400" y="4051300"/>
              <a:ext cx="482600" cy="304800"/>
            </a:xfrm>
            <a:prstGeom prst="rightArrow">
              <a:avLst/>
            </a:prstGeom>
            <a:solidFill>
              <a:srgbClr val="A5B1C3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9" name="Elemento_58">
              <a:extLst>
                <a:ext uri="{FF2B5EF4-FFF2-40B4-BE49-F238E27FC236}">
                  <a16:creationId xmlns:a16="http://schemas.microsoft.com/office/drawing/2014/main" id="{65A0FCF9-3105-A9C8-6C72-89F6CC6B318C}"/>
                </a:ext>
              </a:extLst>
            </p:cNvPr>
            <p:cNvSpPr/>
            <p:nvPr/>
          </p:nvSpPr>
          <p:spPr>
            <a:xfrm>
              <a:off x="6502400" y="3810000"/>
              <a:ext cx="5080000" cy="787400"/>
            </a:xfrm>
            <a:prstGeom prst="roundRect">
              <a:avLst>
                <a:gd name="adj" fmla="val 12903"/>
              </a:avLst>
            </a:prstGeom>
            <a:solidFill>
              <a:srgbClr val="E1F3F0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03200" tIns="25400" rIns="203200" bIns="25400" rtlCol="0" anchor="ctr"/>
            <a:lstStyle/>
            <a:p>
              <a:r>
                <a:rPr lang="pt-BR" sz="1300" b="1">
                  <a:solidFill>
                    <a:srgbClr val="243046"/>
                  </a:solidFill>
                  <a:latin typeface="Segoe UI" panose="020B0502040204020203" pitchFamily="34" charset="0"/>
                </a:rPr>
                <a:t>LCV:</a:t>
              </a:r>
              <a:r>
                <a:rPr lang="pt-BR" sz="1300">
                  <a:solidFill>
                    <a:srgbClr val="243046"/>
                  </a:solidFill>
                  <a:latin typeface="Segoe UI" panose="020B0502040204020203" pitchFamily="34" charset="0"/>
                </a:rPr>
                <a:t> escolhe valores que deixam mais opções para os demais, reduzindo retrocessos.</a:t>
              </a:r>
            </a:p>
          </p:txBody>
        </p:sp>
      </p:grpSp>
      <p:grpSp>
        <p:nvGrpSpPr>
          <p:cNvPr id="24" name="Agrupar 23">
            <a:extLst>
              <a:ext uri="{FF2B5EF4-FFF2-40B4-BE49-F238E27FC236}">
                <a16:creationId xmlns:a16="http://schemas.microsoft.com/office/drawing/2014/main" id="{7CEEB329-275E-3291-D9F9-B73C675FDD45}"/>
              </a:ext>
            </a:extLst>
          </p:cNvPr>
          <p:cNvGrpSpPr/>
          <p:nvPr/>
        </p:nvGrpSpPr>
        <p:grpSpPr>
          <a:xfrm>
            <a:off x="609600" y="4724400"/>
            <a:ext cx="10972800" cy="787400"/>
            <a:chOff x="609600" y="4724400"/>
            <a:chExt cx="10972800" cy="787400"/>
          </a:xfrm>
        </p:grpSpPr>
        <p:sp>
          <p:nvSpPr>
            <p:cNvPr id="21" name="Elemento_59">
              <a:extLst>
                <a:ext uri="{FF2B5EF4-FFF2-40B4-BE49-F238E27FC236}">
                  <a16:creationId xmlns:a16="http://schemas.microsoft.com/office/drawing/2014/main" id="{E1654018-0545-F98A-CFF9-954F1262416C}"/>
                </a:ext>
              </a:extLst>
            </p:cNvPr>
            <p:cNvSpPr/>
            <p:nvPr/>
          </p:nvSpPr>
          <p:spPr>
            <a:xfrm>
              <a:off x="609600" y="4724400"/>
              <a:ext cx="5080000" cy="787400"/>
            </a:xfrm>
            <a:prstGeom prst="roundRect">
              <a:avLst>
                <a:gd name="adj" fmla="val 12903"/>
              </a:avLst>
            </a:prstGeom>
            <a:solidFill>
              <a:srgbClr val="FCE9E3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03200" tIns="25400" rIns="203200" bIns="25400" rtlCol="0" anchor="ctr"/>
            <a:lstStyle/>
            <a:p>
              <a:r>
                <a:rPr lang="pt-BR" sz="1300" b="1">
                  <a:solidFill>
                    <a:srgbClr val="243046"/>
                  </a:solidFill>
                  <a:latin typeface="Segoe UI" panose="020B0502040204020203" pitchFamily="34" charset="0"/>
                </a:rPr>
                <a:t>Memória:</a:t>
              </a:r>
              <a:r>
                <a:rPr lang="pt-BR" sz="1300">
                  <a:solidFill>
                    <a:srgbClr val="243046"/>
                  </a:solidFill>
                  <a:latin typeface="Segoe UI" panose="020B0502040204020203" pitchFamily="34" charset="0"/>
                </a:rPr>
                <a:t> só o caminho atual.</a:t>
              </a:r>
            </a:p>
          </p:txBody>
        </p:sp>
        <p:sp>
          <p:nvSpPr>
            <p:cNvPr id="22" name="Elemento_60">
              <a:extLst>
                <a:ext uri="{FF2B5EF4-FFF2-40B4-BE49-F238E27FC236}">
                  <a16:creationId xmlns:a16="http://schemas.microsoft.com/office/drawing/2014/main" id="{5F820498-F199-6AED-797A-4536E0C78640}"/>
                </a:ext>
              </a:extLst>
            </p:cNvPr>
            <p:cNvSpPr/>
            <p:nvPr/>
          </p:nvSpPr>
          <p:spPr>
            <a:xfrm>
              <a:off x="5867400" y="4965700"/>
              <a:ext cx="482600" cy="304800"/>
            </a:xfrm>
            <a:prstGeom prst="rightArrow">
              <a:avLst/>
            </a:prstGeom>
            <a:solidFill>
              <a:srgbClr val="A5B1C3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3" name="Elemento_61">
              <a:extLst>
                <a:ext uri="{FF2B5EF4-FFF2-40B4-BE49-F238E27FC236}">
                  <a16:creationId xmlns:a16="http://schemas.microsoft.com/office/drawing/2014/main" id="{DBD9F85F-261C-8D2E-B939-B7C81EC6A5CC}"/>
                </a:ext>
              </a:extLst>
            </p:cNvPr>
            <p:cNvSpPr/>
            <p:nvPr/>
          </p:nvSpPr>
          <p:spPr>
            <a:xfrm>
              <a:off x="6502400" y="4724400"/>
              <a:ext cx="5080000" cy="787400"/>
            </a:xfrm>
            <a:prstGeom prst="roundRect">
              <a:avLst>
                <a:gd name="adj" fmla="val 12903"/>
              </a:avLst>
            </a:prstGeom>
            <a:solidFill>
              <a:srgbClr val="E1F3F0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03200" tIns="25400" rIns="203200" bIns="25400" rtlCol="0" anchor="ctr"/>
            <a:lstStyle/>
            <a:p>
              <a:r>
                <a:rPr lang="pt-BR" sz="1300" b="1">
                  <a:solidFill>
                    <a:srgbClr val="243046"/>
                  </a:solidFill>
                  <a:latin typeface="Segoe UI" panose="020B0502040204020203" pitchFamily="34" charset="0"/>
                </a:rPr>
                <a:t>Memória:</a:t>
              </a:r>
              <a:r>
                <a:rPr lang="pt-BR" sz="1300">
                  <a:solidFill>
                    <a:srgbClr val="243046"/>
                  </a:solidFill>
                  <a:latin typeface="Segoe UI" panose="020B0502040204020203" pitchFamily="34" charset="0"/>
                </a:rPr>
                <a:t> caminho atual + valores removidos pelo Forward Checking (devolvidos ao retroceder).</a:t>
              </a:r>
            </a:p>
          </p:txBody>
        </p:sp>
      </p:grpSp>
      <p:sp>
        <p:nvSpPr>
          <p:cNvPr id="25" name="Retângulo: Cantos Arredondados 24">
            <a:extLst>
              <a:ext uri="{FF2B5EF4-FFF2-40B4-BE49-F238E27FC236}">
                <a16:creationId xmlns:a16="http://schemas.microsoft.com/office/drawing/2014/main" id="{9AF381EB-4BAE-33D2-F118-264DAC6526D0}"/>
              </a:ext>
            </a:extLst>
          </p:cNvPr>
          <p:cNvSpPr/>
          <p:nvPr/>
        </p:nvSpPr>
        <p:spPr>
          <a:xfrm>
            <a:off x="609600" y="5689600"/>
            <a:ext cx="10972800" cy="508000"/>
          </a:xfrm>
          <a:prstGeom prst="roundRect">
            <a:avLst>
              <a:gd name="adj" fmla="val 20000"/>
            </a:avLst>
          </a:prstGeom>
          <a:solidFill>
            <a:srgbClr val="1B263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25400" rIns="76200" bIns="25400" rtlCol="0" anchor="ctr"/>
          <a:lstStyle/>
          <a:p>
            <a:pPr algn="ctr"/>
            <a:r>
              <a:rPr lang="pt-BR" sz="1500" b="1">
                <a:solidFill>
                  <a:srgbClr val="FFFFFF"/>
                </a:solidFill>
                <a:latin typeface="Segoe UI" panose="020B0502040204020203" pitchFamily="34" charset="0"/>
              </a:rPr>
              <a:t>Resultado: menos ramos explorados e menos retrocessos.</a:t>
            </a:r>
          </a:p>
        </p:txBody>
      </p:sp>
      <p:cxnSp>
        <p:nvCxnSpPr>
          <p:cNvPr id="26" name="Conector reto 25">
            <a:extLst>
              <a:ext uri="{FF2B5EF4-FFF2-40B4-BE49-F238E27FC236}">
                <a16:creationId xmlns:a16="http://schemas.microsoft.com/office/drawing/2014/main" id="{3E1577CC-40FF-D5C9-FB03-3A1F95B04ED3}"/>
              </a:ext>
            </a:extLst>
          </p:cNvPr>
          <p:cNvCxnSpPr/>
          <p:nvPr/>
        </p:nvCxnSpPr>
        <p:spPr>
          <a:xfrm>
            <a:off x="609600" y="6400800"/>
            <a:ext cx="10972800" cy="0"/>
          </a:xfrm>
          <a:prstGeom prst="line">
            <a:avLst/>
          </a:prstGeom>
          <a:ln w="9525">
            <a:solidFill>
              <a:srgbClr val="DB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2C0295BE-2304-D9FA-F409-3B3366A85CBE}"/>
              </a:ext>
            </a:extLst>
          </p:cNvPr>
          <p:cNvSpPr txBox="1"/>
          <p:nvPr/>
        </p:nvSpPr>
        <p:spPr>
          <a:xfrm>
            <a:off x="609600" y="6502400"/>
            <a:ext cx="8128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900">
                <a:solidFill>
                  <a:srgbClr val="647187"/>
                </a:solidFill>
                <a:latin typeface="Segoe UI" panose="020B0502040204020203" pitchFamily="34" charset="0"/>
              </a:rPr>
              <a:t>Introdução à Inteligência Artificial  ·  Tema 9 — Agendamento de Consultas/Atendimentos como PSR</a:t>
            </a:r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1DE90418-D9DD-91D4-5AAE-14AFAA42A7D6}"/>
              </a:ext>
            </a:extLst>
          </p:cNvPr>
          <p:cNvSpPr txBox="1"/>
          <p:nvPr/>
        </p:nvSpPr>
        <p:spPr>
          <a:xfrm>
            <a:off x="10058400" y="6502400"/>
            <a:ext cx="1524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pt-BR" sz="900" b="1">
                <a:solidFill>
                  <a:srgbClr val="647187"/>
                </a:solidFill>
                <a:latin typeface="Segoe UI" panose="020B0502040204020203" pitchFamily="34" charset="0"/>
              </a:rPr>
              <a:t>8 / 17</a:t>
            </a:r>
          </a:p>
        </p:txBody>
      </p:sp>
    </p:spTree>
    <p:extLst>
      <p:ext uri="{BB962C8B-B14F-4D97-AF65-F5344CB8AC3E}">
        <p14:creationId xmlns:p14="http://schemas.microsoft.com/office/powerpoint/2010/main" val="40814831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5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7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5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4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43D195DB-0CAD-92B9-05A0-816DD1E991E1}"/>
              </a:ext>
            </a:extLst>
          </p:cNvPr>
          <p:cNvSpPr/>
          <p:nvPr/>
        </p:nvSpPr>
        <p:spPr>
          <a:xfrm>
            <a:off x="0" y="0"/>
            <a:ext cx="127000" cy="6858000"/>
          </a:xfrm>
          <a:prstGeom prst="rect">
            <a:avLst/>
          </a:prstGeom>
          <a:solidFill>
            <a:srgbClr val="1B263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7E2E0789-161E-E39B-8A43-CAADCBAAC392}"/>
              </a:ext>
            </a:extLst>
          </p:cNvPr>
          <p:cNvSpPr/>
          <p:nvPr/>
        </p:nvSpPr>
        <p:spPr>
          <a:xfrm>
            <a:off x="0" y="279400"/>
            <a:ext cx="127000" cy="889000"/>
          </a:xfrm>
          <a:prstGeom prst="rect">
            <a:avLst/>
          </a:prstGeom>
          <a:solidFill>
            <a:srgbClr val="2A9D8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3DBB5E19-2AE2-B009-4BF5-D4A8CAEF993C}"/>
              </a:ext>
            </a:extLst>
          </p:cNvPr>
          <p:cNvSpPr txBox="1"/>
          <p:nvPr/>
        </p:nvSpPr>
        <p:spPr>
          <a:xfrm>
            <a:off x="609600" y="355600"/>
            <a:ext cx="8890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050" b="1" spc="160">
                <a:solidFill>
                  <a:srgbClr val="2A9D8F"/>
                </a:solidFill>
                <a:latin typeface="Segoe UI" panose="020B0502040204020203" pitchFamily="34" charset="0"/>
              </a:rPr>
              <a:t>FUNDAMENTAÇÃO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7F2CBFDD-A2D4-93B8-651E-06A229EE01E1}"/>
              </a:ext>
            </a:extLst>
          </p:cNvPr>
          <p:cNvSpPr txBox="1"/>
          <p:nvPr/>
        </p:nvSpPr>
        <p:spPr>
          <a:xfrm>
            <a:off x="609600" y="558800"/>
            <a:ext cx="94488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2600" b="1">
                <a:solidFill>
                  <a:srgbClr val="1B263B"/>
                </a:solidFill>
                <a:latin typeface="Segoe UI" panose="020B0502040204020203" pitchFamily="34" charset="0"/>
              </a:rPr>
              <a:t>Exemplo: a mesma árvore nas duas versões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CCDE9125-ED0A-358B-1EEB-B58B10F6F87B}"/>
              </a:ext>
            </a:extLst>
          </p:cNvPr>
          <p:cNvSpPr/>
          <p:nvPr/>
        </p:nvSpPr>
        <p:spPr>
          <a:xfrm>
            <a:off x="609600" y="1117600"/>
            <a:ext cx="711200" cy="44450"/>
          </a:xfrm>
          <a:prstGeom prst="rect">
            <a:avLst/>
          </a:prstGeom>
          <a:solidFill>
            <a:srgbClr val="2A9D8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D088550C-AC3C-2F41-1ACE-355D7F1CD78B}"/>
              </a:ext>
            </a:extLst>
          </p:cNvPr>
          <p:cNvSpPr txBox="1"/>
          <p:nvPr/>
        </p:nvSpPr>
        <p:spPr>
          <a:xfrm>
            <a:off x="609600" y="1295400"/>
            <a:ext cx="109728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200">
                <a:solidFill>
                  <a:srgbClr val="647187"/>
                </a:solidFill>
                <a:latin typeface="Segoe UI" panose="020B0502040204020203" pitchFamily="34" charset="0"/>
              </a:rPr>
              <a:t>Teste instancia_conflituosa  ·  A1 pode ser (P1, 10h, S1) ou (P2, 10h, S1)  ·  A2 só pode ser (P1, 10h, S2)</a:t>
            </a:r>
          </a:p>
        </p:txBody>
      </p:sp>
      <p:grpSp>
        <p:nvGrpSpPr>
          <p:cNvPr id="29" name="Agrupar 28">
            <a:extLst>
              <a:ext uri="{FF2B5EF4-FFF2-40B4-BE49-F238E27FC236}">
                <a16:creationId xmlns:a16="http://schemas.microsoft.com/office/drawing/2014/main" id="{BA77FE99-0863-2245-E0CD-2365C7497FED}"/>
              </a:ext>
            </a:extLst>
          </p:cNvPr>
          <p:cNvGrpSpPr/>
          <p:nvPr/>
        </p:nvGrpSpPr>
        <p:grpSpPr>
          <a:xfrm>
            <a:off x="609600" y="1676400"/>
            <a:ext cx="5334000" cy="4521200"/>
            <a:chOff x="609600" y="1676400"/>
            <a:chExt cx="5334000" cy="4521200"/>
          </a:xfrm>
        </p:grpSpPr>
        <p:sp>
          <p:nvSpPr>
            <p:cNvPr id="8" name="Elemento_62">
              <a:extLst>
                <a:ext uri="{FF2B5EF4-FFF2-40B4-BE49-F238E27FC236}">
                  <a16:creationId xmlns:a16="http://schemas.microsoft.com/office/drawing/2014/main" id="{4CC95321-B54B-7E09-A808-2C272378A910}"/>
                </a:ext>
              </a:extLst>
            </p:cNvPr>
            <p:cNvSpPr/>
            <p:nvPr/>
          </p:nvSpPr>
          <p:spPr>
            <a:xfrm>
              <a:off x="609600" y="1676400"/>
              <a:ext cx="5334000" cy="4521200"/>
            </a:xfrm>
            <a:prstGeom prst="roundRect">
              <a:avLst>
                <a:gd name="adj" fmla="val 2809"/>
              </a:avLst>
            </a:prstGeom>
            <a:solidFill>
              <a:srgbClr val="FFFFFF"/>
            </a:solidFill>
            <a:ln w="9525" cap="flat" cmpd="sng" algn="ctr">
              <a:solidFill>
                <a:srgbClr val="DBE2EA"/>
              </a:solidFill>
              <a:prstDash val="solid"/>
              <a:miter lim="800000"/>
            </a:ln>
            <a:effectLst>
              <a:outerShdw blurRad="152400" dist="50800" dir="5400000" rotWithShape="0">
                <a:srgbClr val="0F172A">
                  <a:alpha val="1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9" name="Elemento_63">
              <a:extLst>
                <a:ext uri="{FF2B5EF4-FFF2-40B4-BE49-F238E27FC236}">
                  <a16:creationId xmlns:a16="http://schemas.microsoft.com/office/drawing/2014/main" id="{6D259F6B-A09E-2C7A-4EF6-49532703CA04}"/>
                </a:ext>
              </a:extLst>
            </p:cNvPr>
            <p:cNvSpPr txBox="1"/>
            <p:nvPr/>
          </p:nvSpPr>
          <p:spPr>
            <a:xfrm>
              <a:off x="863600" y="1828800"/>
              <a:ext cx="3175000" cy="2540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r>
                <a:rPr lang="pt-BR" sz="1400" b="1">
                  <a:solidFill>
                    <a:srgbClr val="E76F51"/>
                  </a:solidFill>
                  <a:latin typeface="Segoe UI" panose="020B0502040204020203" pitchFamily="34" charset="0"/>
                </a:rPr>
                <a:t>Versão 1 — simples</a:t>
              </a:r>
            </a:p>
          </p:txBody>
        </p:sp>
        <p:sp>
          <p:nvSpPr>
            <p:cNvPr id="10" name="Elemento_64">
              <a:extLst>
                <a:ext uri="{FF2B5EF4-FFF2-40B4-BE49-F238E27FC236}">
                  <a16:creationId xmlns:a16="http://schemas.microsoft.com/office/drawing/2014/main" id="{8FC62212-3860-C181-8568-5F3247ABAC79}"/>
                </a:ext>
              </a:extLst>
            </p:cNvPr>
            <p:cNvSpPr txBox="1"/>
            <p:nvPr/>
          </p:nvSpPr>
          <p:spPr>
            <a:xfrm>
              <a:off x="3403600" y="1854200"/>
              <a:ext cx="2286000" cy="2286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pPr algn="r"/>
              <a:r>
                <a:rPr lang="pt-BR" sz="1050">
                  <a:solidFill>
                    <a:srgbClr val="647187"/>
                  </a:solidFill>
                  <a:latin typeface="Segoe UI" panose="020B0502040204020203" pitchFamily="34" charset="0"/>
                </a:rPr>
                <a:t>ordem fixa: A1, A2, A3…</a:t>
              </a:r>
            </a:p>
          </p:txBody>
        </p:sp>
        <p:cxnSp>
          <p:nvCxnSpPr>
            <p:cNvPr id="11" name="Elemento_65">
              <a:extLst>
                <a:ext uri="{FF2B5EF4-FFF2-40B4-BE49-F238E27FC236}">
                  <a16:creationId xmlns:a16="http://schemas.microsoft.com/office/drawing/2014/main" id="{DF9E06A1-ED8F-B4E2-E358-CD2E5F2E50FD}"/>
                </a:ext>
              </a:extLst>
            </p:cNvPr>
            <p:cNvCxnSpPr/>
            <p:nvPr/>
          </p:nvCxnSpPr>
          <p:spPr>
            <a:xfrm>
              <a:off x="863600" y="2184400"/>
              <a:ext cx="4826000" cy="0"/>
            </a:xfrm>
            <a:prstGeom prst="line">
              <a:avLst/>
            </a:prstGeom>
            <a:ln w="12700">
              <a:solidFill>
                <a:srgbClr val="DBE2E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Elemento_66">
              <a:extLst>
                <a:ext uri="{FF2B5EF4-FFF2-40B4-BE49-F238E27FC236}">
                  <a16:creationId xmlns:a16="http://schemas.microsoft.com/office/drawing/2014/main" id="{A63B806D-E6FB-3CE6-53FF-4FCE20C14FA0}"/>
                </a:ext>
              </a:extLst>
            </p:cNvPr>
            <p:cNvCxnSpPr/>
            <p:nvPr/>
          </p:nvCxnSpPr>
          <p:spPr>
            <a:xfrm flipH="1">
              <a:off x="1943100" y="2717800"/>
              <a:ext cx="1333500" cy="330200"/>
            </a:xfrm>
            <a:prstGeom prst="line">
              <a:avLst/>
            </a:prstGeom>
            <a:ln w="15875">
              <a:solidFill>
                <a:srgbClr val="64718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Elemento_67">
              <a:extLst>
                <a:ext uri="{FF2B5EF4-FFF2-40B4-BE49-F238E27FC236}">
                  <a16:creationId xmlns:a16="http://schemas.microsoft.com/office/drawing/2014/main" id="{F92135E9-91C0-0003-6C7B-473E7EA84995}"/>
                </a:ext>
              </a:extLst>
            </p:cNvPr>
            <p:cNvCxnSpPr/>
            <p:nvPr/>
          </p:nvCxnSpPr>
          <p:spPr>
            <a:xfrm>
              <a:off x="3276600" y="2717800"/>
              <a:ext cx="1333500" cy="330200"/>
            </a:xfrm>
            <a:prstGeom prst="line">
              <a:avLst/>
            </a:prstGeom>
            <a:ln w="15875">
              <a:solidFill>
                <a:srgbClr val="64718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Elemento_68">
              <a:extLst>
                <a:ext uri="{FF2B5EF4-FFF2-40B4-BE49-F238E27FC236}">
                  <a16:creationId xmlns:a16="http://schemas.microsoft.com/office/drawing/2014/main" id="{DF39083C-E3BB-13A6-2476-19895B36C9AD}"/>
                </a:ext>
              </a:extLst>
            </p:cNvPr>
            <p:cNvCxnSpPr/>
            <p:nvPr/>
          </p:nvCxnSpPr>
          <p:spPr>
            <a:xfrm>
              <a:off x="1943100" y="3479800"/>
              <a:ext cx="0" cy="482600"/>
            </a:xfrm>
            <a:prstGeom prst="line">
              <a:avLst/>
            </a:prstGeom>
            <a:ln w="15875">
              <a:solidFill>
                <a:srgbClr val="64718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Elemento_69">
              <a:extLst>
                <a:ext uri="{FF2B5EF4-FFF2-40B4-BE49-F238E27FC236}">
                  <a16:creationId xmlns:a16="http://schemas.microsoft.com/office/drawing/2014/main" id="{69FF96F0-B6B1-FA61-519A-CBC43E5B39EF}"/>
                </a:ext>
              </a:extLst>
            </p:cNvPr>
            <p:cNvCxnSpPr/>
            <p:nvPr/>
          </p:nvCxnSpPr>
          <p:spPr>
            <a:xfrm>
              <a:off x="4610100" y="3479800"/>
              <a:ext cx="0" cy="482600"/>
            </a:xfrm>
            <a:prstGeom prst="line">
              <a:avLst/>
            </a:prstGeom>
            <a:ln w="15875">
              <a:solidFill>
                <a:srgbClr val="64718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Elemento_70">
              <a:extLst>
                <a:ext uri="{FF2B5EF4-FFF2-40B4-BE49-F238E27FC236}">
                  <a16:creationId xmlns:a16="http://schemas.microsoft.com/office/drawing/2014/main" id="{A0649008-4AC6-D7A0-3BEA-CFF763D8AB8D}"/>
                </a:ext>
              </a:extLst>
            </p:cNvPr>
            <p:cNvCxnSpPr/>
            <p:nvPr/>
          </p:nvCxnSpPr>
          <p:spPr>
            <a:xfrm>
              <a:off x="4610100" y="4394200"/>
              <a:ext cx="0" cy="482600"/>
            </a:xfrm>
            <a:prstGeom prst="line">
              <a:avLst/>
            </a:prstGeom>
            <a:ln w="15875">
              <a:solidFill>
                <a:srgbClr val="64718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Elemento_71">
              <a:extLst>
                <a:ext uri="{FF2B5EF4-FFF2-40B4-BE49-F238E27FC236}">
                  <a16:creationId xmlns:a16="http://schemas.microsoft.com/office/drawing/2014/main" id="{F8B3ADEF-9381-18B2-86DE-7B74180BEE88}"/>
                </a:ext>
              </a:extLst>
            </p:cNvPr>
            <p:cNvSpPr txBox="1"/>
            <p:nvPr/>
          </p:nvSpPr>
          <p:spPr>
            <a:xfrm>
              <a:off x="2311400" y="2717800"/>
              <a:ext cx="381000" cy="1778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r>
                <a:rPr lang="pt-BR" sz="1000" b="1">
                  <a:solidFill>
                    <a:srgbClr val="647187"/>
                  </a:solidFill>
                  <a:latin typeface="Segoe UI" panose="020B0502040204020203" pitchFamily="34" charset="0"/>
                </a:rPr>
                <a:t>1º</a:t>
              </a:r>
            </a:p>
          </p:txBody>
        </p:sp>
        <p:sp>
          <p:nvSpPr>
            <p:cNvPr id="18" name="Elemento_72">
              <a:extLst>
                <a:ext uri="{FF2B5EF4-FFF2-40B4-BE49-F238E27FC236}">
                  <a16:creationId xmlns:a16="http://schemas.microsoft.com/office/drawing/2014/main" id="{24B4340F-20D3-41D8-FB6C-FD4276230ED8}"/>
                </a:ext>
              </a:extLst>
            </p:cNvPr>
            <p:cNvSpPr txBox="1"/>
            <p:nvPr/>
          </p:nvSpPr>
          <p:spPr>
            <a:xfrm>
              <a:off x="4038600" y="2717800"/>
              <a:ext cx="381000" cy="1778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r>
                <a:rPr lang="pt-BR" sz="1000" b="1">
                  <a:solidFill>
                    <a:srgbClr val="647187"/>
                  </a:solidFill>
                  <a:latin typeface="Segoe UI" panose="020B0502040204020203" pitchFamily="34" charset="0"/>
                </a:rPr>
                <a:t>2º</a:t>
              </a:r>
            </a:p>
          </p:txBody>
        </p:sp>
        <p:sp>
          <p:nvSpPr>
            <p:cNvPr id="19" name="Elemento_73">
              <a:extLst>
                <a:ext uri="{FF2B5EF4-FFF2-40B4-BE49-F238E27FC236}">
                  <a16:creationId xmlns:a16="http://schemas.microsoft.com/office/drawing/2014/main" id="{24BEB275-BE6C-BFD0-CE6A-99396EC0E2A5}"/>
                </a:ext>
              </a:extLst>
            </p:cNvPr>
            <p:cNvSpPr/>
            <p:nvPr/>
          </p:nvSpPr>
          <p:spPr>
            <a:xfrm>
              <a:off x="2768600" y="2387600"/>
              <a:ext cx="1016000" cy="330200"/>
            </a:xfrm>
            <a:prstGeom prst="roundRect">
              <a:avLst>
                <a:gd name="adj" fmla="val 30769"/>
              </a:avLst>
            </a:prstGeom>
            <a:solidFill>
              <a:srgbClr val="F2F5F9"/>
            </a:solidFill>
            <a:ln w="15875" cap="flat" cmpd="sng" algn="ctr">
              <a:solidFill>
                <a:srgbClr val="DBE2EA"/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25400" tIns="25400" rIns="25400" bIns="25400" rtlCol="0" anchor="ctr">
              <a:noAutofit/>
            </a:bodyPr>
            <a:lstStyle/>
            <a:p>
              <a:pPr algn="ctr"/>
              <a:r>
                <a:rPr lang="pt-BR" sz="1100" b="1">
                  <a:solidFill>
                    <a:srgbClr val="647187"/>
                  </a:solidFill>
                  <a:latin typeface="Segoe UI" panose="020B0502040204020203" pitchFamily="34" charset="0"/>
                </a:rPr>
                <a:t>raiz</a:t>
              </a:r>
            </a:p>
          </p:txBody>
        </p:sp>
        <p:sp>
          <p:nvSpPr>
            <p:cNvPr id="20" name="Elemento_74">
              <a:extLst>
                <a:ext uri="{FF2B5EF4-FFF2-40B4-BE49-F238E27FC236}">
                  <a16:creationId xmlns:a16="http://schemas.microsoft.com/office/drawing/2014/main" id="{A17CA8CF-9DA9-A1B0-0038-3C7AFF8306BF}"/>
                </a:ext>
              </a:extLst>
            </p:cNvPr>
            <p:cNvSpPr/>
            <p:nvPr/>
          </p:nvSpPr>
          <p:spPr>
            <a:xfrm>
              <a:off x="990600" y="3048000"/>
              <a:ext cx="1905000" cy="431800"/>
            </a:xfrm>
            <a:prstGeom prst="roundRect">
              <a:avLst>
                <a:gd name="adj" fmla="val 23529"/>
              </a:avLst>
            </a:prstGeom>
            <a:solidFill>
              <a:srgbClr val="FFFFFF"/>
            </a:solidFill>
            <a:ln w="15875" cap="flat" cmpd="sng" algn="ctr">
              <a:solidFill>
                <a:srgbClr val="647187"/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25400" tIns="25400" rIns="25400" bIns="25400" rtlCol="0" anchor="ctr">
              <a:noAutofit/>
            </a:bodyPr>
            <a:lstStyle/>
            <a:p>
              <a:pPr algn="ctr"/>
              <a:r>
                <a:rPr lang="pt-BR" sz="1100" b="1">
                  <a:solidFill>
                    <a:srgbClr val="243046"/>
                  </a:solidFill>
                  <a:latin typeface="Segoe UI" panose="020B0502040204020203" pitchFamily="34" charset="0"/>
                </a:rPr>
                <a:t>A1 = (P1, 10h, S1)</a:t>
              </a:r>
            </a:p>
          </p:txBody>
        </p:sp>
        <p:sp>
          <p:nvSpPr>
            <p:cNvPr id="21" name="Elemento_75">
              <a:extLst>
                <a:ext uri="{FF2B5EF4-FFF2-40B4-BE49-F238E27FC236}">
                  <a16:creationId xmlns:a16="http://schemas.microsoft.com/office/drawing/2014/main" id="{D3BC41D8-F97E-2FFA-4F9D-20681AC4115D}"/>
                </a:ext>
              </a:extLst>
            </p:cNvPr>
            <p:cNvSpPr/>
            <p:nvPr/>
          </p:nvSpPr>
          <p:spPr>
            <a:xfrm>
              <a:off x="3657600" y="3048000"/>
              <a:ext cx="1905000" cy="431800"/>
            </a:xfrm>
            <a:prstGeom prst="roundRect">
              <a:avLst>
                <a:gd name="adj" fmla="val 23529"/>
              </a:avLst>
            </a:prstGeom>
            <a:solidFill>
              <a:srgbClr val="FFFFFF"/>
            </a:solidFill>
            <a:ln w="15875" cap="flat" cmpd="sng" algn="ctr">
              <a:solidFill>
                <a:srgbClr val="647187"/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25400" tIns="25400" rIns="25400" bIns="25400" rtlCol="0" anchor="ctr">
              <a:noAutofit/>
            </a:bodyPr>
            <a:lstStyle/>
            <a:p>
              <a:pPr algn="ctr"/>
              <a:r>
                <a:rPr lang="pt-BR" sz="1100" b="1">
                  <a:solidFill>
                    <a:srgbClr val="243046"/>
                  </a:solidFill>
                  <a:latin typeface="Segoe UI" panose="020B0502040204020203" pitchFamily="34" charset="0"/>
                </a:rPr>
                <a:t>A1 = (P2, 10h, S1)</a:t>
              </a:r>
            </a:p>
          </p:txBody>
        </p:sp>
        <p:sp>
          <p:nvSpPr>
            <p:cNvPr id="22" name="Elemento_76">
              <a:extLst>
                <a:ext uri="{FF2B5EF4-FFF2-40B4-BE49-F238E27FC236}">
                  <a16:creationId xmlns:a16="http://schemas.microsoft.com/office/drawing/2014/main" id="{78715DAC-BBE5-BB73-E0A6-82939F59CE10}"/>
                </a:ext>
              </a:extLst>
            </p:cNvPr>
            <p:cNvSpPr/>
            <p:nvPr/>
          </p:nvSpPr>
          <p:spPr>
            <a:xfrm>
              <a:off x="990600" y="3962400"/>
              <a:ext cx="1905000" cy="431800"/>
            </a:xfrm>
            <a:prstGeom prst="roundRect">
              <a:avLst>
                <a:gd name="adj" fmla="val 23529"/>
              </a:avLst>
            </a:prstGeom>
            <a:solidFill>
              <a:srgbClr val="FBE6E6"/>
            </a:solidFill>
            <a:ln w="15875" cap="flat" cmpd="sng" algn="ctr">
              <a:solidFill>
                <a:srgbClr val="C83C3C"/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25400" tIns="25400" rIns="25400" bIns="25400" rtlCol="0" anchor="ctr">
              <a:noAutofit/>
            </a:bodyPr>
            <a:lstStyle/>
            <a:p>
              <a:pPr algn="ctr"/>
              <a:r>
                <a:rPr lang="pt-BR" sz="1100" b="1">
                  <a:solidFill>
                    <a:srgbClr val="C83C3C"/>
                  </a:solidFill>
                  <a:latin typeface="Segoe UI" panose="020B0502040204020203" pitchFamily="34" charset="0"/>
                </a:rPr>
                <a:t>A2: sem valor  </a:t>
              </a:r>
              <a:r>
                <a:rPr lang="pt-BR" sz="1100" b="1">
                  <a:solidFill>
                    <a:srgbClr val="C83C3C"/>
                  </a:solidFill>
                  <a:latin typeface="Segoe UI Symbol" panose="020B0502040204020203" pitchFamily="34" charset="0"/>
                </a:rPr>
                <a:t>✗</a:t>
              </a:r>
            </a:p>
          </p:txBody>
        </p:sp>
        <p:sp>
          <p:nvSpPr>
            <p:cNvPr id="23" name="Elemento_77">
              <a:extLst>
                <a:ext uri="{FF2B5EF4-FFF2-40B4-BE49-F238E27FC236}">
                  <a16:creationId xmlns:a16="http://schemas.microsoft.com/office/drawing/2014/main" id="{4E796F35-996D-08D5-69F8-BE4F37D22046}"/>
                </a:ext>
              </a:extLst>
            </p:cNvPr>
            <p:cNvSpPr/>
            <p:nvPr/>
          </p:nvSpPr>
          <p:spPr>
            <a:xfrm>
              <a:off x="3657600" y="3962400"/>
              <a:ext cx="1905000" cy="431800"/>
            </a:xfrm>
            <a:prstGeom prst="roundRect">
              <a:avLst>
                <a:gd name="adj" fmla="val 23529"/>
              </a:avLst>
            </a:prstGeom>
            <a:solidFill>
              <a:srgbClr val="E2F5E7"/>
            </a:solidFill>
            <a:ln w="15875" cap="flat" cmpd="sng" algn="ctr">
              <a:solidFill>
                <a:srgbClr val="279648"/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25400" tIns="25400" rIns="25400" bIns="25400" rtlCol="0" anchor="ctr">
              <a:noAutofit/>
            </a:bodyPr>
            <a:lstStyle/>
            <a:p>
              <a:pPr algn="ctr"/>
              <a:r>
                <a:rPr lang="pt-BR" sz="1100" b="1">
                  <a:solidFill>
                    <a:srgbClr val="279648"/>
                  </a:solidFill>
                  <a:latin typeface="Segoe UI" panose="020B0502040204020203" pitchFamily="34" charset="0"/>
                </a:rPr>
                <a:t>A2 = (P1, 10h, S2)  </a:t>
              </a:r>
              <a:r>
                <a:rPr lang="pt-BR" sz="1100" b="1">
                  <a:solidFill>
                    <a:srgbClr val="279648"/>
                  </a:solidFill>
                  <a:latin typeface="Segoe UI Symbol" panose="020B0502040204020203" pitchFamily="34" charset="0"/>
                </a:rPr>
                <a:t>✓</a:t>
              </a:r>
            </a:p>
          </p:txBody>
        </p:sp>
        <p:sp>
          <p:nvSpPr>
            <p:cNvPr id="24" name="Elemento_78">
              <a:extLst>
                <a:ext uri="{FF2B5EF4-FFF2-40B4-BE49-F238E27FC236}">
                  <a16:creationId xmlns:a16="http://schemas.microsoft.com/office/drawing/2014/main" id="{C89C3137-75D2-8736-3FCB-DC9A2166FA3D}"/>
                </a:ext>
              </a:extLst>
            </p:cNvPr>
            <p:cNvSpPr/>
            <p:nvPr/>
          </p:nvSpPr>
          <p:spPr>
            <a:xfrm>
              <a:off x="4102100" y="4876800"/>
              <a:ext cx="1016000" cy="330200"/>
            </a:xfrm>
            <a:prstGeom prst="roundRect">
              <a:avLst>
                <a:gd name="adj" fmla="val 30769"/>
              </a:avLst>
            </a:prstGeom>
            <a:solidFill>
              <a:srgbClr val="F2F5F9"/>
            </a:solidFill>
            <a:ln w="15875" cap="flat" cmpd="sng" algn="ctr">
              <a:solidFill>
                <a:srgbClr val="DBE2EA"/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25400" tIns="25400" rIns="25400" bIns="25400" rtlCol="0" anchor="ctr">
              <a:noAutofit/>
            </a:bodyPr>
            <a:lstStyle/>
            <a:p>
              <a:pPr algn="ctr"/>
              <a:r>
                <a:rPr lang="pt-BR" sz="1100" b="1">
                  <a:solidFill>
                    <a:srgbClr val="647187"/>
                  </a:solidFill>
                  <a:latin typeface="Segoe UI" panose="020B0502040204020203" pitchFamily="34" charset="0"/>
                </a:rPr>
                <a:t>A3 …</a:t>
              </a:r>
            </a:p>
          </p:txBody>
        </p:sp>
        <p:cxnSp>
          <p:nvCxnSpPr>
            <p:cNvPr id="25" name="Elemento_79">
              <a:extLst>
                <a:ext uri="{FF2B5EF4-FFF2-40B4-BE49-F238E27FC236}">
                  <a16:creationId xmlns:a16="http://schemas.microsoft.com/office/drawing/2014/main" id="{4B0EEACD-722E-AE9F-327C-9148E8EEAE83}"/>
                </a:ext>
              </a:extLst>
            </p:cNvPr>
            <p:cNvCxnSpPr/>
            <p:nvPr/>
          </p:nvCxnSpPr>
          <p:spPr>
            <a:xfrm flipV="1">
              <a:off x="1244600" y="3505200"/>
              <a:ext cx="0" cy="457200"/>
            </a:xfrm>
            <a:prstGeom prst="line">
              <a:avLst/>
            </a:prstGeom>
            <a:ln w="22225">
              <a:solidFill>
                <a:srgbClr val="C83C3C"/>
              </a:solidFill>
              <a:prstDash val="dash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Elemento_80">
              <a:extLst>
                <a:ext uri="{FF2B5EF4-FFF2-40B4-BE49-F238E27FC236}">
                  <a16:creationId xmlns:a16="http://schemas.microsoft.com/office/drawing/2014/main" id="{4F2345B0-21C2-608A-D911-7F46328132F4}"/>
                </a:ext>
              </a:extLst>
            </p:cNvPr>
            <p:cNvCxnSpPr/>
            <p:nvPr/>
          </p:nvCxnSpPr>
          <p:spPr>
            <a:xfrm>
              <a:off x="2895600" y="3263900"/>
              <a:ext cx="736600" cy="0"/>
            </a:xfrm>
            <a:prstGeom prst="line">
              <a:avLst/>
            </a:prstGeom>
            <a:ln w="22225">
              <a:solidFill>
                <a:srgbClr val="C83C3C"/>
              </a:solidFill>
              <a:prstDash val="dash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Elemento_81">
              <a:extLst>
                <a:ext uri="{FF2B5EF4-FFF2-40B4-BE49-F238E27FC236}">
                  <a16:creationId xmlns:a16="http://schemas.microsoft.com/office/drawing/2014/main" id="{1A7BFA11-97BC-C12B-4A2F-CF2B244E5345}"/>
                </a:ext>
              </a:extLst>
            </p:cNvPr>
            <p:cNvSpPr txBox="1"/>
            <p:nvPr/>
          </p:nvSpPr>
          <p:spPr>
            <a:xfrm>
              <a:off x="889000" y="4470400"/>
              <a:ext cx="2540000" cy="5080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r>
                <a:rPr lang="pt-BR" sz="1000">
                  <a:solidFill>
                    <a:srgbClr val="C83C3C"/>
                  </a:solidFill>
                  <a:latin typeface="Segoe UI" panose="020B0502040204020203" pitchFamily="34" charset="0"/>
                </a:rPr>
                <a:t>P1 já está ocupado às 10h por A1 → retrocede, desfaz A1 e tenta o próximo valor</a:t>
              </a:r>
            </a:p>
          </p:txBody>
        </p:sp>
        <p:sp>
          <p:nvSpPr>
            <p:cNvPr id="28" name="Elemento_82">
              <a:extLst>
                <a:ext uri="{FF2B5EF4-FFF2-40B4-BE49-F238E27FC236}">
                  <a16:creationId xmlns:a16="http://schemas.microsoft.com/office/drawing/2014/main" id="{59EC5375-FBD9-DD89-2EBE-EF6698D435D5}"/>
                </a:ext>
              </a:extLst>
            </p:cNvPr>
            <p:cNvSpPr/>
            <p:nvPr/>
          </p:nvSpPr>
          <p:spPr>
            <a:xfrm>
              <a:off x="863600" y="5562600"/>
              <a:ext cx="4826000" cy="457200"/>
            </a:xfrm>
            <a:prstGeom prst="roundRect">
              <a:avLst>
                <a:gd name="adj" fmla="val 22222"/>
              </a:avLst>
            </a:prstGeom>
            <a:solidFill>
              <a:srgbClr val="FCE9E3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6200" tIns="25400" rIns="76200" bIns="25400" rtlCol="0" anchor="ctr"/>
            <a:lstStyle/>
            <a:p>
              <a:pPr algn="ctr"/>
              <a:r>
                <a:rPr lang="pt-BR" sz="1200" b="1">
                  <a:solidFill>
                    <a:srgbClr val="E76F51"/>
                  </a:solidFill>
                  <a:latin typeface="Segoe UI" panose="020B0502040204020203" pitchFamily="34" charset="0"/>
                </a:rPr>
                <a:t>1 retrocesso — o erro só aparece no nível de A2</a:t>
              </a:r>
            </a:p>
          </p:txBody>
        </p:sp>
      </p:grpSp>
      <p:grpSp>
        <p:nvGrpSpPr>
          <p:cNvPr id="45" name="Agrupar 44">
            <a:extLst>
              <a:ext uri="{FF2B5EF4-FFF2-40B4-BE49-F238E27FC236}">
                <a16:creationId xmlns:a16="http://schemas.microsoft.com/office/drawing/2014/main" id="{8C65C390-4E07-A594-66A1-7537DA5F4CA3}"/>
              </a:ext>
            </a:extLst>
          </p:cNvPr>
          <p:cNvGrpSpPr/>
          <p:nvPr/>
        </p:nvGrpSpPr>
        <p:grpSpPr>
          <a:xfrm>
            <a:off x="6248400" y="1676400"/>
            <a:ext cx="5334000" cy="4521200"/>
            <a:chOff x="6248400" y="1676400"/>
            <a:chExt cx="5334000" cy="4521200"/>
          </a:xfrm>
        </p:grpSpPr>
        <p:sp>
          <p:nvSpPr>
            <p:cNvPr id="30" name="Elemento_83">
              <a:extLst>
                <a:ext uri="{FF2B5EF4-FFF2-40B4-BE49-F238E27FC236}">
                  <a16:creationId xmlns:a16="http://schemas.microsoft.com/office/drawing/2014/main" id="{7E1E82B3-944E-6970-2450-03D802785E64}"/>
                </a:ext>
              </a:extLst>
            </p:cNvPr>
            <p:cNvSpPr/>
            <p:nvPr/>
          </p:nvSpPr>
          <p:spPr>
            <a:xfrm>
              <a:off x="6248400" y="1676400"/>
              <a:ext cx="5334000" cy="4521200"/>
            </a:xfrm>
            <a:prstGeom prst="roundRect">
              <a:avLst>
                <a:gd name="adj" fmla="val 2809"/>
              </a:avLst>
            </a:prstGeom>
            <a:solidFill>
              <a:srgbClr val="FFFFFF"/>
            </a:solidFill>
            <a:ln w="9525" cap="flat" cmpd="sng" algn="ctr">
              <a:solidFill>
                <a:srgbClr val="DBE2EA"/>
              </a:solidFill>
              <a:prstDash val="solid"/>
              <a:miter lim="800000"/>
            </a:ln>
            <a:effectLst>
              <a:outerShdw blurRad="152400" dist="50800" dir="5400000" rotWithShape="0">
                <a:srgbClr val="0F172A">
                  <a:alpha val="1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1" name="Elemento_84">
              <a:extLst>
                <a:ext uri="{FF2B5EF4-FFF2-40B4-BE49-F238E27FC236}">
                  <a16:creationId xmlns:a16="http://schemas.microsoft.com/office/drawing/2014/main" id="{625825B2-55C4-A1DE-999F-5F57D5F1EB2A}"/>
                </a:ext>
              </a:extLst>
            </p:cNvPr>
            <p:cNvSpPr txBox="1"/>
            <p:nvPr/>
          </p:nvSpPr>
          <p:spPr>
            <a:xfrm>
              <a:off x="6502400" y="1828800"/>
              <a:ext cx="3175000" cy="2540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r>
                <a:rPr lang="pt-BR" sz="1400" b="1">
                  <a:solidFill>
                    <a:srgbClr val="2A9D8F"/>
                  </a:solidFill>
                  <a:latin typeface="Segoe UI" panose="020B0502040204020203" pitchFamily="34" charset="0"/>
                </a:rPr>
                <a:t>Versão 2 — aprimorado</a:t>
              </a:r>
            </a:p>
          </p:txBody>
        </p:sp>
        <p:sp>
          <p:nvSpPr>
            <p:cNvPr id="32" name="Elemento_85">
              <a:extLst>
                <a:ext uri="{FF2B5EF4-FFF2-40B4-BE49-F238E27FC236}">
                  <a16:creationId xmlns:a16="http://schemas.microsoft.com/office/drawing/2014/main" id="{7D8CAEF9-0D14-8341-A9A2-A8CC739C7D00}"/>
                </a:ext>
              </a:extLst>
            </p:cNvPr>
            <p:cNvSpPr txBox="1"/>
            <p:nvPr/>
          </p:nvSpPr>
          <p:spPr>
            <a:xfrm>
              <a:off x="8432800" y="1854200"/>
              <a:ext cx="2286000" cy="2286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pPr algn="r"/>
              <a:r>
                <a:rPr lang="pt-BR" sz="1050">
                  <a:solidFill>
                    <a:srgbClr val="647187"/>
                  </a:solidFill>
                  <a:latin typeface="Segoe UI" panose="020B0502040204020203" pitchFamily="34" charset="0"/>
                </a:rPr>
                <a:t>MRV + Forward Checking</a:t>
              </a:r>
            </a:p>
          </p:txBody>
        </p:sp>
        <p:cxnSp>
          <p:nvCxnSpPr>
            <p:cNvPr id="33" name="Elemento_86">
              <a:extLst>
                <a:ext uri="{FF2B5EF4-FFF2-40B4-BE49-F238E27FC236}">
                  <a16:creationId xmlns:a16="http://schemas.microsoft.com/office/drawing/2014/main" id="{4996B6A6-91C6-27D6-4304-5A7A7B7F062A}"/>
                </a:ext>
              </a:extLst>
            </p:cNvPr>
            <p:cNvCxnSpPr/>
            <p:nvPr/>
          </p:nvCxnSpPr>
          <p:spPr>
            <a:xfrm>
              <a:off x="6502400" y="2184400"/>
              <a:ext cx="4826000" cy="0"/>
            </a:xfrm>
            <a:prstGeom prst="line">
              <a:avLst/>
            </a:prstGeom>
            <a:ln w="12700">
              <a:solidFill>
                <a:srgbClr val="DBE2E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Elemento_87">
              <a:extLst>
                <a:ext uri="{FF2B5EF4-FFF2-40B4-BE49-F238E27FC236}">
                  <a16:creationId xmlns:a16="http://schemas.microsoft.com/office/drawing/2014/main" id="{7985A063-DF1E-FFF7-6A91-02317A949BB4}"/>
                </a:ext>
              </a:extLst>
            </p:cNvPr>
            <p:cNvCxnSpPr/>
            <p:nvPr/>
          </p:nvCxnSpPr>
          <p:spPr>
            <a:xfrm>
              <a:off x="8915400" y="2717800"/>
              <a:ext cx="0" cy="330200"/>
            </a:xfrm>
            <a:prstGeom prst="line">
              <a:avLst/>
            </a:prstGeom>
            <a:ln w="15875">
              <a:solidFill>
                <a:srgbClr val="64718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Elemento_88">
              <a:extLst>
                <a:ext uri="{FF2B5EF4-FFF2-40B4-BE49-F238E27FC236}">
                  <a16:creationId xmlns:a16="http://schemas.microsoft.com/office/drawing/2014/main" id="{DEAF973A-33A4-95A6-C086-1A8BD7B1C60B}"/>
                </a:ext>
              </a:extLst>
            </p:cNvPr>
            <p:cNvCxnSpPr/>
            <p:nvPr/>
          </p:nvCxnSpPr>
          <p:spPr>
            <a:xfrm>
              <a:off x="8915400" y="3479800"/>
              <a:ext cx="0" cy="482600"/>
            </a:xfrm>
            <a:prstGeom prst="line">
              <a:avLst/>
            </a:prstGeom>
            <a:ln w="15875">
              <a:solidFill>
                <a:srgbClr val="64718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Elemento_89">
              <a:extLst>
                <a:ext uri="{FF2B5EF4-FFF2-40B4-BE49-F238E27FC236}">
                  <a16:creationId xmlns:a16="http://schemas.microsoft.com/office/drawing/2014/main" id="{BB460753-9EEF-61A6-5E23-850B70A12805}"/>
                </a:ext>
              </a:extLst>
            </p:cNvPr>
            <p:cNvCxnSpPr/>
            <p:nvPr/>
          </p:nvCxnSpPr>
          <p:spPr>
            <a:xfrm>
              <a:off x="8915400" y="4394200"/>
              <a:ext cx="0" cy="482600"/>
            </a:xfrm>
            <a:prstGeom prst="line">
              <a:avLst/>
            </a:prstGeom>
            <a:ln w="15875">
              <a:solidFill>
                <a:srgbClr val="64718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Elemento_90">
              <a:extLst>
                <a:ext uri="{FF2B5EF4-FFF2-40B4-BE49-F238E27FC236}">
                  <a16:creationId xmlns:a16="http://schemas.microsoft.com/office/drawing/2014/main" id="{BD86C52E-41BD-C28E-DEAE-22E406F22C3C}"/>
                </a:ext>
              </a:extLst>
            </p:cNvPr>
            <p:cNvSpPr/>
            <p:nvPr/>
          </p:nvSpPr>
          <p:spPr>
            <a:xfrm>
              <a:off x="8407400" y="2387600"/>
              <a:ext cx="1016000" cy="330200"/>
            </a:xfrm>
            <a:prstGeom prst="roundRect">
              <a:avLst>
                <a:gd name="adj" fmla="val 30769"/>
              </a:avLst>
            </a:prstGeom>
            <a:solidFill>
              <a:srgbClr val="F2F5F9"/>
            </a:solidFill>
            <a:ln w="15875" cap="flat" cmpd="sng" algn="ctr">
              <a:solidFill>
                <a:srgbClr val="DBE2EA"/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25400" tIns="25400" rIns="25400" bIns="25400" rtlCol="0" anchor="ctr">
              <a:noAutofit/>
            </a:bodyPr>
            <a:lstStyle/>
            <a:p>
              <a:pPr algn="ctr"/>
              <a:r>
                <a:rPr lang="pt-BR" sz="1100" b="1">
                  <a:solidFill>
                    <a:srgbClr val="647187"/>
                  </a:solidFill>
                  <a:latin typeface="Segoe UI" panose="020B0502040204020203" pitchFamily="34" charset="0"/>
                </a:rPr>
                <a:t>raiz</a:t>
              </a:r>
            </a:p>
          </p:txBody>
        </p:sp>
        <p:sp>
          <p:nvSpPr>
            <p:cNvPr id="38" name="Elemento_91">
              <a:extLst>
                <a:ext uri="{FF2B5EF4-FFF2-40B4-BE49-F238E27FC236}">
                  <a16:creationId xmlns:a16="http://schemas.microsoft.com/office/drawing/2014/main" id="{73FBF81C-FA25-FDD6-CC7A-C40F3671E63A}"/>
                </a:ext>
              </a:extLst>
            </p:cNvPr>
            <p:cNvSpPr/>
            <p:nvPr/>
          </p:nvSpPr>
          <p:spPr>
            <a:xfrm>
              <a:off x="7962900" y="3048000"/>
              <a:ext cx="1905000" cy="431800"/>
            </a:xfrm>
            <a:prstGeom prst="roundRect">
              <a:avLst>
                <a:gd name="adj" fmla="val 23529"/>
              </a:avLst>
            </a:prstGeom>
            <a:solidFill>
              <a:srgbClr val="E2F5E7"/>
            </a:solidFill>
            <a:ln w="15875" cap="flat" cmpd="sng" algn="ctr">
              <a:solidFill>
                <a:srgbClr val="279648"/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25400" tIns="25400" rIns="25400" bIns="25400" rtlCol="0" anchor="ctr">
              <a:noAutofit/>
            </a:bodyPr>
            <a:lstStyle/>
            <a:p>
              <a:pPr algn="ctr"/>
              <a:r>
                <a:rPr lang="pt-BR" sz="1100" b="1">
                  <a:solidFill>
                    <a:srgbClr val="279648"/>
                  </a:solidFill>
                  <a:latin typeface="Segoe UI" panose="020B0502040204020203" pitchFamily="34" charset="0"/>
                </a:rPr>
                <a:t>A2 = (P1, 10h, S2)  </a:t>
              </a:r>
              <a:r>
                <a:rPr lang="pt-BR" sz="1100" b="1">
                  <a:solidFill>
                    <a:srgbClr val="279648"/>
                  </a:solidFill>
                  <a:latin typeface="Segoe UI Symbol" panose="020B0502040204020203" pitchFamily="34" charset="0"/>
                </a:rPr>
                <a:t>✓</a:t>
              </a:r>
            </a:p>
          </p:txBody>
        </p:sp>
        <p:sp>
          <p:nvSpPr>
            <p:cNvPr id="39" name="Elemento_92">
              <a:extLst>
                <a:ext uri="{FF2B5EF4-FFF2-40B4-BE49-F238E27FC236}">
                  <a16:creationId xmlns:a16="http://schemas.microsoft.com/office/drawing/2014/main" id="{34B1D00A-D2C3-E193-4278-D802DE45F5ED}"/>
                </a:ext>
              </a:extLst>
            </p:cNvPr>
            <p:cNvSpPr/>
            <p:nvPr/>
          </p:nvSpPr>
          <p:spPr>
            <a:xfrm>
              <a:off x="7962900" y="3962400"/>
              <a:ext cx="1905000" cy="431800"/>
            </a:xfrm>
            <a:prstGeom prst="roundRect">
              <a:avLst>
                <a:gd name="adj" fmla="val 23529"/>
              </a:avLst>
            </a:prstGeom>
            <a:solidFill>
              <a:srgbClr val="E2F5E7"/>
            </a:solidFill>
            <a:ln w="15875" cap="flat" cmpd="sng" algn="ctr">
              <a:solidFill>
                <a:srgbClr val="279648"/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25400" tIns="25400" rIns="25400" bIns="25400" rtlCol="0" anchor="ctr">
              <a:noAutofit/>
            </a:bodyPr>
            <a:lstStyle/>
            <a:p>
              <a:pPr algn="ctr"/>
              <a:r>
                <a:rPr lang="pt-BR" sz="1100" b="1">
                  <a:solidFill>
                    <a:srgbClr val="279648"/>
                  </a:solidFill>
                  <a:latin typeface="Segoe UI" panose="020B0502040204020203" pitchFamily="34" charset="0"/>
                </a:rPr>
                <a:t>A1 = (P2, 10h, S1)  </a:t>
              </a:r>
              <a:r>
                <a:rPr lang="pt-BR" sz="1100" b="1">
                  <a:solidFill>
                    <a:srgbClr val="279648"/>
                  </a:solidFill>
                  <a:latin typeface="Segoe UI Symbol" panose="020B0502040204020203" pitchFamily="34" charset="0"/>
                </a:rPr>
                <a:t>✓</a:t>
              </a:r>
            </a:p>
          </p:txBody>
        </p:sp>
        <p:sp>
          <p:nvSpPr>
            <p:cNvPr id="40" name="Elemento_93">
              <a:extLst>
                <a:ext uri="{FF2B5EF4-FFF2-40B4-BE49-F238E27FC236}">
                  <a16:creationId xmlns:a16="http://schemas.microsoft.com/office/drawing/2014/main" id="{38814FFF-204A-10E5-2038-58B62D48119A}"/>
                </a:ext>
              </a:extLst>
            </p:cNvPr>
            <p:cNvSpPr/>
            <p:nvPr/>
          </p:nvSpPr>
          <p:spPr>
            <a:xfrm>
              <a:off x="8407400" y="4876800"/>
              <a:ext cx="1016000" cy="330200"/>
            </a:xfrm>
            <a:prstGeom prst="roundRect">
              <a:avLst>
                <a:gd name="adj" fmla="val 30769"/>
              </a:avLst>
            </a:prstGeom>
            <a:solidFill>
              <a:srgbClr val="F2F5F9"/>
            </a:solidFill>
            <a:ln w="15875" cap="flat" cmpd="sng" algn="ctr">
              <a:solidFill>
                <a:srgbClr val="DBE2EA"/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25400" tIns="25400" rIns="25400" bIns="25400" rtlCol="0" anchor="ctr">
              <a:noAutofit/>
            </a:bodyPr>
            <a:lstStyle/>
            <a:p>
              <a:pPr algn="ctr"/>
              <a:r>
                <a:rPr lang="pt-BR" sz="1100" b="1">
                  <a:solidFill>
                    <a:srgbClr val="647187"/>
                  </a:solidFill>
                  <a:latin typeface="Segoe UI" panose="020B0502040204020203" pitchFamily="34" charset="0"/>
                </a:rPr>
                <a:t>A3 …</a:t>
              </a:r>
            </a:p>
          </p:txBody>
        </p:sp>
        <p:sp>
          <p:nvSpPr>
            <p:cNvPr id="41" name="Elemento_94">
              <a:extLst>
                <a:ext uri="{FF2B5EF4-FFF2-40B4-BE49-F238E27FC236}">
                  <a16:creationId xmlns:a16="http://schemas.microsoft.com/office/drawing/2014/main" id="{F019E967-B563-E4F3-C360-7EBBD2C0EDB4}"/>
                </a:ext>
              </a:extLst>
            </p:cNvPr>
            <p:cNvSpPr txBox="1"/>
            <p:nvPr/>
          </p:nvSpPr>
          <p:spPr>
            <a:xfrm>
              <a:off x="9994900" y="2997200"/>
              <a:ext cx="1473200" cy="6096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pPr>
                <a:lnSpc>
                  <a:spcPct val="105000"/>
                </a:lnSpc>
                <a:spcAft>
                  <a:spcPts val="450"/>
                </a:spcAft>
              </a:pPr>
              <a:r>
                <a:rPr lang="pt-BR" sz="1000" b="1">
                  <a:solidFill>
                    <a:srgbClr val="243046"/>
                  </a:solidFill>
                  <a:latin typeface="Segoe UI" panose="020B0502040204020203" pitchFamily="34" charset="0"/>
                </a:rPr>
                <a:t>MRV:</a:t>
              </a:r>
              <a:r>
                <a:rPr lang="pt-BR" sz="1000">
                  <a:solidFill>
                    <a:srgbClr val="243046"/>
                  </a:solidFill>
                  <a:latin typeface="Segoe UI" panose="020B0502040204020203" pitchFamily="34" charset="0"/>
                </a:rPr>
                <a:t> A2 tem só 1 valor no domínio → vai primeiro.</a:t>
              </a:r>
            </a:p>
          </p:txBody>
        </p:sp>
        <p:sp>
          <p:nvSpPr>
            <p:cNvPr id="42" name="Elemento_95">
              <a:extLst>
                <a:ext uri="{FF2B5EF4-FFF2-40B4-BE49-F238E27FC236}">
                  <a16:creationId xmlns:a16="http://schemas.microsoft.com/office/drawing/2014/main" id="{CD8B689F-BDA3-2E56-9BBA-82656D08F7DB}"/>
                </a:ext>
              </a:extLst>
            </p:cNvPr>
            <p:cNvSpPr txBox="1"/>
            <p:nvPr/>
          </p:nvSpPr>
          <p:spPr>
            <a:xfrm>
              <a:off x="9994900" y="3860800"/>
              <a:ext cx="1473200" cy="7112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pPr>
                <a:lnSpc>
                  <a:spcPct val="105000"/>
                </a:lnSpc>
                <a:spcAft>
                  <a:spcPts val="450"/>
                </a:spcAft>
              </a:pPr>
              <a:r>
                <a:rPr lang="pt-BR" sz="1000" b="1">
                  <a:solidFill>
                    <a:srgbClr val="243046"/>
                  </a:solidFill>
                  <a:latin typeface="Segoe UI" panose="020B0502040204020203" pitchFamily="34" charset="0"/>
                </a:rPr>
                <a:t>FC:</a:t>
              </a:r>
              <a:r>
                <a:rPr lang="pt-BR" sz="1000">
                  <a:solidFill>
                    <a:srgbClr val="243046"/>
                  </a:solidFill>
                  <a:latin typeface="Segoe UI" panose="020B0502040204020203" pitchFamily="34" charset="0"/>
                </a:rPr>
                <a:t> remove (P1, 10h, S1) do domínio de A1.</a:t>
              </a:r>
            </a:p>
          </p:txBody>
        </p:sp>
        <p:sp>
          <p:nvSpPr>
            <p:cNvPr id="43" name="Elemento_96">
              <a:extLst>
                <a:ext uri="{FF2B5EF4-FFF2-40B4-BE49-F238E27FC236}">
                  <a16:creationId xmlns:a16="http://schemas.microsoft.com/office/drawing/2014/main" id="{DDF7210E-AE44-2467-5F97-0CFCD1EBB59F}"/>
                </a:ext>
              </a:extLst>
            </p:cNvPr>
            <p:cNvSpPr txBox="1"/>
            <p:nvPr/>
          </p:nvSpPr>
          <p:spPr>
            <a:xfrm>
              <a:off x="6502400" y="2997200"/>
              <a:ext cx="1371600" cy="6096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pPr>
                <a:lnSpc>
                  <a:spcPct val="105000"/>
                </a:lnSpc>
                <a:spcAft>
                  <a:spcPts val="450"/>
                </a:spcAft>
              </a:pPr>
              <a:r>
                <a:rPr lang="pt-BR" sz="1000" i="1">
                  <a:solidFill>
                    <a:srgbClr val="647187"/>
                  </a:solidFill>
                  <a:latin typeface="Segoe UI" panose="020B0502040204020203" pitchFamily="34" charset="0"/>
                </a:rPr>
                <a:t>Conflito evitado antes de acontecer.</a:t>
              </a:r>
            </a:p>
          </p:txBody>
        </p:sp>
        <p:sp>
          <p:nvSpPr>
            <p:cNvPr id="44" name="Elemento_97">
              <a:extLst>
                <a:ext uri="{FF2B5EF4-FFF2-40B4-BE49-F238E27FC236}">
                  <a16:creationId xmlns:a16="http://schemas.microsoft.com/office/drawing/2014/main" id="{F2BE1379-CAC1-E399-3977-957B4E971BB2}"/>
                </a:ext>
              </a:extLst>
            </p:cNvPr>
            <p:cNvSpPr/>
            <p:nvPr/>
          </p:nvSpPr>
          <p:spPr>
            <a:xfrm>
              <a:off x="6502400" y="5562600"/>
              <a:ext cx="4826000" cy="457200"/>
            </a:xfrm>
            <a:prstGeom prst="roundRect">
              <a:avLst>
                <a:gd name="adj" fmla="val 22222"/>
              </a:avLst>
            </a:prstGeom>
            <a:solidFill>
              <a:srgbClr val="E1F3F0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6200" tIns="25400" rIns="76200" bIns="25400" rtlCol="0" anchor="ctr"/>
            <a:lstStyle/>
            <a:p>
              <a:pPr algn="ctr"/>
              <a:r>
                <a:rPr lang="pt-BR" sz="1200" b="1">
                  <a:solidFill>
                    <a:srgbClr val="2A9D8F"/>
                  </a:solidFill>
                  <a:latin typeface="Segoe UI" panose="020B0502040204020203" pitchFamily="34" charset="0"/>
                </a:rPr>
                <a:t>0 retrocessos — a busca segue direto para A3</a:t>
              </a:r>
            </a:p>
          </p:txBody>
        </p:sp>
      </p:grpSp>
      <p:cxnSp>
        <p:nvCxnSpPr>
          <p:cNvPr id="46" name="Conector reto 45">
            <a:extLst>
              <a:ext uri="{FF2B5EF4-FFF2-40B4-BE49-F238E27FC236}">
                <a16:creationId xmlns:a16="http://schemas.microsoft.com/office/drawing/2014/main" id="{00F3D541-3045-5695-7BD6-B2A99EC0AD20}"/>
              </a:ext>
            </a:extLst>
          </p:cNvPr>
          <p:cNvCxnSpPr/>
          <p:nvPr/>
        </p:nvCxnSpPr>
        <p:spPr>
          <a:xfrm>
            <a:off x="609600" y="6400800"/>
            <a:ext cx="10972800" cy="0"/>
          </a:xfrm>
          <a:prstGeom prst="line">
            <a:avLst/>
          </a:prstGeom>
          <a:ln w="9525">
            <a:solidFill>
              <a:srgbClr val="DB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CaixaDeTexto 46">
            <a:extLst>
              <a:ext uri="{FF2B5EF4-FFF2-40B4-BE49-F238E27FC236}">
                <a16:creationId xmlns:a16="http://schemas.microsoft.com/office/drawing/2014/main" id="{454DF7F0-CC7D-4B52-2EB6-1E72DC0E1489}"/>
              </a:ext>
            </a:extLst>
          </p:cNvPr>
          <p:cNvSpPr txBox="1"/>
          <p:nvPr/>
        </p:nvSpPr>
        <p:spPr>
          <a:xfrm>
            <a:off x="609600" y="6502400"/>
            <a:ext cx="8128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900">
                <a:solidFill>
                  <a:srgbClr val="647187"/>
                </a:solidFill>
                <a:latin typeface="Segoe UI" panose="020B0502040204020203" pitchFamily="34" charset="0"/>
              </a:rPr>
              <a:t>Introdução à Inteligência Artificial  ·  Tema 9 — Agendamento de Consultas/Atendimentos como PSR</a:t>
            </a:r>
          </a:p>
        </p:txBody>
      </p: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E0520D50-D01C-E24F-8E1C-F0B681B56B2C}"/>
              </a:ext>
            </a:extLst>
          </p:cNvPr>
          <p:cNvSpPr txBox="1"/>
          <p:nvPr/>
        </p:nvSpPr>
        <p:spPr>
          <a:xfrm>
            <a:off x="10058400" y="6502400"/>
            <a:ext cx="1524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pt-BR" sz="900" b="1">
                <a:solidFill>
                  <a:srgbClr val="647187"/>
                </a:solidFill>
                <a:latin typeface="Segoe UI" panose="020B0502040204020203" pitchFamily="34" charset="0"/>
              </a:rPr>
              <a:t>9 / 17</a:t>
            </a:r>
          </a:p>
        </p:txBody>
      </p:sp>
    </p:spTree>
    <p:extLst>
      <p:ext uri="{BB962C8B-B14F-4D97-AF65-F5344CB8AC3E}">
        <p14:creationId xmlns:p14="http://schemas.microsoft.com/office/powerpoint/2010/main" val="5280222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5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787DCD56-0F6A-8D43-0E94-9E8BAAD4EABF}"/>
              </a:ext>
            </a:extLst>
          </p:cNvPr>
          <p:cNvSpPr/>
          <p:nvPr/>
        </p:nvSpPr>
        <p:spPr>
          <a:xfrm>
            <a:off x="0" y="0"/>
            <a:ext cx="127000" cy="6858000"/>
          </a:xfrm>
          <a:prstGeom prst="rect">
            <a:avLst/>
          </a:prstGeom>
          <a:solidFill>
            <a:srgbClr val="1B263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0B7458BB-DB80-8C5F-B643-AC3C3C29FC25}"/>
              </a:ext>
            </a:extLst>
          </p:cNvPr>
          <p:cNvSpPr/>
          <p:nvPr/>
        </p:nvSpPr>
        <p:spPr>
          <a:xfrm>
            <a:off x="0" y="279400"/>
            <a:ext cx="127000" cy="889000"/>
          </a:xfrm>
          <a:prstGeom prst="rect">
            <a:avLst/>
          </a:prstGeom>
          <a:solidFill>
            <a:srgbClr val="2A9D8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A8D8135B-6056-BD4D-E99A-8F2B0BC29918}"/>
              </a:ext>
            </a:extLst>
          </p:cNvPr>
          <p:cNvSpPr txBox="1"/>
          <p:nvPr/>
        </p:nvSpPr>
        <p:spPr>
          <a:xfrm>
            <a:off x="609600" y="355600"/>
            <a:ext cx="8890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050" b="1" spc="160">
                <a:solidFill>
                  <a:srgbClr val="2A9D8F"/>
                </a:solidFill>
                <a:latin typeface="Segoe UI" panose="020B0502040204020203" pitchFamily="34" charset="0"/>
              </a:rPr>
              <a:t>DESENVOLVIMENTO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102ED159-32AA-F8F5-BEF9-23C948975FB5}"/>
              </a:ext>
            </a:extLst>
          </p:cNvPr>
          <p:cNvSpPr txBox="1"/>
          <p:nvPr/>
        </p:nvSpPr>
        <p:spPr>
          <a:xfrm>
            <a:off x="609600" y="558800"/>
            <a:ext cx="94488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2600" b="1">
                <a:solidFill>
                  <a:srgbClr val="1B263B"/>
                </a:solidFill>
                <a:latin typeface="Segoe UI" panose="020B0502040204020203" pitchFamily="34" charset="0"/>
              </a:rPr>
              <a:t>Organização do código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C6154757-409E-56BB-A997-3DB19A15534D}"/>
              </a:ext>
            </a:extLst>
          </p:cNvPr>
          <p:cNvSpPr/>
          <p:nvPr/>
        </p:nvSpPr>
        <p:spPr>
          <a:xfrm>
            <a:off x="609600" y="1117600"/>
            <a:ext cx="711200" cy="44450"/>
          </a:xfrm>
          <a:prstGeom prst="rect">
            <a:avLst/>
          </a:prstGeom>
          <a:solidFill>
            <a:srgbClr val="2A9D8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9" name="Agrupar 8">
            <a:extLst>
              <a:ext uri="{FF2B5EF4-FFF2-40B4-BE49-F238E27FC236}">
                <a16:creationId xmlns:a16="http://schemas.microsoft.com/office/drawing/2014/main" id="{E9AA73C8-068C-32F4-A6B7-2A30A8D043D1}"/>
              </a:ext>
            </a:extLst>
          </p:cNvPr>
          <p:cNvGrpSpPr/>
          <p:nvPr/>
        </p:nvGrpSpPr>
        <p:grpSpPr>
          <a:xfrm>
            <a:off x="609600" y="1422400"/>
            <a:ext cx="10972800" cy="685800"/>
            <a:chOff x="609600" y="1422400"/>
            <a:chExt cx="10972800" cy="685800"/>
          </a:xfrm>
        </p:grpSpPr>
        <p:sp>
          <p:nvSpPr>
            <p:cNvPr id="7" name="Elemento_98">
              <a:extLst>
                <a:ext uri="{FF2B5EF4-FFF2-40B4-BE49-F238E27FC236}">
                  <a16:creationId xmlns:a16="http://schemas.microsoft.com/office/drawing/2014/main" id="{F77BE039-D86E-4D4F-38C6-EA5F2C68A293}"/>
                </a:ext>
              </a:extLst>
            </p:cNvPr>
            <p:cNvSpPr/>
            <p:nvPr/>
          </p:nvSpPr>
          <p:spPr>
            <a:xfrm>
              <a:off x="609600" y="1422400"/>
              <a:ext cx="1905000" cy="685800"/>
            </a:xfrm>
            <a:prstGeom prst="roundRect">
              <a:avLst>
                <a:gd name="adj" fmla="val 14815"/>
              </a:avLst>
            </a:prstGeom>
            <a:solidFill>
              <a:srgbClr val="1B263B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6200" tIns="25400" rIns="76200" bIns="25400" rtlCol="0" anchor="ctr"/>
            <a:lstStyle/>
            <a:p>
              <a:pPr algn="ctr"/>
              <a:r>
                <a:rPr lang="pt-BR" sz="1400" b="1">
                  <a:solidFill>
                    <a:srgbClr val="FFFFFF"/>
                  </a:solidFill>
                  <a:latin typeface="Consolas" panose="020B0609020204030204" pitchFamily="49" charset="0"/>
                </a:rPr>
                <a:t>dados/</a:t>
              </a:r>
            </a:p>
          </p:txBody>
        </p:sp>
        <p:sp>
          <p:nvSpPr>
            <p:cNvPr id="8" name="Elemento_99">
              <a:extLst>
                <a:ext uri="{FF2B5EF4-FFF2-40B4-BE49-F238E27FC236}">
                  <a16:creationId xmlns:a16="http://schemas.microsoft.com/office/drawing/2014/main" id="{0F2EAD83-6F4B-1A17-6604-5E4F9717CEB8}"/>
                </a:ext>
              </a:extLst>
            </p:cNvPr>
            <p:cNvSpPr/>
            <p:nvPr/>
          </p:nvSpPr>
          <p:spPr>
            <a:xfrm>
              <a:off x="2667000" y="1422400"/>
              <a:ext cx="8915400" cy="685800"/>
            </a:xfrm>
            <a:prstGeom prst="roundRect">
              <a:avLst>
                <a:gd name="adj" fmla="val 14815"/>
              </a:avLst>
            </a:prstGeom>
            <a:solidFill>
              <a:srgbClr val="FFFFFF"/>
            </a:solidFill>
            <a:ln w="9525" cap="flat" cmpd="sng" algn="ctr">
              <a:solidFill>
                <a:srgbClr val="DBE2EA"/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203200" tIns="25400" rIns="203200" bIns="25400" rtlCol="0" anchor="ctr">
              <a:noAutofit/>
            </a:bodyPr>
            <a:lstStyle/>
            <a:p>
              <a:r>
                <a:rPr lang="pt-BR" sz="1300">
                  <a:solidFill>
                    <a:srgbClr val="243046"/>
                  </a:solidFill>
                  <a:latin typeface="Segoe UI" panose="020B0502040204020203" pitchFamily="34" charset="0"/>
                </a:rPr>
                <a:t>Geração sintética de instâncias (sempre com solução; mesma seed = mesma instância), leitura/escrita em JSON e validação da entrada.</a:t>
              </a:r>
            </a:p>
          </p:txBody>
        </p:sp>
      </p:grpSp>
      <p:grpSp>
        <p:nvGrpSpPr>
          <p:cNvPr id="12" name="Agrupar 11">
            <a:extLst>
              <a:ext uri="{FF2B5EF4-FFF2-40B4-BE49-F238E27FC236}">
                <a16:creationId xmlns:a16="http://schemas.microsoft.com/office/drawing/2014/main" id="{5DC1E82B-2B4D-B04C-1EA4-11B1F45F3767}"/>
              </a:ext>
            </a:extLst>
          </p:cNvPr>
          <p:cNvGrpSpPr/>
          <p:nvPr/>
        </p:nvGrpSpPr>
        <p:grpSpPr>
          <a:xfrm>
            <a:off x="609600" y="2209800"/>
            <a:ext cx="10972800" cy="685800"/>
            <a:chOff x="609600" y="2209800"/>
            <a:chExt cx="10972800" cy="685800"/>
          </a:xfrm>
        </p:grpSpPr>
        <p:sp>
          <p:nvSpPr>
            <p:cNvPr id="10" name="Elemento_100">
              <a:extLst>
                <a:ext uri="{FF2B5EF4-FFF2-40B4-BE49-F238E27FC236}">
                  <a16:creationId xmlns:a16="http://schemas.microsoft.com/office/drawing/2014/main" id="{CB198451-501F-9438-1619-D3491FC8E76D}"/>
                </a:ext>
              </a:extLst>
            </p:cNvPr>
            <p:cNvSpPr/>
            <p:nvPr/>
          </p:nvSpPr>
          <p:spPr>
            <a:xfrm>
              <a:off x="609600" y="2209800"/>
              <a:ext cx="1905000" cy="685800"/>
            </a:xfrm>
            <a:prstGeom prst="roundRect">
              <a:avLst>
                <a:gd name="adj" fmla="val 14815"/>
              </a:avLst>
            </a:prstGeom>
            <a:solidFill>
              <a:srgbClr val="1B263B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6200" tIns="25400" rIns="76200" bIns="25400" rtlCol="0" anchor="ctr"/>
            <a:lstStyle/>
            <a:p>
              <a:pPr algn="ctr"/>
              <a:r>
                <a:rPr lang="pt-BR" sz="1400" b="1">
                  <a:solidFill>
                    <a:srgbClr val="FFFFFF"/>
                  </a:solidFill>
                  <a:latin typeface="Consolas" panose="020B0609020204030204" pitchFamily="49" charset="0"/>
                </a:rPr>
                <a:t>modelo/</a:t>
              </a:r>
            </a:p>
          </p:txBody>
        </p:sp>
        <p:sp>
          <p:nvSpPr>
            <p:cNvPr id="11" name="Elemento_101">
              <a:extLst>
                <a:ext uri="{FF2B5EF4-FFF2-40B4-BE49-F238E27FC236}">
                  <a16:creationId xmlns:a16="http://schemas.microsoft.com/office/drawing/2014/main" id="{AA51B414-A999-89B0-D6A7-1DBBF5005057}"/>
                </a:ext>
              </a:extLst>
            </p:cNvPr>
            <p:cNvSpPr/>
            <p:nvPr/>
          </p:nvSpPr>
          <p:spPr>
            <a:xfrm>
              <a:off x="2667000" y="2209800"/>
              <a:ext cx="8915400" cy="685800"/>
            </a:xfrm>
            <a:prstGeom prst="roundRect">
              <a:avLst>
                <a:gd name="adj" fmla="val 14815"/>
              </a:avLst>
            </a:prstGeom>
            <a:solidFill>
              <a:srgbClr val="FFFFFF"/>
            </a:solidFill>
            <a:ln w="9525" cap="flat" cmpd="sng" algn="ctr">
              <a:solidFill>
                <a:srgbClr val="DBE2EA"/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203200" tIns="25400" rIns="203200" bIns="25400" rtlCol="0" anchor="ctr">
              <a:noAutofit/>
            </a:bodyPr>
            <a:lstStyle/>
            <a:p>
              <a:r>
                <a:rPr lang="pt-BR" sz="1300">
                  <a:solidFill>
                    <a:srgbClr val="243046"/>
                  </a:solidFill>
                  <a:latin typeface="Segoe UI" panose="020B0502040204020203" pitchFamily="34" charset="0"/>
                </a:rPr>
                <a:t>Entidades do problema (profissional, cliente, sala, atendimento), domínio de cada atendimento e as 5 restrições.</a:t>
              </a:r>
            </a:p>
          </p:txBody>
        </p:sp>
      </p:grpSp>
      <p:grpSp>
        <p:nvGrpSpPr>
          <p:cNvPr id="15" name="Agrupar 14">
            <a:extLst>
              <a:ext uri="{FF2B5EF4-FFF2-40B4-BE49-F238E27FC236}">
                <a16:creationId xmlns:a16="http://schemas.microsoft.com/office/drawing/2014/main" id="{9980D4EF-330E-2C44-DEAB-E9CD73619930}"/>
              </a:ext>
            </a:extLst>
          </p:cNvPr>
          <p:cNvGrpSpPr/>
          <p:nvPr/>
        </p:nvGrpSpPr>
        <p:grpSpPr>
          <a:xfrm>
            <a:off x="609600" y="2997200"/>
            <a:ext cx="10972800" cy="685800"/>
            <a:chOff x="609600" y="2997200"/>
            <a:chExt cx="10972800" cy="685800"/>
          </a:xfrm>
        </p:grpSpPr>
        <p:sp>
          <p:nvSpPr>
            <p:cNvPr id="13" name="Elemento_102">
              <a:extLst>
                <a:ext uri="{FF2B5EF4-FFF2-40B4-BE49-F238E27FC236}">
                  <a16:creationId xmlns:a16="http://schemas.microsoft.com/office/drawing/2014/main" id="{E80AE5D6-2DCB-F972-D77B-AFFDE303F8FE}"/>
                </a:ext>
              </a:extLst>
            </p:cNvPr>
            <p:cNvSpPr/>
            <p:nvPr/>
          </p:nvSpPr>
          <p:spPr>
            <a:xfrm>
              <a:off x="609600" y="2997200"/>
              <a:ext cx="1905000" cy="685800"/>
            </a:xfrm>
            <a:prstGeom prst="roundRect">
              <a:avLst>
                <a:gd name="adj" fmla="val 14815"/>
              </a:avLst>
            </a:prstGeom>
            <a:solidFill>
              <a:srgbClr val="1B263B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6200" tIns="25400" rIns="76200" bIns="25400" rtlCol="0" anchor="ctr"/>
            <a:lstStyle/>
            <a:p>
              <a:pPr algn="ctr"/>
              <a:r>
                <a:rPr lang="pt-BR" sz="1400" b="1">
                  <a:solidFill>
                    <a:srgbClr val="FFFFFF"/>
                  </a:solidFill>
                  <a:latin typeface="Consolas" panose="020B0609020204030204" pitchFamily="49" charset="0"/>
                </a:rPr>
                <a:t>algoritmos/</a:t>
              </a:r>
            </a:p>
          </p:txBody>
        </p:sp>
        <p:sp>
          <p:nvSpPr>
            <p:cNvPr id="14" name="Elemento_103">
              <a:extLst>
                <a:ext uri="{FF2B5EF4-FFF2-40B4-BE49-F238E27FC236}">
                  <a16:creationId xmlns:a16="http://schemas.microsoft.com/office/drawing/2014/main" id="{52EC4F8C-3CA5-9ACE-F743-56D1279989C1}"/>
                </a:ext>
              </a:extLst>
            </p:cNvPr>
            <p:cNvSpPr/>
            <p:nvPr/>
          </p:nvSpPr>
          <p:spPr>
            <a:xfrm>
              <a:off x="2667000" y="2997200"/>
              <a:ext cx="8915400" cy="685800"/>
            </a:xfrm>
            <a:prstGeom prst="roundRect">
              <a:avLst>
                <a:gd name="adj" fmla="val 14815"/>
              </a:avLst>
            </a:prstGeom>
            <a:solidFill>
              <a:srgbClr val="FFFFFF"/>
            </a:solidFill>
            <a:ln w="9525" cap="flat" cmpd="sng" algn="ctr">
              <a:solidFill>
                <a:srgbClr val="DBE2EA"/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203200" tIns="25400" rIns="203200" bIns="25400" rtlCol="0" anchor="ctr">
              <a:noAutofit/>
            </a:bodyPr>
            <a:lstStyle/>
            <a:p>
              <a:r>
                <a:rPr lang="pt-BR" sz="1300">
                  <a:solidFill>
                    <a:srgbClr val="243046"/>
                  </a:solidFill>
                  <a:latin typeface="Segoe UI" panose="020B0502040204020203" pitchFamily="34" charset="0"/>
                </a:rPr>
                <a:t>As duas versões do backtracking e as métricas (tempo, atribuições, retrocessos, nós) — iguais nas duas, para comparar com justiça.</a:t>
              </a:r>
            </a:p>
          </p:txBody>
        </p:sp>
      </p:grpSp>
      <p:grpSp>
        <p:nvGrpSpPr>
          <p:cNvPr id="18" name="Agrupar 17">
            <a:extLst>
              <a:ext uri="{FF2B5EF4-FFF2-40B4-BE49-F238E27FC236}">
                <a16:creationId xmlns:a16="http://schemas.microsoft.com/office/drawing/2014/main" id="{CAC03592-035A-271A-D006-99A54A9BEDEA}"/>
              </a:ext>
            </a:extLst>
          </p:cNvPr>
          <p:cNvGrpSpPr/>
          <p:nvPr/>
        </p:nvGrpSpPr>
        <p:grpSpPr>
          <a:xfrm>
            <a:off x="609600" y="3784600"/>
            <a:ext cx="10972800" cy="685800"/>
            <a:chOff x="609600" y="3784600"/>
            <a:chExt cx="10972800" cy="685800"/>
          </a:xfrm>
        </p:grpSpPr>
        <p:sp>
          <p:nvSpPr>
            <p:cNvPr id="16" name="Elemento_104">
              <a:extLst>
                <a:ext uri="{FF2B5EF4-FFF2-40B4-BE49-F238E27FC236}">
                  <a16:creationId xmlns:a16="http://schemas.microsoft.com/office/drawing/2014/main" id="{D7E6D0AB-A08A-8DCB-C76E-4C023C81A5BF}"/>
                </a:ext>
              </a:extLst>
            </p:cNvPr>
            <p:cNvSpPr/>
            <p:nvPr/>
          </p:nvSpPr>
          <p:spPr>
            <a:xfrm>
              <a:off x="609600" y="3784600"/>
              <a:ext cx="1905000" cy="685800"/>
            </a:xfrm>
            <a:prstGeom prst="roundRect">
              <a:avLst>
                <a:gd name="adj" fmla="val 14815"/>
              </a:avLst>
            </a:prstGeom>
            <a:solidFill>
              <a:srgbClr val="1B263B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6200" tIns="25400" rIns="76200" bIns="25400" rtlCol="0" anchor="ctr"/>
            <a:lstStyle/>
            <a:p>
              <a:pPr algn="ctr"/>
              <a:r>
                <a:rPr lang="pt-BR" sz="1400" b="1">
                  <a:solidFill>
                    <a:srgbClr val="FFFFFF"/>
                  </a:solidFill>
                  <a:latin typeface="Consolas" panose="020B0609020204030204" pitchFamily="49" charset="0"/>
                </a:rPr>
                <a:t>avaliacao/</a:t>
              </a:r>
            </a:p>
          </p:txBody>
        </p:sp>
        <p:sp>
          <p:nvSpPr>
            <p:cNvPr id="17" name="Elemento_105">
              <a:extLst>
                <a:ext uri="{FF2B5EF4-FFF2-40B4-BE49-F238E27FC236}">
                  <a16:creationId xmlns:a16="http://schemas.microsoft.com/office/drawing/2014/main" id="{C76CF7A6-7AAD-6439-7B25-30852BFC1829}"/>
                </a:ext>
              </a:extLst>
            </p:cNvPr>
            <p:cNvSpPr/>
            <p:nvPr/>
          </p:nvSpPr>
          <p:spPr>
            <a:xfrm>
              <a:off x="2667000" y="3784600"/>
              <a:ext cx="8915400" cy="685800"/>
            </a:xfrm>
            <a:prstGeom prst="roundRect">
              <a:avLst>
                <a:gd name="adj" fmla="val 14815"/>
              </a:avLst>
            </a:prstGeom>
            <a:solidFill>
              <a:srgbClr val="FFFFFF"/>
            </a:solidFill>
            <a:ln w="9525" cap="flat" cmpd="sng" algn="ctr">
              <a:solidFill>
                <a:srgbClr val="DBE2EA"/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203200" tIns="25400" rIns="203200" bIns="25400" rtlCol="0" anchor="ctr">
              <a:noAutofit/>
            </a:bodyPr>
            <a:lstStyle/>
            <a:p>
              <a:r>
                <a:rPr lang="pt-BR" sz="1300">
                  <a:solidFill>
                    <a:srgbClr val="243046"/>
                  </a:solidFill>
                  <a:latin typeface="Segoe UI" panose="020B0502040204020203" pitchFamily="34" charset="0"/>
                </a:rPr>
                <a:t>Experimentos comparativos: roda as duas versões e salva os resultados em CSV.</a:t>
              </a:r>
            </a:p>
          </p:txBody>
        </p:sp>
      </p:grpSp>
      <p:grpSp>
        <p:nvGrpSpPr>
          <p:cNvPr id="21" name="Agrupar 20">
            <a:extLst>
              <a:ext uri="{FF2B5EF4-FFF2-40B4-BE49-F238E27FC236}">
                <a16:creationId xmlns:a16="http://schemas.microsoft.com/office/drawing/2014/main" id="{D631B883-042E-0D32-1DB0-D7C41E74A7FA}"/>
              </a:ext>
            </a:extLst>
          </p:cNvPr>
          <p:cNvGrpSpPr/>
          <p:nvPr/>
        </p:nvGrpSpPr>
        <p:grpSpPr>
          <a:xfrm>
            <a:off x="609600" y="4572000"/>
            <a:ext cx="10972800" cy="685800"/>
            <a:chOff x="609600" y="4572000"/>
            <a:chExt cx="10972800" cy="685800"/>
          </a:xfrm>
        </p:grpSpPr>
        <p:sp>
          <p:nvSpPr>
            <p:cNvPr id="19" name="Elemento_106">
              <a:extLst>
                <a:ext uri="{FF2B5EF4-FFF2-40B4-BE49-F238E27FC236}">
                  <a16:creationId xmlns:a16="http://schemas.microsoft.com/office/drawing/2014/main" id="{2CEF41D5-B40C-3B4B-5752-C47F3F4197B2}"/>
                </a:ext>
              </a:extLst>
            </p:cNvPr>
            <p:cNvSpPr/>
            <p:nvPr/>
          </p:nvSpPr>
          <p:spPr>
            <a:xfrm>
              <a:off x="609600" y="4572000"/>
              <a:ext cx="1905000" cy="685800"/>
            </a:xfrm>
            <a:prstGeom prst="roundRect">
              <a:avLst>
                <a:gd name="adj" fmla="val 14815"/>
              </a:avLst>
            </a:prstGeom>
            <a:solidFill>
              <a:srgbClr val="1B263B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6200" tIns="25400" rIns="76200" bIns="25400" rtlCol="0" anchor="ctr"/>
            <a:lstStyle/>
            <a:p>
              <a:pPr algn="ctr"/>
              <a:r>
                <a:rPr lang="pt-BR" sz="1400" b="1">
                  <a:solidFill>
                    <a:srgbClr val="FFFFFF"/>
                  </a:solidFill>
                  <a:latin typeface="Consolas" panose="020B0609020204030204" pitchFamily="49" charset="0"/>
                </a:rPr>
                <a:t>interface/</a:t>
              </a:r>
            </a:p>
          </p:txBody>
        </p:sp>
        <p:sp>
          <p:nvSpPr>
            <p:cNvPr id="20" name="Elemento_107">
              <a:extLst>
                <a:ext uri="{FF2B5EF4-FFF2-40B4-BE49-F238E27FC236}">
                  <a16:creationId xmlns:a16="http://schemas.microsoft.com/office/drawing/2014/main" id="{92B9C155-33BC-46C1-DB4A-704193751304}"/>
                </a:ext>
              </a:extLst>
            </p:cNvPr>
            <p:cNvSpPr/>
            <p:nvPr/>
          </p:nvSpPr>
          <p:spPr>
            <a:xfrm>
              <a:off x="2667000" y="4572000"/>
              <a:ext cx="8915400" cy="685800"/>
            </a:xfrm>
            <a:prstGeom prst="roundRect">
              <a:avLst>
                <a:gd name="adj" fmla="val 14815"/>
              </a:avLst>
            </a:prstGeom>
            <a:solidFill>
              <a:srgbClr val="FFFFFF"/>
            </a:solidFill>
            <a:ln w="9525" cap="flat" cmpd="sng" algn="ctr">
              <a:solidFill>
                <a:srgbClr val="DBE2EA"/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203200" tIns="25400" rIns="203200" bIns="25400" rtlCol="0" anchor="ctr">
              <a:noAutofit/>
            </a:bodyPr>
            <a:lstStyle/>
            <a:p>
              <a:r>
                <a:rPr lang="pt-BR" sz="1300">
                  <a:solidFill>
                    <a:srgbClr val="243046"/>
                  </a:solidFill>
                  <a:latin typeface="Segoe UI" panose="020B0502040204020203" pitchFamily="34" charset="0"/>
                </a:rPr>
                <a:t>CLI com os comandos gerar-instancia, resolver e comparar; agenda impressa por profissional, horário e cliente.</a:t>
              </a:r>
            </a:p>
          </p:txBody>
        </p:sp>
      </p:grpSp>
      <p:grpSp>
        <p:nvGrpSpPr>
          <p:cNvPr id="24" name="Agrupar 23">
            <a:extLst>
              <a:ext uri="{FF2B5EF4-FFF2-40B4-BE49-F238E27FC236}">
                <a16:creationId xmlns:a16="http://schemas.microsoft.com/office/drawing/2014/main" id="{E441F8FE-2761-60AF-BE10-07B2AF959892}"/>
              </a:ext>
            </a:extLst>
          </p:cNvPr>
          <p:cNvGrpSpPr/>
          <p:nvPr/>
        </p:nvGrpSpPr>
        <p:grpSpPr>
          <a:xfrm>
            <a:off x="609600" y="5359400"/>
            <a:ext cx="10972800" cy="685800"/>
            <a:chOff x="609600" y="5359400"/>
            <a:chExt cx="10972800" cy="685800"/>
          </a:xfrm>
        </p:grpSpPr>
        <p:sp>
          <p:nvSpPr>
            <p:cNvPr id="22" name="Elemento_108">
              <a:extLst>
                <a:ext uri="{FF2B5EF4-FFF2-40B4-BE49-F238E27FC236}">
                  <a16:creationId xmlns:a16="http://schemas.microsoft.com/office/drawing/2014/main" id="{9D72818B-596D-13D1-8396-3B2B898B9399}"/>
                </a:ext>
              </a:extLst>
            </p:cNvPr>
            <p:cNvSpPr/>
            <p:nvPr/>
          </p:nvSpPr>
          <p:spPr>
            <a:xfrm>
              <a:off x="609600" y="5359400"/>
              <a:ext cx="1905000" cy="685800"/>
            </a:xfrm>
            <a:prstGeom prst="roundRect">
              <a:avLst>
                <a:gd name="adj" fmla="val 14815"/>
              </a:avLst>
            </a:prstGeom>
            <a:solidFill>
              <a:srgbClr val="1B263B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6200" tIns="25400" rIns="76200" bIns="25400" rtlCol="0" anchor="ctr"/>
            <a:lstStyle/>
            <a:p>
              <a:pPr algn="ctr"/>
              <a:r>
                <a:rPr lang="pt-BR" sz="1400" b="1">
                  <a:solidFill>
                    <a:srgbClr val="FFFFFF"/>
                  </a:solidFill>
                  <a:latin typeface="Consolas" panose="020B0609020204030204" pitchFamily="49" charset="0"/>
                </a:rPr>
                <a:t>testes/</a:t>
              </a:r>
            </a:p>
          </p:txBody>
        </p:sp>
        <p:sp>
          <p:nvSpPr>
            <p:cNvPr id="23" name="Elemento_109">
              <a:extLst>
                <a:ext uri="{FF2B5EF4-FFF2-40B4-BE49-F238E27FC236}">
                  <a16:creationId xmlns:a16="http://schemas.microsoft.com/office/drawing/2014/main" id="{192E4A80-B471-305A-0C64-86B0660158F7}"/>
                </a:ext>
              </a:extLst>
            </p:cNvPr>
            <p:cNvSpPr/>
            <p:nvPr/>
          </p:nvSpPr>
          <p:spPr>
            <a:xfrm>
              <a:off x="2667000" y="5359400"/>
              <a:ext cx="8915400" cy="685800"/>
            </a:xfrm>
            <a:prstGeom prst="roundRect">
              <a:avLst>
                <a:gd name="adj" fmla="val 14815"/>
              </a:avLst>
            </a:prstGeom>
            <a:solidFill>
              <a:srgbClr val="FFFFFF"/>
            </a:solidFill>
            <a:ln w="9525" cap="flat" cmpd="sng" algn="ctr">
              <a:solidFill>
                <a:srgbClr val="DBE2EA"/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203200" tIns="25400" rIns="203200" bIns="25400" rtlCol="0" anchor="ctr">
              <a:noAutofit/>
            </a:bodyPr>
            <a:lstStyle/>
            <a:p>
              <a:r>
                <a:rPr lang="pt-BR" sz="1300">
                  <a:solidFill>
                    <a:srgbClr val="243046"/>
                  </a:solidFill>
                  <a:latin typeface="Segoe UI" panose="020B0502040204020203" pitchFamily="34" charset="0"/>
                </a:rPr>
                <a:t>Suíte pytest: testes automáticos do domínio, das restrições e dos algoritmos.</a:t>
              </a:r>
            </a:p>
          </p:txBody>
        </p:sp>
      </p:grpSp>
      <p:cxnSp>
        <p:nvCxnSpPr>
          <p:cNvPr id="25" name="Conector reto 24">
            <a:extLst>
              <a:ext uri="{FF2B5EF4-FFF2-40B4-BE49-F238E27FC236}">
                <a16:creationId xmlns:a16="http://schemas.microsoft.com/office/drawing/2014/main" id="{BCE01946-881D-CCC0-302C-8BBA940515EC}"/>
              </a:ext>
            </a:extLst>
          </p:cNvPr>
          <p:cNvCxnSpPr/>
          <p:nvPr/>
        </p:nvCxnSpPr>
        <p:spPr>
          <a:xfrm>
            <a:off x="609600" y="6400800"/>
            <a:ext cx="10972800" cy="0"/>
          </a:xfrm>
          <a:prstGeom prst="line">
            <a:avLst/>
          </a:prstGeom>
          <a:ln w="9525">
            <a:solidFill>
              <a:srgbClr val="DB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15FDE3B0-C77F-037E-580B-F955924F0398}"/>
              </a:ext>
            </a:extLst>
          </p:cNvPr>
          <p:cNvSpPr txBox="1"/>
          <p:nvPr/>
        </p:nvSpPr>
        <p:spPr>
          <a:xfrm>
            <a:off x="609600" y="6502400"/>
            <a:ext cx="8128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900">
                <a:solidFill>
                  <a:srgbClr val="647187"/>
                </a:solidFill>
                <a:latin typeface="Segoe UI" panose="020B0502040204020203" pitchFamily="34" charset="0"/>
              </a:rPr>
              <a:t>Introdução à Inteligência Artificial  ·  Tema 9 — Agendamento de Consultas/Atendimentos como PSR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11151B20-F8D1-403F-FED3-8AAEB55649A6}"/>
              </a:ext>
            </a:extLst>
          </p:cNvPr>
          <p:cNvSpPr txBox="1"/>
          <p:nvPr/>
        </p:nvSpPr>
        <p:spPr>
          <a:xfrm>
            <a:off x="10058400" y="6502400"/>
            <a:ext cx="1524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pt-BR" sz="900" b="1">
                <a:solidFill>
                  <a:srgbClr val="647187"/>
                </a:solidFill>
                <a:latin typeface="Segoe UI" panose="020B0502040204020203" pitchFamily="34" charset="0"/>
              </a:rPr>
              <a:t>10 / 17</a:t>
            </a:r>
          </a:p>
        </p:txBody>
      </p:sp>
    </p:spTree>
    <p:extLst>
      <p:ext uri="{BB962C8B-B14F-4D97-AF65-F5344CB8AC3E}">
        <p14:creationId xmlns:p14="http://schemas.microsoft.com/office/powerpoint/2010/main" val="52349155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5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7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5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4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75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A2BFBC5E-1BE3-B14A-4E2E-FB75154A5970}"/>
              </a:ext>
            </a:extLst>
          </p:cNvPr>
          <p:cNvSpPr/>
          <p:nvPr/>
        </p:nvSpPr>
        <p:spPr>
          <a:xfrm>
            <a:off x="0" y="0"/>
            <a:ext cx="127000" cy="6858000"/>
          </a:xfrm>
          <a:prstGeom prst="rect">
            <a:avLst/>
          </a:prstGeom>
          <a:solidFill>
            <a:srgbClr val="1B263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AB8F76CE-48B4-14EF-7BEB-70BF341ABA7B}"/>
              </a:ext>
            </a:extLst>
          </p:cNvPr>
          <p:cNvSpPr/>
          <p:nvPr/>
        </p:nvSpPr>
        <p:spPr>
          <a:xfrm>
            <a:off x="0" y="279400"/>
            <a:ext cx="127000" cy="889000"/>
          </a:xfrm>
          <a:prstGeom prst="rect">
            <a:avLst/>
          </a:prstGeom>
          <a:solidFill>
            <a:srgbClr val="2A9D8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2B74741E-DABA-0E8F-B5D1-AAEA04C5BD9E}"/>
              </a:ext>
            </a:extLst>
          </p:cNvPr>
          <p:cNvSpPr txBox="1"/>
          <p:nvPr/>
        </p:nvSpPr>
        <p:spPr>
          <a:xfrm>
            <a:off x="609600" y="355600"/>
            <a:ext cx="8890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050" b="1" spc="160">
                <a:solidFill>
                  <a:srgbClr val="2A9D8F"/>
                </a:solidFill>
                <a:latin typeface="Segoe UI" panose="020B0502040204020203" pitchFamily="34" charset="0"/>
              </a:rPr>
              <a:t>DESENVOLVIMENTO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B4992841-08D8-7181-D6E9-B3923BD284B3}"/>
              </a:ext>
            </a:extLst>
          </p:cNvPr>
          <p:cNvSpPr txBox="1"/>
          <p:nvPr/>
        </p:nvSpPr>
        <p:spPr>
          <a:xfrm>
            <a:off x="609600" y="558800"/>
            <a:ext cx="94488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2600" b="1">
                <a:solidFill>
                  <a:srgbClr val="1B263B"/>
                </a:solidFill>
                <a:latin typeface="Segoe UI" panose="020B0502040204020203" pitchFamily="34" charset="0"/>
              </a:rPr>
              <a:t>Decisões de projeto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6F4C5E6A-5CBB-239E-68F2-D11FFACD8A18}"/>
              </a:ext>
            </a:extLst>
          </p:cNvPr>
          <p:cNvSpPr/>
          <p:nvPr/>
        </p:nvSpPr>
        <p:spPr>
          <a:xfrm>
            <a:off x="609600" y="1117600"/>
            <a:ext cx="711200" cy="44450"/>
          </a:xfrm>
          <a:prstGeom prst="rect">
            <a:avLst/>
          </a:prstGeom>
          <a:solidFill>
            <a:srgbClr val="2A9D8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12" name="Agrupar 11">
            <a:extLst>
              <a:ext uri="{FF2B5EF4-FFF2-40B4-BE49-F238E27FC236}">
                <a16:creationId xmlns:a16="http://schemas.microsoft.com/office/drawing/2014/main" id="{06710524-D829-19DC-6223-6E2611038594}"/>
              </a:ext>
            </a:extLst>
          </p:cNvPr>
          <p:cNvGrpSpPr/>
          <p:nvPr/>
        </p:nvGrpSpPr>
        <p:grpSpPr>
          <a:xfrm>
            <a:off x="609600" y="1422400"/>
            <a:ext cx="5359400" cy="2311400"/>
            <a:chOff x="609600" y="1422400"/>
            <a:chExt cx="5359400" cy="2311400"/>
          </a:xfrm>
        </p:grpSpPr>
        <p:sp>
          <p:nvSpPr>
            <p:cNvPr id="7" name="Elemento_110">
              <a:extLst>
                <a:ext uri="{FF2B5EF4-FFF2-40B4-BE49-F238E27FC236}">
                  <a16:creationId xmlns:a16="http://schemas.microsoft.com/office/drawing/2014/main" id="{35B67F7F-6165-148A-C682-F7CFE041CDD7}"/>
                </a:ext>
              </a:extLst>
            </p:cNvPr>
            <p:cNvSpPr/>
            <p:nvPr/>
          </p:nvSpPr>
          <p:spPr>
            <a:xfrm>
              <a:off x="609600" y="1422400"/>
              <a:ext cx="5359400" cy="2311400"/>
            </a:xfrm>
            <a:prstGeom prst="roundRect">
              <a:avLst>
                <a:gd name="adj" fmla="val 5495"/>
              </a:avLst>
            </a:prstGeom>
            <a:solidFill>
              <a:srgbClr val="FFFFFF"/>
            </a:solidFill>
            <a:ln w="9525" cap="flat" cmpd="sng" algn="ctr">
              <a:solidFill>
                <a:srgbClr val="DBE2EA"/>
              </a:solidFill>
              <a:prstDash val="solid"/>
              <a:miter lim="800000"/>
            </a:ln>
            <a:effectLst>
              <a:outerShdw blurRad="152400" dist="50800" dir="5400000" rotWithShape="0">
                <a:srgbClr val="0F172A">
                  <a:alpha val="1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8" name="Elemento_111">
              <a:extLst>
                <a:ext uri="{FF2B5EF4-FFF2-40B4-BE49-F238E27FC236}">
                  <a16:creationId xmlns:a16="http://schemas.microsoft.com/office/drawing/2014/main" id="{0CA9F24A-A90E-766F-2A45-63490D793E94}"/>
                </a:ext>
              </a:extLst>
            </p:cNvPr>
            <p:cNvSpPr/>
            <p:nvPr/>
          </p:nvSpPr>
          <p:spPr>
            <a:xfrm>
              <a:off x="863600" y="1651000"/>
              <a:ext cx="431800" cy="431800"/>
            </a:xfrm>
            <a:prstGeom prst="roundRect">
              <a:avLst>
                <a:gd name="adj" fmla="val 23529"/>
              </a:avLst>
            </a:prstGeom>
            <a:solidFill>
              <a:srgbClr val="2A9D8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25400" rIns="0" bIns="25400" rtlCol="0" anchor="ctr"/>
            <a:lstStyle/>
            <a:p>
              <a:pPr algn="ctr"/>
              <a:r>
                <a:rPr lang="pt-BR" sz="1200" b="1">
                  <a:solidFill>
                    <a:srgbClr val="FFFFFF"/>
                  </a:solidFill>
                  <a:latin typeface="Segoe UI" panose="020B0502040204020203" pitchFamily="34" charset="0"/>
                </a:rPr>
                <a:t>01</a:t>
              </a:r>
            </a:p>
          </p:txBody>
        </p:sp>
        <p:sp>
          <p:nvSpPr>
            <p:cNvPr id="9" name="Elemento_112">
              <a:extLst>
                <a:ext uri="{FF2B5EF4-FFF2-40B4-BE49-F238E27FC236}">
                  <a16:creationId xmlns:a16="http://schemas.microsoft.com/office/drawing/2014/main" id="{E83F1221-5151-8782-0225-1A848BCE1FB9}"/>
                </a:ext>
              </a:extLst>
            </p:cNvPr>
            <p:cNvSpPr txBox="1"/>
            <p:nvPr/>
          </p:nvSpPr>
          <p:spPr>
            <a:xfrm>
              <a:off x="1447800" y="1651000"/>
              <a:ext cx="4318000" cy="4318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>
              <a:noAutofit/>
            </a:bodyPr>
            <a:lstStyle/>
            <a:p>
              <a:r>
                <a:rPr lang="pt-BR" sz="1550" b="1">
                  <a:solidFill>
                    <a:srgbClr val="1B263B"/>
                  </a:solidFill>
                  <a:latin typeface="Segoe UI" panose="020B0502040204020203" pitchFamily="34" charset="0"/>
                </a:rPr>
                <a:t>Restrições independentes</a:t>
              </a:r>
            </a:p>
          </p:txBody>
        </p:sp>
        <p:sp>
          <p:nvSpPr>
            <p:cNvPr id="10" name="Elemento_113">
              <a:extLst>
                <a:ext uri="{FF2B5EF4-FFF2-40B4-BE49-F238E27FC236}">
                  <a16:creationId xmlns:a16="http://schemas.microsoft.com/office/drawing/2014/main" id="{9275A3C0-5715-1C71-2CC6-48AB7D14378D}"/>
                </a:ext>
              </a:extLst>
            </p:cNvPr>
            <p:cNvSpPr/>
            <p:nvPr/>
          </p:nvSpPr>
          <p:spPr>
            <a:xfrm>
              <a:off x="863600" y="2209800"/>
              <a:ext cx="457200" cy="38100"/>
            </a:xfrm>
            <a:prstGeom prst="rect">
              <a:avLst/>
            </a:prstGeom>
            <a:solidFill>
              <a:srgbClr val="2A9D8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1" name="Elemento_114">
              <a:extLst>
                <a:ext uri="{FF2B5EF4-FFF2-40B4-BE49-F238E27FC236}">
                  <a16:creationId xmlns:a16="http://schemas.microsoft.com/office/drawing/2014/main" id="{67786637-DA6A-E344-61D9-9286DC4B4445}"/>
                </a:ext>
              </a:extLst>
            </p:cNvPr>
            <p:cNvSpPr txBox="1"/>
            <p:nvPr/>
          </p:nvSpPr>
          <p:spPr>
            <a:xfrm>
              <a:off x="863600" y="2438400"/>
              <a:ext cx="4851400" cy="11430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r>
                <a:rPr lang="pt-BR" sz="1500">
                  <a:solidFill>
                    <a:srgbClr val="243046"/>
                  </a:solidFill>
                  <a:latin typeface="Segoe UI" panose="020B0502040204020203" pitchFamily="34" charset="0"/>
                </a:rPr>
                <a:t>Cada restrição é uma função simples (responde sim/não) e é testada separadamente.</a:t>
              </a:r>
            </a:p>
          </p:txBody>
        </p:sp>
      </p:grpSp>
      <p:grpSp>
        <p:nvGrpSpPr>
          <p:cNvPr id="18" name="Agrupar 17">
            <a:extLst>
              <a:ext uri="{FF2B5EF4-FFF2-40B4-BE49-F238E27FC236}">
                <a16:creationId xmlns:a16="http://schemas.microsoft.com/office/drawing/2014/main" id="{2542DD1C-EDE6-C709-F1D9-1AFC2D07DFFF}"/>
              </a:ext>
            </a:extLst>
          </p:cNvPr>
          <p:cNvGrpSpPr/>
          <p:nvPr/>
        </p:nvGrpSpPr>
        <p:grpSpPr>
          <a:xfrm>
            <a:off x="6223000" y="1422400"/>
            <a:ext cx="5359400" cy="2311400"/>
            <a:chOff x="6223000" y="1422400"/>
            <a:chExt cx="5359400" cy="2311400"/>
          </a:xfrm>
        </p:grpSpPr>
        <p:sp>
          <p:nvSpPr>
            <p:cNvPr id="13" name="Elemento_115">
              <a:extLst>
                <a:ext uri="{FF2B5EF4-FFF2-40B4-BE49-F238E27FC236}">
                  <a16:creationId xmlns:a16="http://schemas.microsoft.com/office/drawing/2014/main" id="{14EF632A-44D9-BF45-EDD6-3A9F0D54C141}"/>
                </a:ext>
              </a:extLst>
            </p:cNvPr>
            <p:cNvSpPr/>
            <p:nvPr/>
          </p:nvSpPr>
          <p:spPr>
            <a:xfrm>
              <a:off x="6223000" y="1422400"/>
              <a:ext cx="5359400" cy="2311400"/>
            </a:xfrm>
            <a:prstGeom prst="roundRect">
              <a:avLst>
                <a:gd name="adj" fmla="val 5495"/>
              </a:avLst>
            </a:prstGeom>
            <a:solidFill>
              <a:srgbClr val="FFFFFF"/>
            </a:solidFill>
            <a:ln w="9525" cap="flat" cmpd="sng" algn="ctr">
              <a:solidFill>
                <a:srgbClr val="DBE2EA"/>
              </a:solidFill>
              <a:prstDash val="solid"/>
              <a:miter lim="800000"/>
            </a:ln>
            <a:effectLst>
              <a:outerShdw blurRad="152400" dist="50800" dir="5400000" rotWithShape="0">
                <a:srgbClr val="0F172A">
                  <a:alpha val="1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4" name="Elemento_116">
              <a:extLst>
                <a:ext uri="{FF2B5EF4-FFF2-40B4-BE49-F238E27FC236}">
                  <a16:creationId xmlns:a16="http://schemas.microsoft.com/office/drawing/2014/main" id="{69A17ACE-1AE9-78CA-9844-B31C335329C1}"/>
                </a:ext>
              </a:extLst>
            </p:cNvPr>
            <p:cNvSpPr/>
            <p:nvPr/>
          </p:nvSpPr>
          <p:spPr>
            <a:xfrm>
              <a:off x="6477000" y="1651000"/>
              <a:ext cx="431800" cy="431800"/>
            </a:xfrm>
            <a:prstGeom prst="roundRect">
              <a:avLst>
                <a:gd name="adj" fmla="val 23529"/>
              </a:avLst>
            </a:prstGeom>
            <a:solidFill>
              <a:srgbClr val="7C5CB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25400" rIns="0" bIns="25400" rtlCol="0" anchor="ctr"/>
            <a:lstStyle/>
            <a:p>
              <a:pPr algn="ctr"/>
              <a:r>
                <a:rPr lang="pt-BR" sz="1200" b="1">
                  <a:solidFill>
                    <a:srgbClr val="FFFFFF"/>
                  </a:solidFill>
                  <a:latin typeface="Segoe UI" panose="020B0502040204020203" pitchFamily="34" charset="0"/>
                </a:rPr>
                <a:t>02</a:t>
              </a:r>
            </a:p>
          </p:txBody>
        </p:sp>
        <p:sp>
          <p:nvSpPr>
            <p:cNvPr id="15" name="Elemento_117">
              <a:extLst>
                <a:ext uri="{FF2B5EF4-FFF2-40B4-BE49-F238E27FC236}">
                  <a16:creationId xmlns:a16="http://schemas.microsoft.com/office/drawing/2014/main" id="{7BB61F5E-375F-AAAB-9100-B08C8F39238F}"/>
                </a:ext>
              </a:extLst>
            </p:cNvPr>
            <p:cNvSpPr txBox="1"/>
            <p:nvPr/>
          </p:nvSpPr>
          <p:spPr>
            <a:xfrm>
              <a:off x="7061200" y="1651000"/>
              <a:ext cx="4318000" cy="4318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>
              <a:noAutofit/>
            </a:bodyPr>
            <a:lstStyle/>
            <a:p>
              <a:r>
                <a:rPr lang="pt-BR" sz="1550" b="1">
                  <a:solidFill>
                    <a:srgbClr val="1B263B"/>
                  </a:solidFill>
                  <a:latin typeface="Segoe UI" panose="020B0502040204020203" pitchFamily="34" charset="0"/>
                </a:rPr>
                <a:t>Comparação justa</a:t>
              </a:r>
            </a:p>
          </p:txBody>
        </p:sp>
        <p:sp>
          <p:nvSpPr>
            <p:cNvPr id="16" name="Elemento_118">
              <a:extLst>
                <a:ext uri="{FF2B5EF4-FFF2-40B4-BE49-F238E27FC236}">
                  <a16:creationId xmlns:a16="http://schemas.microsoft.com/office/drawing/2014/main" id="{45CBFFB9-F16F-A3C0-0715-F0505413E1F6}"/>
                </a:ext>
              </a:extLst>
            </p:cNvPr>
            <p:cNvSpPr/>
            <p:nvPr/>
          </p:nvSpPr>
          <p:spPr>
            <a:xfrm>
              <a:off x="6477000" y="2209800"/>
              <a:ext cx="457200" cy="38100"/>
            </a:xfrm>
            <a:prstGeom prst="rect">
              <a:avLst/>
            </a:prstGeom>
            <a:solidFill>
              <a:srgbClr val="7C5CB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7" name="Elemento_119">
              <a:extLst>
                <a:ext uri="{FF2B5EF4-FFF2-40B4-BE49-F238E27FC236}">
                  <a16:creationId xmlns:a16="http://schemas.microsoft.com/office/drawing/2014/main" id="{68D56D6C-1B64-7F08-7E0A-6105A8DA1AB4}"/>
                </a:ext>
              </a:extLst>
            </p:cNvPr>
            <p:cNvSpPr txBox="1"/>
            <p:nvPr/>
          </p:nvSpPr>
          <p:spPr>
            <a:xfrm>
              <a:off x="6477000" y="2438400"/>
              <a:ext cx="4851400" cy="11430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r>
                <a:rPr lang="pt-BR" sz="1500">
                  <a:solidFill>
                    <a:srgbClr val="243046"/>
                  </a:solidFill>
                  <a:latin typeface="Segoe UI" panose="020B0502040204020203" pitchFamily="34" charset="0"/>
                </a:rPr>
                <a:t>As duas versões usam as mesmas restrições e o mesmo domínio: só mudam a ordem da busca e o forward checking. A diferença de desempenho vem só das heurísticas.</a:t>
              </a:r>
            </a:p>
          </p:txBody>
        </p:sp>
      </p:grpSp>
      <p:grpSp>
        <p:nvGrpSpPr>
          <p:cNvPr id="24" name="Agrupar 23">
            <a:extLst>
              <a:ext uri="{FF2B5EF4-FFF2-40B4-BE49-F238E27FC236}">
                <a16:creationId xmlns:a16="http://schemas.microsoft.com/office/drawing/2014/main" id="{1C664E30-93C9-7B10-E43C-CD0475B1DF4F}"/>
              </a:ext>
            </a:extLst>
          </p:cNvPr>
          <p:cNvGrpSpPr/>
          <p:nvPr/>
        </p:nvGrpSpPr>
        <p:grpSpPr>
          <a:xfrm>
            <a:off x="609600" y="3911600"/>
            <a:ext cx="5359400" cy="2311400"/>
            <a:chOff x="609600" y="3911600"/>
            <a:chExt cx="5359400" cy="2311400"/>
          </a:xfrm>
        </p:grpSpPr>
        <p:sp>
          <p:nvSpPr>
            <p:cNvPr id="19" name="Elemento_120">
              <a:extLst>
                <a:ext uri="{FF2B5EF4-FFF2-40B4-BE49-F238E27FC236}">
                  <a16:creationId xmlns:a16="http://schemas.microsoft.com/office/drawing/2014/main" id="{29D7C9DC-1A95-6595-E310-A2772724090D}"/>
                </a:ext>
              </a:extLst>
            </p:cNvPr>
            <p:cNvSpPr/>
            <p:nvPr/>
          </p:nvSpPr>
          <p:spPr>
            <a:xfrm>
              <a:off x="609600" y="3911600"/>
              <a:ext cx="5359400" cy="2311400"/>
            </a:xfrm>
            <a:prstGeom prst="roundRect">
              <a:avLst>
                <a:gd name="adj" fmla="val 5495"/>
              </a:avLst>
            </a:prstGeom>
            <a:solidFill>
              <a:srgbClr val="FFFFFF"/>
            </a:solidFill>
            <a:ln w="9525" cap="flat" cmpd="sng" algn="ctr">
              <a:solidFill>
                <a:srgbClr val="DBE2EA"/>
              </a:solidFill>
              <a:prstDash val="solid"/>
              <a:miter lim="800000"/>
            </a:ln>
            <a:effectLst>
              <a:outerShdw blurRad="152400" dist="50800" dir="5400000" rotWithShape="0">
                <a:srgbClr val="0F172A">
                  <a:alpha val="1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0" name="Elemento_121">
              <a:extLst>
                <a:ext uri="{FF2B5EF4-FFF2-40B4-BE49-F238E27FC236}">
                  <a16:creationId xmlns:a16="http://schemas.microsoft.com/office/drawing/2014/main" id="{1CDD9DDA-8632-2033-9E25-1265AACB2610}"/>
                </a:ext>
              </a:extLst>
            </p:cNvPr>
            <p:cNvSpPr/>
            <p:nvPr/>
          </p:nvSpPr>
          <p:spPr>
            <a:xfrm>
              <a:off x="863600" y="4140200"/>
              <a:ext cx="431800" cy="431800"/>
            </a:xfrm>
            <a:prstGeom prst="roundRect">
              <a:avLst>
                <a:gd name="adj" fmla="val 23529"/>
              </a:avLst>
            </a:prstGeom>
            <a:solidFill>
              <a:srgbClr val="DE9C28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25400" rIns="0" bIns="25400" rtlCol="0" anchor="ctr"/>
            <a:lstStyle/>
            <a:p>
              <a:pPr algn="ctr"/>
              <a:r>
                <a:rPr lang="pt-BR" sz="1200" b="1">
                  <a:solidFill>
                    <a:srgbClr val="FFFFFF"/>
                  </a:solidFill>
                  <a:latin typeface="Segoe UI" panose="020B0502040204020203" pitchFamily="34" charset="0"/>
                </a:rPr>
                <a:t>03</a:t>
              </a:r>
            </a:p>
          </p:txBody>
        </p:sp>
        <p:sp>
          <p:nvSpPr>
            <p:cNvPr id="21" name="Elemento_122">
              <a:extLst>
                <a:ext uri="{FF2B5EF4-FFF2-40B4-BE49-F238E27FC236}">
                  <a16:creationId xmlns:a16="http://schemas.microsoft.com/office/drawing/2014/main" id="{4EEBECFC-44E3-F362-FD85-391530E893EA}"/>
                </a:ext>
              </a:extLst>
            </p:cNvPr>
            <p:cNvSpPr txBox="1"/>
            <p:nvPr/>
          </p:nvSpPr>
          <p:spPr>
            <a:xfrm>
              <a:off x="1447800" y="4140200"/>
              <a:ext cx="4318000" cy="4318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>
              <a:noAutofit/>
            </a:bodyPr>
            <a:lstStyle/>
            <a:p>
              <a:r>
                <a:rPr lang="pt-BR" sz="1550" b="1">
                  <a:solidFill>
                    <a:srgbClr val="1B263B"/>
                  </a:solidFill>
                  <a:latin typeface="Segoe UI" panose="020B0502040204020203" pitchFamily="34" charset="0"/>
                </a:rPr>
                <a:t>Filtragem antecipada</a:t>
              </a:r>
            </a:p>
          </p:txBody>
        </p:sp>
        <p:sp>
          <p:nvSpPr>
            <p:cNvPr id="22" name="Elemento_123">
              <a:extLst>
                <a:ext uri="{FF2B5EF4-FFF2-40B4-BE49-F238E27FC236}">
                  <a16:creationId xmlns:a16="http://schemas.microsoft.com/office/drawing/2014/main" id="{DE79F04A-EF06-38DE-1A5C-26406635FC07}"/>
                </a:ext>
              </a:extLst>
            </p:cNvPr>
            <p:cNvSpPr/>
            <p:nvPr/>
          </p:nvSpPr>
          <p:spPr>
            <a:xfrm>
              <a:off x="863600" y="4699000"/>
              <a:ext cx="457200" cy="38100"/>
            </a:xfrm>
            <a:prstGeom prst="rect">
              <a:avLst/>
            </a:prstGeom>
            <a:solidFill>
              <a:srgbClr val="DE9C28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3" name="Elemento_124">
              <a:extLst>
                <a:ext uri="{FF2B5EF4-FFF2-40B4-BE49-F238E27FC236}">
                  <a16:creationId xmlns:a16="http://schemas.microsoft.com/office/drawing/2014/main" id="{B10826EB-4F46-6D98-B00E-00233CB73340}"/>
                </a:ext>
              </a:extLst>
            </p:cNvPr>
            <p:cNvSpPr txBox="1"/>
            <p:nvPr/>
          </p:nvSpPr>
          <p:spPr>
            <a:xfrm>
              <a:off x="863600" y="4927600"/>
              <a:ext cx="4851400" cy="11430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r>
                <a:rPr lang="pt-BR" sz="1500">
                  <a:solidFill>
                    <a:srgbClr val="243046"/>
                  </a:solidFill>
                  <a:latin typeface="Segoe UI" panose="020B0502040204020203" pitchFamily="34" charset="0"/>
                </a:rPr>
                <a:t>Especialidade e disponibilidade já filtram o domínio antes da busca; os conflitos entre atendimentos são checados durante a busca.</a:t>
              </a:r>
            </a:p>
          </p:txBody>
        </p:sp>
      </p:grpSp>
      <p:grpSp>
        <p:nvGrpSpPr>
          <p:cNvPr id="30" name="Agrupar 29">
            <a:extLst>
              <a:ext uri="{FF2B5EF4-FFF2-40B4-BE49-F238E27FC236}">
                <a16:creationId xmlns:a16="http://schemas.microsoft.com/office/drawing/2014/main" id="{401BB95B-CEB6-4493-31F9-96CE392D9F3A}"/>
              </a:ext>
            </a:extLst>
          </p:cNvPr>
          <p:cNvGrpSpPr/>
          <p:nvPr/>
        </p:nvGrpSpPr>
        <p:grpSpPr>
          <a:xfrm>
            <a:off x="6223000" y="3911600"/>
            <a:ext cx="5359400" cy="2311400"/>
            <a:chOff x="6223000" y="3911600"/>
            <a:chExt cx="5359400" cy="2311400"/>
          </a:xfrm>
        </p:grpSpPr>
        <p:sp>
          <p:nvSpPr>
            <p:cNvPr id="25" name="Elemento_125">
              <a:extLst>
                <a:ext uri="{FF2B5EF4-FFF2-40B4-BE49-F238E27FC236}">
                  <a16:creationId xmlns:a16="http://schemas.microsoft.com/office/drawing/2014/main" id="{9216934B-ABE4-07A4-DB49-FA4364729389}"/>
                </a:ext>
              </a:extLst>
            </p:cNvPr>
            <p:cNvSpPr/>
            <p:nvPr/>
          </p:nvSpPr>
          <p:spPr>
            <a:xfrm>
              <a:off x="6223000" y="3911600"/>
              <a:ext cx="5359400" cy="2311400"/>
            </a:xfrm>
            <a:prstGeom prst="roundRect">
              <a:avLst>
                <a:gd name="adj" fmla="val 5495"/>
              </a:avLst>
            </a:prstGeom>
            <a:solidFill>
              <a:srgbClr val="FFFFFF"/>
            </a:solidFill>
            <a:ln w="9525" cap="flat" cmpd="sng" algn="ctr">
              <a:solidFill>
                <a:srgbClr val="DBE2EA"/>
              </a:solidFill>
              <a:prstDash val="solid"/>
              <a:miter lim="800000"/>
            </a:ln>
            <a:effectLst>
              <a:outerShdw blurRad="152400" dist="50800" dir="5400000" rotWithShape="0">
                <a:srgbClr val="0F172A">
                  <a:alpha val="1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6" name="Elemento_126">
              <a:extLst>
                <a:ext uri="{FF2B5EF4-FFF2-40B4-BE49-F238E27FC236}">
                  <a16:creationId xmlns:a16="http://schemas.microsoft.com/office/drawing/2014/main" id="{49E0625B-E1DF-9320-8CA3-1E2C5175E4CE}"/>
                </a:ext>
              </a:extLst>
            </p:cNvPr>
            <p:cNvSpPr/>
            <p:nvPr/>
          </p:nvSpPr>
          <p:spPr>
            <a:xfrm>
              <a:off x="6477000" y="4140200"/>
              <a:ext cx="431800" cy="431800"/>
            </a:xfrm>
            <a:prstGeom prst="roundRect">
              <a:avLst>
                <a:gd name="adj" fmla="val 23529"/>
              </a:avLst>
            </a:prstGeom>
            <a:solidFill>
              <a:srgbClr val="E76F51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25400" rIns="0" bIns="25400" rtlCol="0" anchor="ctr"/>
            <a:lstStyle/>
            <a:p>
              <a:pPr algn="ctr"/>
              <a:r>
                <a:rPr lang="pt-BR" sz="1200" b="1">
                  <a:solidFill>
                    <a:srgbClr val="FFFFFF"/>
                  </a:solidFill>
                  <a:latin typeface="Segoe UI" panose="020B0502040204020203" pitchFamily="34" charset="0"/>
                </a:rPr>
                <a:t>04</a:t>
              </a:r>
            </a:p>
          </p:txBody>
        </p:sp>
        <p:sp>
          <p:nvSpPr>
            <p:cNvPr id="27" name="Elemento_127">
              <a:extLst>
                <a:ext uri="{FF2B5EF4-FFF2-40B4-BE49-F238E27FC236}">
                  <a16:creationId xmlns:a16="http://schemas.microsoft.com/office/drawing/2014/main" id="{121781AF-2B96-79E8-B43B-E33C3F3146EB}"/>
                </a:ext>
              </a:extLst>
            </p:cNvPr>
            <p:cNvSpPr txBox="1"/>
            <p:nvPr/>
          </p:nvSpPr>
          <p:spPr>
            <a:xfrm>
              <a:off x="7061200" y="4140200"/>
              <a:ext cx="4318000" cy="4318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>
              <a:noAutofit/>
            </a:bodyPr>
            <a:lstStyle/>
            <a:p>
              <a:r>
                <a:rPr lang="pt-BR" sz="1550" b="1">
                  <a:solidFill>
                    <a:srgbClr val="1B263B"/>
                  </a:solidFill>
                  <a:latin typeface="Segoe UI" panose="020B0502040204020203" pitchFamily="34" charset="0"/>
                </a:rPr>
                <a:t>Verificação final</a:t>
              </a:r>
            </a:p>
          </p:txBody>
        </p:sp>
        <p:sp>
          <p:nvSpPr>
            <p:cNvPr id="28" name="Elemento_128">
              <a:extLst>
                <a:ext uri="{FF2B5EF4-FFF2-40B4-BE49-F238E27FC236}">
                  <a16:creationId xmlns:a16="http://schemas.microsoft.com/office/drawing/2014/main" id="{861587EA-964D-0489-4D96-5635D3AA40A4}"/>
                </a:ext>
              </a:extLst>
            </p:cNvPr>
            <p:cNvSpPr/>
            <p:nvPr/>
          </p:nvSpPr>
          <p:spPr>
            <a:xfrm>
              <a:off x="6477000" y="4699000"/>
              <a:ext cx="457200" cy="38100"/>
            </a:xfrm>
            <a:prstGeom prst="rect">
              <a:avLst/>
            </a:prstGeom>
            <a:solidFill>
              <a:srgbClr val="E76F51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9" name="Elemento_129">
              <a:extLst>
                <a:ext uri="{FF2B5EF4-FFF2-40B4-BE49-F238E27FC236}">
                  <a16:creationId xmlns:a16="http://schemas.microsoft.com/office/drawing/2014/main" id="{C36865EE-B324-45DA-F6CF-64345ADD4495}"/>
                </a:ext>
              </a:extLst>
            </p:cNvPr>
            <p:cNvSpPr txBox="1"/>
            <p:nvPr/>
          </p:nvSpPr>
          <p:spPr>
            <a:xfrm>
              <a:off x="6477000" y="4927600"/>
              <a:ext cx="4851400" cy="11430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r>
                <a:rPr lang="pt-BR" sz="1500">
                  <a:solidFill>
                    <a:srgbClr val="243046"/>
                  </a:solidFill>
                  <a:latin typeface="Segoe UI" panose="020B0502040204020203" pitchFamily="34" charset="0"/>
                </a:rPr>
                <a:t>Ao final, a solução é conferida de novo, de forma independente.</a:t>
              </a:r>
            </a:p>
          </p:txBody>
        </p:sp>
      </p:grpSp>
      <p:cxnSp>
        <p:nvCxnSpPr>
          <p:cNvPr id="31" name="Conector reto 30">
            <a:extLst>
              <a:ext uri="{FF2B5EF4-FFF2-40B4-BE49-F238E27FC236}">
                <a16:creationId xmlns:a16="http://schemas.microsoft.com/office/drawing/2014/main" id="{4BCF3076-4409-6B20-1C5D-C09B05574E88}"/>
              </a:ext>
            </a:extLst>
          </p:cNvPr>
          <p:cNvCxnSpPr/>
          <p:nvPr/>
        </p:nvCxnSpPr>
        <p:spPr>
          <a:xfrm>
            <a:off x="609600" y="6400800"/>
            <a:ext cx="10972800" cy="0"/>
          </a:xfrm>
          <a:prstGeom prst="line">
            <a:avLst/>
          </a:prstGeom>
          <a:ln w="9525">
            <a:solidFill>
              <a:srgbClr val="DB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4CFEE716-ED31-34C4-60CE-170D3B70EB96}"/>
              </a:ext>
            </a:extLst>
          </p:cNvPr>
          <p:cNvSpPr txBox="1"/>
          <p:nvPr/>
        </p:nvSpPr>
        <p:spPr>
          <a:xfrm>
            <a:off x="609600" y="6502400"/>
            <a:ext cx="8128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900">
                <a:solidFill>
                  <a:srgbClr val="647187"/>
                </a:solidFill>
                <a:latin typeface="Segoe UI" panose="020B0502040204020203" pitchFamily="34" charset="0"/>
              </a:rPr>
              <a:t>Introdução à Inteligência Artificial  ·  Tema 9 — Agendamento de Consultas/Atendimentos como PSR</a:t>
            </a:r>
          </a:p>
        </p:txBody>
      </p:sp>
      <p:sp>
        <p:nvSpPr>
          <p:cNvPr id="33" name="CaixaDeTexto 32">
            <a:extLst>
              <a:ext uri="{FF2B5EF4-FFF2-40B4-BE49-F238E27FC236}">
                <a16:creationId xmlns:a16="http://schemas.microsoft.com/office/drawing/2014/main" id="{4D8E0A3E-A40D-6366-B45F-0BC0EDB5BBDB}"/>
              </a:ext>
            </a:extLst>
          </p:cNvPr>
          <p:cNvSpPr txBox="1"/>
          <p:nvPr/>
        </p:nvSpPr>
        <p:spPr>
          <a:xfrm>
            <a:off x="10058400" y="6502400"/>
            <a:ext cx="1524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pt-BR" sz="900" b="1">
                <a:solidFill>
                  <a:srgbClr val="647187"/>
                </a:solidFill>
                <a:latin typeface="Segoe UI" panose="020B0502040204020203" pitchFamily="34" charset="0"/>
              </a:rPr>
              <a:t>11 / 17</a:t>
            </a:r>
          </a:p>
        </p:txBody>
      </p:sp>
    </p:spTree>
    <p:extLst>
      <p:ext uri="{BB962C8B-B14F-4D97-AF65-F5344CB8AC3E}">
        <p14:creationId xmlns:p14="http://schemas.microsoft.com/office/powerpoint/2010/main" val="45684061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5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7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5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02FB83D3-FF33-7778-7C0F-83252409E084}"/>
              </a:ext>
            </a:extLst>
          </p:cNvPr>
          <p:cNvSpPr/>
          <p:nvPr/>
        </p:nvSpPr>
        <p:spPr>
          <a:xfrm>
            <a:off x="0" y="0"/>
            <a:ext cx="127000" cy="6858000"/>
          </a:xfrm>
          <a:prstGeom prst="rect">
            <a:avLst/>
          </a:prstGeom>
          <a:solidFill>
            <a:srgbClr val="1B263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49596346-3ED3-3FF7-1E45-59BB022E790F}"/>
              </a:ext>
            </a:extLst>
          </p:cNvPr>
          <p:cNvSpPr/>
          <p:nvPr/>
        </p:nvSpPr>
        <p:spPr>
          <a:xfrm>
            <a:off x="0" y="279400"/>
            <a:ext cx="127000" cy="889000"/>
          </a:xfrm>
          <a:prstGeom prst="rect">
            <a:avLst/>
          </a:prstGeom>
          <a:solidFill>
            <a:srgbClr val="2A9D8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8579CF3A-9D43-159B-40F8-E38BCB2F2170}"/>
              </a:ext>
            </a:extLst>
          </p:cNvPr>
          <p:cNvSpPr txBox="1"/>
          <p:nvPr/>
        </p:nvSpPr>
        <p:spPr>
          <a:xfrm>
            <a:off x="609600" y="355600"/>
            <a:ext cx="8890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050" b="1" spc="160">
                <a:solidFill>
                  <a:srgbClr val="2A9D8F"/>
                </a:solidFill>
                <a:latin typeface="Segoe UI" panose="020B0502040204020203" pitchFamily="34" charset="0"/>
              </a:rPr>
              <a:t>DESENVOLVIMENTO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0CBD4069-EEFD-01D8-DE60-9E9EA9DD9CF9}"/>
              </a:ext>
            </a:extLst>
          </p:cNvPr>
          <p:cNvSpPr txBox="1"/>
          <p:nvPr/>
        </p:nvSpPr>
        <p:spPr>
          <a:xfrm>
            <a:off x="609600" y="558800"/>
            <a:ext cx="94488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2600" b="1">
                <a:solidFill>
                  <a:srgbClr val="1B263B"/>
                </a:solidFill>
                <a:latin typeface="Segoe UI" panose="020B0502040204020203" pitchFamily="34" charset="0"/>
              </a:rPr>
              <a:t>Demonstração ao vivo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D8D783AC-638E-BB59-7E8A-9E27D13CC2A6}"/>
              </a:ext>
            </a:extLst>
          </p:cNvPr>
          <p:cNvSpPr/>
          <p:nvPr/>
        </p:nvSpPr>
        <p:spPr>
          <a:xfrm>
            <a:off x="609600" y="1117600"/>
            <a:ext cx="711200" cy="44450"/>
          </a:xfrm>
          <a:prstGeom prst="rect">
            <a:avLst/>
          </a:prstGeom>
          <a:solidFill>
            <a:srgbClr val="2A9D8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7D14145A-6D37-A522-0D6B-F17ED7DE91BC}"/>
              </a:ext>
            </a:extLst>
          </p:cNvPr>
          <p:cNvSpPr/>
          <p:nvPr/>
        </p:nvSpPr>
        <p:spPr>
          <a:xfrm>
            <a:off x="10414000" y="381000"/>
            <a:ext cx="1168400" cy="330200"/>
          </a:xfrm>
          <a:prstGeom prst="roundRect">
            <a:avLst>
              <a:gd name="adj" fmla="val 50000"/>
            </a:avLst>
          </a:prstGeom>
          <a:solidFill>
            <a:srgbClr val="F2F5F9"/>
          </a:solidFill>
          <a:ln w="9525" cap="flat" cmpd="sng" algn="ctr">
            <a:solidFill>
              <a:srgbClr val="DBE2EA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25400" rIns="76200" bIns="25400" rtlCol="0" anchor="ctr">
            <a:noAutofit/>
          </a:bodyPr>
          <a:lstStyle/>
          <a:p>
            <a:pPr algn="ctr"/>
            <a:r>
              <a:rPr lang="pt-BR" sz="1100" b="1">
                <a:solidFill>
                  <a:srgbClr val="647187"/>
                </a:solidFill>
                <a:latin typeface="Segoe UI" panose="020B0502040204020203" pitchFamily="34" charset="0"/>
              </a:rPr>
              <a:t>≈ 5 min</a:t>
            </a:r>
          </a:p>
        </p:txBody>
      </p:sp>
      <p:cxnSp>
        <p:nvCxnSpPr>
          <p:cNvPr id="8" name="Conector reto 7">
            <a:extLst>
              <a:ext uri="{FF2B5EF4-FFF2-40B4-BE49-F238E27FC236}">
                <a16:creationId xmlns:a16="http://schemas.microsoft.com/office/drawing/2014/main" id="{3DF18A5E-CE83-2CFE-2138-32E0B75E8D21}"/>
              </a:ext>
            </a:extLst>
          </p:cNvPr>
          <p:cNvCxnSpPr/>
          <p:nvPr/>
        </p:nvCxnSpPr>
        <p:spPr>
          <a:xfrm>
            <a:off x="825500" y="1638300"/>
            <a:ext cx="0" cy="3759200"/>
          </a:xfrm>
          <a:prstGeom prst="line">
            <a:avLst/>
          </a:prstGeom>
          <a:ln w="25400">
            <a:solidFill>
              <a:srgbClr val="DB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Elipse 8">
            <a:extLst>
              <a:ext uri="{FF2B5EF4-FFF2-40B4-BE49-F238E27FC236}">
                <a16:creationId xmlns:a16="http://schemas.microsoft.com/office/drawing/2014/main" id="{9BC53E86-6581-750A-B850-82E7556B0477}"/>
              </a:ext>
            </a:extLst>
          </p:cNvPr>
          <p:cNvSpPr/>
          <p:nvPr/>
        </p:nvSpPr>
        <p:spPr>
          <a:xfrm>
            <a:off x="609600" y="1422400"/>
            <a:ext cx="431800" cy="431800"/>
          </a:xfrm>
          <a:prstGeom prst="ellipse">
            <a:avLst/>
          </a:prstGeom>
          <a:solidFill>
            <a:srgbClr val="1B263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25400" rIns="0" bIns="25400" rtlCol="0" anchor="ctr"/>
          <a:lstStyle/>
          <a:p>
            <a:pPr algn="ctr"/>
            <a:r>
              <a:rPr lang="pt-BR" sz="1300" b="1">
                <a:solidFill>
                  <a:srgbClr val="FFFFFF"/>
                </a:solidFill>
                <a:latin typeface="Segoe UI" panose="020B0502040204020203" pitchFamily="34" charset="0"/>
              </a:rPr>
              <a:t>1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9DD3BD53-8433-E383-1638-3DDA2EC41971}"/>
              </a:ext>
            </a:extLst>
          </p:cNvPr>
          <p:cNvSpPr txBox="1"/>
          <p:nvPr/>
        </p:nvSpPr>
        <p:spPr>
          <a:xfrm>
            <a:off x="1244600" y="1447800"/>
            <a:ext cx="58420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450" b="1">
                <a:solidFill>
                  <a:srgbClr val="1B263B"/>
                </a:solidFill>
                <a:latin typeface="Segoe UI" panose="020B0502040204020203" pitchFamily="34" charset="0"/>
              </a:rPr>
              <a:t>Dados de entrada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7B5880AE-0B94-A4BF-A8B9-FFAF320B970E}"/>
              </a:ext>
            </a:extLst>
          </p:cNvPr>
          <p:cNvSpPr txBox="1"/>
          <p:nvPr/>
        </p:nvSpPr>
        <p:spPr>
          <a:xfrm>
            <a:off x="1244600" y="1727200"/>
            <a:ext cx="5842000" cy="558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250">
                <a:solidFill>
                  <a:srgbClr val="647187"/>
                </a:solidFill>
                <a:latin typeface="Segoe UI" panose="020B0502040204020203" pitchFamily="34" charset="0"/>
              </a:rPr>
              <a:t>Abrir dados/instancias/demo.json e apresentar os dados de entrada.</a:t>
            </a:r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D53F5D85-F681-C410-346E-034900C67F5A}"/>
              </a:ext>
            </a:extLst>
          </p:cNvPr>
          <p:cNvSpPr/>
          <p:nvPr/>
        </p:nvSpPr>
        <p:spPr>
          <a:xfrm>
            <a:off x="609600" y="2362200"/>
            <a:ext cx="431800" cy="431800"/>
          </a:xfrm>
          <a:prstGeom prst="ellipse">
            <a:avLst/>
          </a:prstGeom>
          <a:solidFill>
            <a:srgbClr val="1B263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25400" rIns="0" bIns="25400" rtlCol="0" anchor="ctr"/>
          <a:lstStyle/>
          <a:p>
            <a:pPr algn="ctr"/>
            <a:r>
              <a:rPr lang="pt-BR" sz="1300" b="1">
                <a:solidFill>
                  <a:srgbClr val="FFFFFF"/>
                </a:solidFill>
                <a:latin typeface="Segoe UI" panose="020B0502040204020203" pitchFamily="34" charset="0"/>
              </a:rPr>
              <a:t>2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5AFD72D0-85C5-3CA1-99F9-529786D5F39E}"/>
              </a:ext>
            </a:extLst>
          </p:cNvPr>
          <p:cNvSpPr txBox="1"/>
          <p:nvPr/>
        </p:nvSpPr>
        <p:spPr>
          <a:xfrm>
            <a:off x="1244600" y="2387600"/>
            <a:ext cx="58420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450" b="1">
                <a:solidFill>
                  <a:srgbClr val="1B263B"/>
                </a:solidFill>
                <a:latin typeface="Segoe UI" panose="020B0502040204020203" pitchFamily="34" charset="0"/>
              </a:rPr>
              <a:t>Resolver com o método aprimorado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37D7D5AB-AEB7-F769-727D-4B0C299BD344}"/>
              </a:ext>
            </a:extLst>
          </p:cNvPr>
          <p:cNvSpPr txBox="1"/>
          <p:nvPr/>
        </p:nvSpPr>
        <p:spPr>
          <a:xfrm>
            <a:off x="1244600" y="2667000"/>
            <a:ext cx="5842000" cy="558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250">
                <a:solidFill>
                  <a:srgbClr val="647187"/>
                </a:solidFill>
                <a:latin typeface="Segoe UI" panose="020B0502040204020203" pitchFamily="34" charset="0"/>
              </a:rPr>
              <a:t>Executar o comando resolver (ao lado) com --metodo aprimorado.</a:t>
            </a:r>
          </a:p>
        </p:txBody>
      </p:sp>
      <p:sp>
        <p:nvSpPr>
          <p:cNvPr id="15" name="Elipse 14">
            <a:extLst>
              <a:ext uri="{FF2B5EF4-FFF2-40B4-BE49-F238E27FC236}">
                <a16:creationId xmlns:a16="http://schemas.microsoft.com/office/drawing/2014/main" id="{81355A4C-BB32-B61F-9C9A-B49BF60911BE}"/>
              </a:ext>
            </a:extLst>
          </p:cNvPr>
          <p:cNvSpPr/>
          <p:nvPr/>
        </p:nvSpPr>
        <p:spPr>
          <a:xfrm>
            <a:off x="609600" y="3302000"/>
            <a:ext cx="431800" cy="431800"/>
          </a:xfrm>
          <a:prstGeom prst="ellipse">
            <a:avLst/>
          </a:prstGeom>
          <a:solidFill>
            <a:srgbClr val="1B263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25400" rIns="0" bIns="25400" rtlCol="0" anchor="ctr"/>
          <a:lstStyle/>
          <a:p>
            <a:pPr algn="ctr"/>
            <a:r>
              <a:rPr lang="pt-BR" sz="1300" b="1">
                <a:solidFill>
                  <a:srgbClr val="FFFFFF"/>
                </a:solidFill>
                <a:latin typeface="Segoe UI" panose="020B0502040204020203" pitchFamily="34" charset="0"/>
              </a:rPr>
              <a:t>3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6B3AF571-302B-520B-FEA4-06D3C1327907}"/>
              </a:ext>
            </a:extLst>
          </p:cNvPr>
          <p:cNvSpPr txBox="1"/>
          <p:nvPr/>
        </p:nvSpPr>
        <p:spPr>
          <a:xfrm>
            <a:off x="1244600" y="3327400"/>
            <a:ext cx="58420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450" b="1">
                <a:solidFill>
                  <a:srgbClr val="1B263B"/>
                </a:solidFill>
                <a:latin typeface="Segoe UI" panose="020B0502040204020203" pitchFamily="34" charset="0"/>
              </a:rPr>
              <a:t>Conferir as agendas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1C963961-F5CC-E5CD-2AEC-E6202789E1A2}"/>
              </a:ext>
            </a:extLst>
          </p:cNvPr>
          <p:cNvSpPr txBox="1"/>
          <p:nvPr/>
        </p:nvSpPr>
        <p:spPr>
          <a:xfrm>
            <a:off x="1244600" y="3606800"/>
            <a:ext cx="5842000" cy="558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250">
                <a:solidFill>
                  <a:srgbClr val="647187"/>
                </a:solidFill>
                <a:latin typeface="Segoe UI" panose="020B0502040204020203" pitchFamily="34" charset="0"/>
              </a:rPr>
              <a:t>Agenda por profissional, por horário e por cliente; confirmar “conflitos na solução: 0”.</a:t>
            </a:r>
          </a:p>
        </p:txBody>
      </p:sp>
      <p:sp>
        <p:nvSpPr>
          <p:cNvPr id="18" name="Elipse 17">
            <a:extLst>
              <a:ext uri="{FF2B5EF4-FFF2-40B4-BE49-F238E27FC236}">
                <a16:creationId xmlns:a16="http://schemas.microsoft.com/office/drawing/2014/main" id="{489DD258-3466-B80B-D0D6-B7AEB41284DC}"/>
              </a:ext>
            </a:extLst>
          </p:cNvPr>
          <p:cNvSpPr/>
          <p:nvPr/>
        </p:nvSpPr>
        <p:spPr>
          <a:xfrm>
            <a:off x="609600" y="4241800"/>
            <a:ext cx="431800" cy="431800"/>
          </a:xfrm>
          <a:prstGeom prst="ellipse">
            <a:avLst/>
          </a:prstGeom>
          <a:solidFill>
            <a:srgbClr val="1B263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25400" rIns="0" bIns="25400" rtlCol="0" anchor="ctr"/>
          <a:lstStyle/>
          <a:p>
            <a:pPr algn="ctr"/>
            <a:r>
              <a:rPr lang="pt-BR" sz="1300" b="1">
                <a:solidFill>
                  <a:srgbClr val="FFFFFF"/>
                </a:solidFill>
                <a:latin typeface="Segoe UI" panose="020B0502040204020203" pitchFamily="34" charset="0"/>
              </a:rPr>
              <a:t>4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C8505592-6EC1-EAB1-BB4D-1041EEDF7D24}"/>
              </a:ext>
            </a:extLst>
          </p:cNvPr>
          <p:cNvSpPr txBox="1"/>
          <p:nvPr/>
        </p:nvSpPr>
        <p:spPr>
          <a:xfrm>
            <a:off x="1244600" y="4267200"/>
            <a:ext cx="58420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450" b="1">
                <a:solidFill>
                  <a:srgbClr val="1B263B"/>
                </a:solidFill>
                <a:latin typeface="Segoe UI" panose="020B0502040204020203" pitchFamily="34" charset="0"/>
              </a:rPr>
              <a:t>Alterar um parâmetro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F6EEC0D2-754A-4F0A-BFC4-1BEBBF35BDD5}"/>
              </a:ext>
            </a:extLst>
          </p:cNvPr>
          <p:cNvSpPr txBox="1"/>
          <p:nvPr/>
        </p:nvSpPr>
        <p:spPr>
          <a:xfrm>
            <a:off x="1244600" y="4546600"/>
            <a:ext cx="5842000" cy="558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250">
                <a:solidFill>
                  <a:srgbClr val="647187"/>
                </a:solidFill>
                <a:latin typeface="Segoe UI" panose="020B0502040204020203" pitchFamily="34" charset="0"/>
              </a:rPr>
              <a:t>Pedido pelo professor, editando o JSON: adicionar cliente, remover disponibilidade, adicionar/remover sala.</a:t>
            </a:r>
          </a:p>
        </p:txBody>
      </p:sp>
      <p:sp>
        <p:nvSpPr>
          <p:cNvPr id="21" name="Elipse 20">
            <a:extLst>
              <a:ext uri="{FF2B5EF4-FFF2-40B4-BE49-F238E27FC236}">
                <a16:creationId xmlns:a16="http://schemas.microsoft.com/office/drawing/2014/main" id="{02DC75D4-41AD-04CD-51CB-1F8ED7C64F9D}"/>
              </a:ext>
            </a:extLst>
          </p:cNvPr>
          <p:cNvSpPr/>
          <p:nvPr/>
        </p:nvSpPr>
        <p:spPr>
          <a:xfrm>
            <a:off x="609600" y="5181600"/>
            <a:ext cx="431800" cy="431800"/>
          </a:xfrm>
          <a:prstGeom prst="ellipse">
            <a:avLst/>
          </a:prstGeom>
          <a:solidFill>
            <a:srgbClr val="1B263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25400" rIns="0" bIns="25400" rtlCol="0" anchor="ctr"/>
          <a:lstStyle/>
          <a:p>
            <a:pPr algn="ctr"/>
            <a:r>
              <a:rPr lang="pt-BR" sz="1300" b="1">
                <a:solidFill>
                  <a:srgbClr val="FFFFFF"/>
                </a:solidFill>
                <a:latin typeface="Segoe UI" panose="020B0502040204020203" pitchFamily="34" charset="0"/>
              </a:rPr>
              <a:t>5</a:t>
            </a: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C7B010D5-194B-C12F-9467-4DE9F027786F}"/>
              </a:ext>
            </a:extLst>
          </p:cNvPr>
          <p:cNvSpPr txBox="1"/>
          <p:nvPr/>
        </p:nvSpPr>
        <p:spPr>
          <a:xfrm>
            <a:off x="1244600" y="5207000"/>
            <a:ext cx="58420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450" b="1">
                <a:solidFill>
                  <a:srgbClr val="1B263B"/>
                </a:solidFill>
                <a:latin typeface="Segoe UI" panose="020B0502040204020203" pitchFamily="34" charset="0"/>
              </a:rPr>
              <a:t>Resolver de novo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E32CABFD-8D66-1900-C6F8-6DE227091643}"/>
              </a:ext>
            </a:extLst>
          </p:cNvPr>
          <p:cNvSpPr txBox="1"/>
          <p:nvPr/>
        </p:nvSpPr>
        <p:spPr>
          <a:xfrm>
            <a:off x="1244600" y="5486400"/>
            <a:ext cx="5842000" cy="558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250">
                <a:solidFill>
                  <a:srgbClr val="647187"/>
                </a:solidFill>
                <a:latin typeface="Segoe UI" panose="020B0502040204020203" pitchFamily="34" charset="0"/>
              </a:rPr>
              <a:t>Mostrar a nova agenda. Se não houver mais solução, o programa avisa.</a:t>
            </a:r>
          </a:p>
        </p:txBody>
      </p:sp>
      <p:sp>
        <p:nvSpPr>
          <p:cNvPr id="24" name="Retângulo: Cantos Arredondados 23">
            <a:extLst>
              <a:ext uri="{FF2B5EF4-FFF2-40B4-BE49-F238E27FC236}">
                <a16:creationId xmlns:a16="http://schemas.microsoft.com/office/drawing/2014/main" id="{CB0E5A57-F57F-8ADB-8212-E6324630E775}"/>
              </a:ext>
            </a:extLst>
          </p:cNvPr>
          <p:cNvSpPr/>
          <p:nvPr/>
        </p:nvSpPr>
        <p:spPr>
          <a:xfrm>
            <a:off x="7416800" y="1422400"/>
            <a:ext cx="4165600" cy="4699000"/>
          </a:xfrm>
          <a:prstGeom prst="roundRect">
            <a:avLst>
              <a:gd name="adj" fmla="val 3049"/>
            </a:avLst>
          </a:prstGeom>
          <a:solidFill>
            <a:srgbClr val="161E2E"/>
          </a:solidFill>
          <a:ln w="19050" cap="flat" cmpd="sng" algn="ctr">
            <a:noFill/>
            <a:prstDash val="solid"/>
            <a:miter lim="800000"/>
          </a:ln>
          <a:effectLst>
            <a:outerShdw blurRad="152400" dist="50800" dir="5400000" rotWithShape="0">
              <a:srgbClr val="0F172A">
                <a:alpha val="10000"/>
              </a:srgbClr>
            </a:outerShdw>
          </a:effectLst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5" name="Elipse 24">
            <a:extLst>
              <a:ext uri="{FF2B5EF4-FFF2-40B4-BE49-F238E27FC236}">
                <a16:creationId xmlns:a16="http://schemas.microsoft.com/office/drawing/2014/main" id="{7EBC9674-D63B-B1D6-5E98-529CCC418ADB}"/>
              </a:ext>
            </a:extLst>
          </p:cNvPr>
          <p:cNvSpPr/>
          <p:nvPr/>
        </p:nvSpPr>
        <p:spPr>
          <a:xfrm>
            <a:off x="7620000" y="1600200"/>
            <a:ext cx="127000" cy="127000"/>
          </a:xfrm>
          <a:prstGeom prst="ellipse">
            <a:avLst/>
          </a:prstGeom>
          <a:solidFill>
            <a:srgbClr val="ED6A5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6" name="Elipse 25">
            <a:extLst>
              <a:ext uri="{FF2B5EF4-FFF2-40B4-BE49-F238E27FC236}">
                <a16:creationId xmlns:a16="http://schemas.microsoft.com/office/drawing/2014/main" id="{30E9E14C-C35C-4468-A1D8-F92A1BC218F2}"/>
              </a:ext>
            </a:extLst>
          </p:cNvPr>
          <p:cNvSpPr/>
          <p:nvPr/>
        </p:nvSpPr>
        <p:spPr>
          <a:xfrm>
            <a:off x="7823200" y="1600200"/>
            <a:ext cx="127000" cy="127000"/>
          </a:xfrm>
          <a:prstGeom prst="ellipse">
            <a:avLst/>
          </a:prstGeom>
          <a:solidFill>
            <a:srgbClr val="F5BF4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7" name="Elipse 26">
            <a:extLst>
              <a:ext uri="{FF2B5EF4-FFF2-40B4-BE49-F238E27FC236}">
                <a16:creationId xmlns:a16="http://schemas.microsoft.com/office/drawing/2014/main" id="{436CC6C3-7C58-C097-E1F1-B4CE2B41C68B}"/>
              </a:ext>
            </a:extLst>
          </p:cNvPr>
          <p:cNvSpPr/>
          <p:nvPr/>
        </p:nvSpPr>
        <p:spPr>
          <a:xfrm>
            <a:off x="8026400" y="1600200"/>
            <a:ext cx="127000" cy="127000"/>
          </a:xfrm>
          <a:prstGeom prst="ellipse">
            <a:avLst/>
          </a:prstGeom>
          <a:solidFill>
            <a:srgbClr val="62C55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1193849F-56E6-5D6A-C572-5AE3A58EFFE4}"/>
              </a:ext>
            </a:extLst>
          </p:cNvPr>
          <p:cNvSpPr txBox="1"/>
          <p:nvPr/>
        </p:nvSpPr>
        <p:spPr>
          <a:xfrm>
            <a:off x="8255000" y="1562100"/>
            <a:ext cx="31242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pt-BR" sz="1000">
                <a:solidFill>
                  <a:srgbClr val="7887A0"/>
                </a:solidFill>
                <a:latin typeface="Segoe UI" panose="020B0502040204020203" pitchFamily="34" charset="0"/>
              </a:rPr>
              <a:t>terminal</a:t>
            </a:r>
          </a:p>
        </p:txBody>
      </p:sp>
      <p:cxnSp>
        <p:nvCxnSpPr>
          <p:cNvPr id="29" name="Conector reto 28">
            <a:extLst>
              <a:ext uri="{FF2B5EF4-FFF2-40B4-BE49-F238E27FC236}">
                <a16:creationId xmlns:a16="http://schemas.microsoft.com/office/drawing/2014/main" id="{988D9806-028E-2BE2-B508-1358E46C0FF0}"/>
              </a:ext>
            </a:extLst>
          </p:cNvPr>
          <p:cNvCxnSpPr/>
          <p:nvPr/>
        </p:nvCxnSpPr>
        <p:spPr>
          <a:xfrm>
            <a:off x="7416800" y="1879600"/>
            <a:ext cx="4165600" cy="0"/>
          </a:xfrm>
          <a:prstGeom prst="line">
            <a:avLst/>
          </a:prstGeom>
          <a:ln w="12700">
            <a:solidFill>
              <a:srgbClr val="2D3A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49645BD3-53BB-82B5-12DA-D38272EAF07B}"/>
              </a:ext>
            </a:extLst>
          </p:cNvPr>
          <p:cNvSpPr txBox="1"/>
          <p:nvPr/>
        </p:nvSpPr>
        <p:spPr>
          <a:xfrm>
            <a:off x="7645400" y="2057400"/>
            <a:ext cx="3733800" cy="3937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400"/>
              </a:spcAft>
            </a:pPr>
            <a:r>
              <a:rPr lang="pt-BR" sz="1250" i="1">
                <a:solidFill>
                  <a:srgbClr val="7887A0"/>
                </a:solidFill>
                <a:latin typeface="Consolas" panose="020B0609020204030204" pitchFamily="49" charset="0"/>
              </a:rPr>
              <a:t># 1. dados de entrada</a:t>
            </a:r>
          </a:p>
          <a:p>
            <a:pPr>
              <a:spcAft>
                <a:spcPts val="400"/>
              </a:spcAft>
            </a:pPr>
            <a:r>
              <a:rPr lang="pt-BR" sz="1250">
                <a:solidFill>
                  <a:srgbClr val="DCE4F0"/>
                </a:solidFill>
                <a:latin typeface="Consolas" panose="020B0609020204030204" pitchFamily="49" charset="0"/>
              </a:rPr>
              <a:t>dados/instancias/demo.json</a:t>
            </a:r>
          </a:p>
          <a:p>
            <a:pPr>
              <a:spcAft>
                <a:spcPts val="400"/>
              </a:spcAft>
            </a:pPr>
            <a:endParaRPr lang="pt-BR" sz="1250">
              <a:solidFill>
                <a:srgbClr val="DCE4F0"/>
              </a:solidFill>
              <a:latin typeface="Consolas" panose="020B0609020204030204" pitchFamily="49" charset="0"/>
            </a:endParaRPr>
          </a:p>
          <a:p>
            <a:pPr>
              <a:spcAft>
                <a:spcPts val="400"/>
              </a:spcAft>
            </a:pPr>
            <a:r>
              <a:rPr lang="pt-BR" sz="1250" i="1">
                <a:solidFill>
                  <a:srgbClr val="7887A0"/>
                </a:solidFill>
                <a:latin typeface="Consolas" panose="020B0609020204030204" pitchFamily="49" charset="0"/>
              </a:rPr>
              <a:t># 2. resolver</a:t>
            </a:r>
          </a:p>
          <a:p>
            <a:pPr>
              <a:spcAft>
                <a:spcPts val="400"/>
              </a:spcAft>
            </a:pPr>
            <a:r>
              <a:rPr lang="pt-BR" sz="1250">
                <a:solidFill>
                  <a:srgbClr val="76D6C7"/>
                </a:solidFill>
                <a:latin typeface="Consolas" panose="020B0609020204030204" pitchFamily="49" charset="0"/>
              </a:rPr>
              <a:t>&gt; python main.py resolver --instancia dados/instancias/demo.json --metodo aprimorado</a:t>
            </a:r>
          </a:p>
          <a:p>
            <a:pPr>
              <a:spcAft>
                <a:spcPts val="400"/>
              </a:spcAft>
            </a:pPr>
            <a:endParaRPr lang="pt-BR" sz="1250">
              <a:solidFill>
                <a:srgbClr val="DCE4F0"/>
              </a:solidFill>
              <a:latin typeface="Consolas" panose="020B0609020204030204" pitchFamily="49" charset="0"/>
            </a:endParaRPr>
          </a:p>
          <a:p>
            <a:pPr>
              <a:spcAft>
                <a:spcPts val="400"/>
              </a:spcAft>
            </a:pPr>
            <a:r>
              <a:rPr lang="pt-BR" sz="1250" i="1">
                <a:solidFill>
                  <a:srgbClr val="7887A0"/>
                </a:solidFill>
                <a:latin typeface="Consolas" panose="020B0609020204030204" pitchFamily="49" charset="0"/>
              </a:rPr>
              <a:t># 3. agendas: profissional | horário | cliente</a:t>
            </a:r>
          </a:p>
          <a:p>
            <a:pPr>
              <a:spcAft>
                <a:spcPts val="400"/>
              </a:spcAft>
            </a:pPr>
            <a:r>
              <a:rPr lang="pt-BR" sz="1250" b="1">
                <a:solidFill>
                  <a:srgbClr val="6EDC8C"/>
                </a:solidFill>
                <a:latin typeface="Consolas" panose="020B0609020204030204" pitchFamily="49" charset="0"/>
              </a:rPr>
              <a:t>conflitos na solução: 0</a:t>
            </a:r>
          </a:p>
          <a:p>
            <a:pPr>
              <a:spcAft>
                <a:spcPts val="400"/>
              </a:spcAft>
            </a:pPr>
            <a:endParaRPr lang="pt-BR" sz="1250">
              <a:solidFill>
                <a:srgbClr val="DCE4F0"/>
              </a:solidFill>
              <a:latin typeface="Consolas" panose="020B0609020204030204" pitchFamily="49" charset="0"/>
            </a:endParaRPr>
          </a:p>
          <a:p>
            <a:pPr>
              <a:spcAft>
                <a:spcPts val="400"/>
              </a:spcAft>
            </a:pPr>
            <a:r>
              <a:rPr lang="pt-BR" sz="1250" i="1">
                <a:solidFill>
                  <a:srgbClr val="7887A0"/>
                </a:solidFill>
                <a:latin typeface="Consolas" panose="020B0609020204030204" pitchFamily="49" charset="0"/>
              </a:rPr>
              <a:t># 4. editar o JSON e repetir o passo 2</a:t>
            </a:r>
          </a:p>
        </p:txBody>
      </p:sp>
      <p:cxnSp>
        <p:nvCxnSpPr>
          <p:cNvPr id="31" name="Conector reto 30">
            <a:extLst>
              <a:ext uri="{FF2B5EF4-FFF2-40B4-BE49-F238E27FC236}">
                <a16:creationId xmlns:a16="http://schemas.microsoft.com/office/drawing/2014/main" id="{3F95915D-ADA4-8FF6-5818-D7EF389C5A16}"/>
              </a:ext>
            </a:extLst>
          </p:cNvPr>
          <p:cNvCxnSpPr/>
          <p:nvPr/>
        </p:nvCxnSpPr>
        <p:spPr>
          <a:xfrm>
            <a:off x="609600" y="6400800"/>
            <a:ext cx="10972800" cy="0"/>
          </a:xfrm>
          <a:prstGeom prst="line">
            <a:avLst/>
          </a:prstGeom>
          <a:ln w="9525">
            <a:solidFill>
              <a:srgbClr val="DB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35BB58E9-2CE9-14A9-7731-58BA0B4919BA}"/>
              </a:ext>
            </a:extLst>
          </p:cNvPr>
          <p:cNvSpPr txBox="1"/>
          <p:nvPr/>
        </p:nvSpPr>
        <p:spPr>
          <a:xfrm>
            <a:off x="609600" y="6502400"/>
            <a:ext cx="8128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900">
                <a:solidFill>
                  <a:srgbClr val="647187"/>
                </a:solidFill>
                <a:latin typeface="Segoe UI" panose="020B0502040204020203" pitchFamily="34" charset="0"/>
              </a:rPr>
              <a:t>Introdução à Inteligência Artificial  ·  Tema 9 — Agendamento de Consultas/Atendimentos como PSR</a:t>
            </a:r>
          </a:p>
        </p:txBody>
      </p:sp>
      <p:sp>
        <p:nvSpPr>
          <p:cNvPr id="33" name="CaixaDeTexto 32">
            <a:extLst>
              <a:ext uri="{FF2B5EF4-FFF2-40B4-BE49-F238E27FC236}">
                <a16:creationId xmlns:a16="http://schemas.microsoft.com/office/drawing/2014/main" id="{1B40159C-1630-EA3E-C2E8-EBD10407EE5F}"/>
              </a:ext>
            </a:extLst>
          </p:cNvPr>
          <p:cNvSpPr txBox="1"/>
          <p:nvPr/>
        </p:nvSpPr>
        <p:spPr>
          <a:xfrm>
            <a:off x="10058400" y="6502400"/>
            <a:ext cx="1524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pt-BR" sz="900" b="1">
                <a:solidFill>
                  <a:srgbClr val="647187"/>
                </a:solidFill>
                <a:latin typeface="Segoe UI" panose="020B0502040204020203" pitchFamily="34" charset="0"/>
              </a:rPr>
              <a:t>12 / 17</a:t>
            </a:r>
          </a:p>
        </p:txBody>
      </p:sp>
    </p:spTree>
    <p:extLst>
      <p:ext uri="{BB962C8B-B14F-4D97-AF65-F5344CB8AC3E}">
        <p14:creationId xmlns:p14="http://schemas.microsoft.com/office/powerpoint/2010/main" val="263073662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fade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52402A9-EC33-F2EC-316D-CBA26F2573C4}"/>
              </a:ext>
            </a:extLst>
          </p:cNvPr>
          <p:cNvSpPr/>
          <p:nvPr/>
        </p:nvSpPr>
        <p:spPr>
          <a:xfrm>
            <a:off x="0" y="0"/>
            <a:ext cx="127000" cy="6858000"/>
          </a:xfrm>
          <a:prstGeom prst="rect">
            <a:avLst/>
          </a:prstGeom>
          <a:solidFill>
            <a:srgbClr val="1B263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C4E2A234-C013-8C58-5D7B-CDDA684D94FC}"/>
              </a:ext>
            </a:extLst>
          </p:cNvPr>
          <p:cNvSpPr/>
          <p:nvPr/>
        </p:nvSpPr>
        <p:spPr>
          <a:xfrm>
            <a:off x="0" y="279400"/>
            <a:ext cx="127000" cy="889000"/>
          </a:xfrm>
          <a:prstGeom prst="rect">
            <a:avLst/>
          </a:prstGeom>
          <a:solidFill>
            <a:srgbClr val="2A9D8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D8C48224-F95B-F675-4AD9-5177E2BC32D8}"/>
              </a:ext>
            </a:extLst>
          </p:cNvPr>
          <p:cNvSpPr txBox="1"/>
          <p:nvPr/>
        </p:nvSpPr>
        <p:spPr>
          <a:xfrm>
            <a:off x="609600" y="355600"/>
            <a:ext cx="8890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050" b="1" spc="160">
                <a:solidFill>
                  <a:srgbClr val="2A9D8F"/>
                </a:solidFill>
                <a:latin typeface="Segoe UI" panose="020B0502040204020203" pitchFamily="34" charset="0"/>
              </a:rPr>
              <a:t>RESULTADOS E ANÁLISE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8D12CC71-B45F-6E79-46C5-3E1B815BBCED}"/>
              </a:ext>
            </a:extLst>
          </p:cNvPr>
          <p:cNvSpPr txBox="1"/>
          <p:nvPr/>
        </p:nvSpPr>
        <p:spPr>
          <a:xfrm>
            <a:off x="609600" y="558800"/>
            <a:ext cx="94488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2600" b="1">
                <a:solidFill>
                  <a:srgbClr val="1B263B"/>
                </a:solidFill>
                <a:latin typeface="Segoe UI" panose="020B0502040204020203" pitchFamily="34" charset="0"/>
              </a:rPr>
              <a:t>Resultados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B58EB436-2902-4759-EC6D-EFD22B17D3AB}"/>
              </a:ext>
            </a:extLst>
          </p:cNvPr>
          <p:cNvSpPr/>
          <p:nvPr/>
        </p:nvSpPr>
        <p:spPr>
          <a:xfrm>
            <a:off x="609600" y="1117600"/>
            <a:ext cx="711200" cy="44450"/>
          </a:xfrm>
          <a:prstGeom prst="rect">
            <a:avLst/>
          </a:prstGeom>
          <a:solidFill>
            <a:srgbClr val="2A9D8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A38A6D25-3389-53EE-89BB-2268FC79FB6E}"/>
              </a:ext>
            </a:extLst>
          </p:cNvPr>
          <p:cNvSpPr/>
          <p:nvPr/>
        </p:nvSpPr>
        <p:spPr>
          <a:xfrm>
            <a:off x="10414000" y="381000"/>
            <a:ext cx="1168400" cy="330200"/>
          </a:xfrm>
          <a:prstGeom prst="roundRect">
            <a:avLst>
              <a:gd name="adj" fmla="val 50000"/>
            </a:avLst>
          </a:prstGeom>
          <a:solidFill>
            <a:srgbClr val="F2F5F9"/>
          </a:solidFill>
          <a:ln w="9525" cap="flat" cmpd="sng" algn="ctr">
            <a:solidFill>
              <a:srgbClr val="DBE2EA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25400" rIns="76200" bIns="25400" rtlCol="0" anchor="ctr">
            <a:noAutofit/>
          </a:bodyPr>
          <a:lstStyle/>
          <a:p>
            <a:pPr algn="ctr"/>
            <a:r>
              <a:rPr lang="pt-BR" sz="1100" b="1">
                <a:solidFill>
                  <a:srgbClr val="647187"/>
                </a:solidFill>
                <a:latin typeface="Segoe UI" panose="020B0502040204020203" pitchFamily="34" charset="0"/>
              </a:rPr>
              <a:t>≈ 3 min</a:t>
            </a:r>
          </a:p>
        </p:txBody>
      </p:sp>
      <p:graphicFrame>
        <p:nvGraphicFramePr>
          <p:cNvPr id="8" name="Tabela 7">
            <a:extLst>
              <a:ext uri="{FF2B5EF4-FFF2-40B4-BE49-F238E27FC236}">
                <a16:creationId xmlns:a16="http://schemas.microsoft.com/office/drawing/2014/main" id="{A905A1CE-9545-2E75-6F42-6EF96933E6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112517"/>
              </p:ext>
            </p:extLst>
          </p:nvPr>
        </p:nvGraphicFramePr>
        <p:xfrm>
          <a:off x="609600" y="1422400"/>
          <a:ext cx="10972800" cy="2844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05000">
                  <a:extLst>
                    <a:ext uri="{9D8B030D-6E8A-4147-A177-3AD203B41FA5}">
                      <a16:colId xmlns:a16="http://schemas.microsoft.com/office/drawing/2014/main" val="3118006660"/>
                    </a:ext>
                  </a:extLst>
                </a:gridCol>
                <a:gridCol w="1651000">
                  <a:extLst>
                    <a:ext uri="{9D8B030D-6E8A-4147-A177-3AD203B41FA5}">
                      <a16:colId xmlns:a16="http://schemas.microsoft.com/office/drawing/2014/main" val="3831469804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1278178081"/>
                    </a:ext>
                  </a:extLst>
                </a:gridCol>
                <a:gridCol w="1651000">
                  <a:extLst>
                    <a:ext uri="{9D8B030D-6E8A-4147-A177-3AD203B41FA5}">
                      <a16:colId xmlns:a16="http://schemas.microsoft.com/office/drawing/2014/main" val="3318082013"/>
                    </a:ext>
                  </a:extLst>
                </a:gridCol>
                <a:gridCol w="2413000">
                  <a:extLst>
                    <a:ext uri="{9D8B030D-6E8A-4147-A177-3AD203B41FA5}">
                      <a16:colId xmlns:a16="http://schemas.microsoft.com/office/drawing/2014/main" val="4142764228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3071510013"/>
                    </a:ext>
                  </a:extLst>
                </a:gridCol>
              </a:tblGrid>
              <a:tr h="406400">
                <a:tc>
                  <a:txBody>
                    <a:bodyPr/>
                    <a:lstStyle/>
                    <a:p>
                      <a:pPr algn="l"/>
                      <a:r>
                        <a:rPr lang="pt-BR" sz="1300" b="1" i="0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Instância</a:t>
                      </a:r>
                    </a:p>
                  </a:txBody>
                  <a:tcPr marL="127000" marR="127000" marT="38100" marB="38100" anchor="ctr">
                    <a:lnB w="9525">
                      <a:solidFill>
                        <a:srgbClr val="1B263B"/>
                      </a:solidFill>
                    </a:lnB>
                    <a:solidFill>
                      <a:srgbClr val="1B26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1" i="0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Método</a:t>
                      </a:r>
                    </a:p>
                  </a:txBody>
                  <a:tcPr marL="127000" marR="127000" marT="38100" marB="38100" anchor="ctr">
                    <a:lnB w="9525">
                      <a:solidFill>
                        <a:srgbClr val="1B263B"/>
                      </a:solidFill>
                    </a:lnB>
                    <a:solidFill>
                      <a:srgbClr val="1B26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1" i="0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Tempo (s)</a:t>
                      </a:r>
                    </a:p>
                  </a:txBody>
                  <a:tcPr marL="127000" marR="127000" marT="38100" marB="38100" anchor="ctr">
                    <a:lnB w="9525">
                      <a:solidFill>
                        <a:srgbClr val="1B263B"/>
                      </a:solidFill>
                    </a:lnB>
                    <a:solidFill>
                      <a:srgbClr val="1B26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1" i="0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Backtracks</a:t>
                      </a:r>
                    </a:p>
                  </a:txBody>
                  <a:tcPr marL="127000" marR="127000" marT="38100" marB="38100" anchor="ctr">
                    <a:lnB w="9525">
                      <a:solidFill>
                        <a:srgbClr val="1B263B"/>
                      </a:solidFill>
                    </a:lnB>
                    <a:solidFill>
                      <a:srgbClr val="1B26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1" i="0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Nós</a:t>
                      </a:r>
                    </a:p>
                  </a:txBody>
                  <a:tcPr marL="127000" marR="127000" marT="38100" marB="38100" anchor="ctr">
                    <a:lnB w="9525">
                      <a:solidFill>
                        <a:srgbClr val="1B263B"/>
                      </a:solidFill>
                    </a:lnB>
                    <a:solidFill>
                      <a:srgbClr val="1B26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1" i="0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Resolvida</a:t>
                      </a:r>
                    </a:p>
                  </a:txBody>
                  <a:tcPr marL="127000" marR="127000" marT="38100" marB="38100" anchor="ctr">
                    <a:lnB w="9525">
                      <a:solidFill>
                        <a:srgbClr val="1B263B"/>
                      </a:solidFill>
                    </a:lnB>
                    <a:solidFill>
                      <a:srgbClr val="1B26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5907637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lang="pt-BR" sz="1300" b="0" i="0">
                          <a:solidFill>
                            <a:srgbClr val="243046"/>
                          </a:solidFill>
                          <a:latin typeface="Segoe UI" panose="020B0502040204020203" pitchFamily="34" charset="0"/>
                        </a:rPr>
                        <a:t>Pequena (10)</a:t>
                      </a:r>
                    </a:p>
                  </a:txBody>
                  <a:tcPr marL="127000" marR="127000" marT="38100" marB="38100" anchor="ctr">
                    <a:lnT w="9525">
                      <a:solidFill>
                        <a:srgbClr val="1B263B"/>
                      </a:solidFill>
                    </a:lnT>
                    <a:lnB w="9525">
                      <a:solidFill>
                        <a:srgbClr val="DB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1" i="0">
                          <a:solidFill>
                            <a:srgbClr val="E76F51"/>
                          </a:solidFill>
                          <a:latin typeface="Segoe UI" panose="020B0502040204020203" pitchFamily="34" charset="0"/>
                        </a:rPr>
                        <a:t>Simples</a:t>
                      </a:r>
                    </a:p>
                  </a:txBody>
                  <a:tcPr marL="127000" marR="127000" marT="38100" marB="38100" anchor="ctr">
                    <a:lnT w="9525">
                      <a:solidFill>
                        <a:srgbClr val="1B263B"/>
                      </a:solidFill>
                    </a:lnT>
                    <a:lnB w="9525">
                      <a:solidFill>
                        <a:srgbClr val="DB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i="0">
                          <a:solidFill>
                            <a:srgbClr val="243046"/>
                          </a:solidFill>
                          <a:latin typeface="Segoe UI" panose="020B0502040204020203" pitchFamily="34" charset="0"/>
                        </a:rPr>
                        <a:t>0,0002</a:t>
                      </a:r>
                    </a:p>
                  </a:txBody>
                  <a:tcPr marL="127000" marR="127000" marT="38100" marB="38100" anchor="ctr">
                    <a:lnT w="9525">
                      <a:solidFill>
                        <a:srgbClr val="1B263B"/>
                      </a:solidFill>
                    </a:lnT>
                    <a:lnB w="9525">
                      <a:solidFill>
                        <a:srgbClr val="DB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i="0">
                          <a:solidFill>
                            <a:srgbClr val="243046"/>
                          </a:solidFill>
                          <a:latin typeface="Segoe UI" panose="020B0502040204020203" pitchFamily="34" charset="0"/>
                        </a:rPr>
                        <a:t>0</a:t>
                      </a:r>
                    </a:p>
                  </a:txBody>
                  <a:tcPr marL="127000" marR="127000" marT="38100" marB="38100" anchor="ctr">
                    <a:lnT w="9525">
                      <a:solidFill>
                        <a:srgbClr val="1B263B"/>
                      </a:solidFill>
                    </a:lnT>
                    <a:lnB w="9525">
                      <a:solidFill>
                        <a:srgbClr val="DB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i="0">
                          <a:solidFill>
                            <a:srgbClr val="243046"/>
                          </a:solidFill>
                          <a:latin typeface="Segoe UI" panose="020B0502040204020203" pitchFamily="34" charset="0"/>
                        </a:rPr>
                        <a:t>11</a:t>
                      </a:r>
                    </a:p>
                  </a:txBody>
                  <a:tcPr marL="127000" marR="127000" marT="38100" marB="38100" anchor="ctr">
                    <a:lnT w="9525">
                      <a:solidFill>
                        <a:srgbClr val="1B263B"/>
                      </a:solidFill>
                    </a:lnT>
                    <a:lnB w="9525">
                      <a:solidFill>
                        <a:srgbClr val="DB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1" i="0">
                          <a:solidFill>
                            <a:srgbClr val="279648"/>
                          </a:solidFill>
                          <a:latin typeface="Segoe UI" panose="020B0502040204020203" pitchFamily="34" charset="0"/>
                        </a:rPr>
                        <a:t>Sim</a:t>
                      </a:r>
                    </a:p>
                  </a:txBody>
                  <a:tcPr marL="127000" marR="127000" marT="38100" marB="38100" anchor="ctr">
                    <a:lnT w="9525">
                      <a:solidFill>
                        <a:srgbClr val="1B263B"/>
                      </a:solidFill>
                    </a:lnT>
                    <a:lnB w="9525">
                      <a:solidFill>
                        <a:srgbClr val="DBE2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4422653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lang="pt-BR" sz="1300" b="0" i="0">
                          <a:solidFill>
                            <a:srgbClr val="243046"/>
                          </a:solidFill>
                          <a:latin typeface="Segoe UI" panose="020B0502040204020203" pitchFamily="34" charset="0"/>
                        </a:rPr>
                        <a:t>Pequena (10)</a:t>
                      </a:r>
                    </a:p>
                  </a:txBody>
                  <a:tcPr marL="127000" marR="127000" marT="38100" marB="38100" anchor="ctr">
                    <a:lnT w="9525">
                      <a:solidFill>
                        <a:srgbClr val="DBE2EA"/>
                      </a:solidFill>
                    </a:lnT>
                    <a:lnB w="9525">
                      <a:solidFill>
                        <a:srgbClr val="DB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1" i="0">
                          <a:solidFill>
                            <a:srgbClr val="2A9D8F"/>
                          </a:solidFill>
                          <a:latin typeface="Segoe UI" panose="020B0502040204020203" pitchFamily="34" charset="0"/>
                        </a:rPr>
                        <a:t>Aprimorado</a:t>
                      </a:r>
                    </a:p>
                  </a:txBody>
                  <a:tcPr marL="127000" marR="127000" marT="38100" marB="38100" anchor="ctr">
                    <a:lnT w="9525">
                      <a:solidFill>
                        <a:srgbClr val="DBE2EA"/>
                      </a:solidFill>
                    </a:lnT>
                    <a:lnB w="9525">
                      <a:solidFill>
                        <a:srgbClr val="DB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i="0">
                          <a:solidFill>
                            <a:srgbClr val="243046"/>
                          </a:solidFill>
                          <a:latin typeface="Segoe UI" panose="020B0502040204020203" pitchFamily="34" charset="0"/>
                        </a:rPr>
                        <a:t>0,0032</a:t>
                      </a:r>
                    </a:p>
                  </a:txBody>
                  <a:tcPr marL="127000" marR="127000" marT="38100" marB="38100" anchor="ctr">
                    <a:lnT w="9525">
                      <a:solidFill>
                        <a:srgbClr val="DBE2EA"/>
                      </a:solidFill>
                    </a:lnT>
                    <a:lnB w="9525">
                      <a:solidFill>
                        <a:srgbClr val="DB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i="0">
                          <a:solidFill>
                            <a:srgbClr val="243046"/>
                          </a:solidFill>
                          <a:latin typeface="Segoe UI" panose="020B0502040204020203" pitchFamily="34" charset="0"/>
                        </a:rPr>
                        <a:t>0</a:t>
                      </a:r>
                    </a:p>
                  </a:txBody>
                  <a:tcPr marL="127000" marR="127000" marT="38100" marB="38100" anchor="ctr">
                    <a:lnT w="9525">
                      <a:solidFill>
                        <a:srgbClr val="DBE2EA"/>
                      </a:solidFill>
                    </a:lnT>
                    <a:lnB w="9525">
                      <a:solidFill>
                        <a:srgbClr val="DB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i="0">
                          <a:solidFill>
                            <a:srgbClr val="243046"/>
                          </a:solidFill>
                          <a:latin typeface="Segoe UI" panose="020B0502040204020203" pitchFamily="34" charset="0"/>
                        </a:rPr>
                        <a:t>11</a:t>
                      </a:r>
                    </a:p>
                  </a:txBody>
                  <a:tcPr marL="127000" marR="127000" marT="38100" marB="38100" anchor="ctr">
                    <a:lnT w="9525">
                      <a:solidFill>
                        <a:srgbClr val="DBE2EA"/>
                      </a:solidFill>
                    </a:lnT>
                    <a:lnB w="9525">
                      <a:solidFill>
                        <a:srgbClr val="DB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1" i="0">
                          <a:solidFill>
                            <a:srgbClr val="279648"/>
                          </a:solidFill>
                          <a:latin typeface="Segoe UI" panose="020B0502040204020203" pitchFamily="34" charset="0"/>
                        </a:rPr>
                        <a:t>Sim</a:t>
                      </a:r>
                    </a:p>
                  </a:txBody>
                  <a:tcPr marL="127000" marR="127000" marT="38100" marB="38100" anchor="ctr">
                    <a:lnT w="9525">
                      <a:solidFill>
                        <a:srgbClr val="DBE2EA"/>
                      </a:solidFill>
                    </a:lnT>
                    <a:lnB w="9525">
                      <a:solidFill>
                        <a:srgbClr val="DBE2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912977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lang="pt-BR" sz="1300" b="0" i="0">
                          <a:solidFill>
                            <a:srgbClr val="243046"/>
                          </a:solidFill>
                          <a:latin typeface="Segoe UI" panose="020B0502040204020203" pitchFamily="34" charset="0"/>
                        </a:rPr>
                        <a:t>Média (30)</a:t>
                      </a:r>
                    </a:p>
                  </a:txBody>
                  <a:tcPr marL="127000" marR="127000" marT="38100" marB="38100" anchor="ctr">
                    <a:lnT w="9525">
                      <a:solidFill>
                        <a:srgbClr val="DBE2EA"/>
                      </a:solidFill>
                    </a:lnT>
                    <a:lnB w="9525">
                      <a:solidFill>
                        <a:srgbClr val="DBE2EA"/>
                      </a:solidFill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1" i="0">
                          <a:solidFill>
                            <a:srgbClr val="E76F51"/>
                          </a:solidFill>
                          <a:latin typeface="Segoe UI" panose="020B0502040204020203" pitchFamily="34" charset="0"/>
                        </a:rPr>
                        <a:t>Simples</a:t>
                      </a:r>
                    </a:p>
                  </a:txBody>
                  <a:tcPr marL="127000" marR="127000" marT="38100" marB="38100" anchor="ctr">
                    <a:lnT w="9525">
                      <a:solidFill>
                        <a:srgbClr val="DBE2EA"/>
                      </a:solidFill>
                    </a:lnT>
                    <a:lnB w="9525">
                      <a:solidFill>
                        <a:srgbClr val="DBE2EA"/>
                      </a:solidFill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i="0">
                          <a:solidFill>
                            <a:srgbClr val="243046"/>
                          </a:solidFill>
                          <a:latin typeface="Segoe UI" panose="020B0502040204020203" pitchFamily="34" charset="0"/>
                        </a:rPr>
                        <a:t>5,76</a:t>
                      </a:r>
                    </a:p>
                  </a:txBody>
                  <a:tcPr marL="127000" marR="127000" marT="38100" marB="38100" anchor="ctr">
                    <a:lnT w="9525">
                      <a:solidFill>
                        <a:srgbClr val="DBE2EA"/>
                      </a:solidFill>
                    </a:lnT>
                    <a:lnB w="9525">
                      <a:solidFill>
                        <a:srgbClr val="DBE2EA"/>
                      </a:solidFill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i="0">
                          <a:solidFill>
                            <a:srgbClr val="243046"/>
                          </a:solidFill>
                          <a:latin typeface="Segoe UI" panose="020B0502040204020203" pitchFamily="34" charset="0"/>
                        </a:rPr>
                        <a:t>200.100</a:t>
                      </a:r>
                    </a:p>
                  </a:txBody>
                  <a:tcPr marL="127000" marR="127000" marT="38100" marB="38100" anchor="ctr">
                    <a:lnT w="9525">
                      <a:solidFill>
                        <a:srgbClr val="DBE2EA"/>
                      </a:solidFill>
                    </a:lnT>
                    <a:lnB w="9525">
                      <a:solidFill>
                        <a:srgbClr val="DBE2EA"/>
                      </a:solidFill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i="0">
                          <a:solidFill>
                            <a:srgbClr val="243046"/>
                          </a:solidFill>
                          <a:latin typeface="Segoe UI" panose="020B0502040204020203" pitchFamily="34" charset="0"/>
                        </a:rPr>
                        <a:t>200.000 (limite)</a:t>
                      </a:r>
                    </a:p>
                  </a:txBody>
                  <a:tcPr marL="127000" marR="127000" marT="38100" marB="38100" anchor="ctr">
                    <a:lnT w="9525">
                      <a:solidFill>
                        <a:srgbClr val="DBE2EA"/>
                      </a:solidFill>
                    </a:lnT>
                    <a:lnB w="9525">
                      <a:solidFill>
                        <a:srgbClr val="DBE2EA"/>
                      </a:solidFill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1" i="0">
                          <a:solidFill>
                            <a:srgbClr val="C83C3C"/>
                          </a:solidFill>
                          <a:latin typeface="Segoe UI" panose="020B0502040204020203" pitchFamily="34" charset="0"/>
                        </a:rPr>
                        <a:t>Não</a:t>
                      </a:r>
                    </a:p>
                  </a:txBody>
                  <a:tcPr marL="127000" marR="127000" marT="38100" marB="38100" anchor="ctr">
                    <a:lnT w="9525">
                      <a:solidFill>
                        <a:srgbClr val="DBE2EA"/>
                      </a:solidFill>
                    </a:lnT>
                    <a:lnB w="9525">
                      <a:solidFill>
                        <a:srgbClr val="DBE2EA"/>
                      </a:solidFill>
                    </a:lnB>
                    <a:solidFill>
                      <a:srgbClr val="F2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5343875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lang="pt-BR" sz="1300" b="0" i="0">
                          <a:solidFill>
                            <a:srgbClr val="243046"/>
                          </a:solidFill>
                          <a:latin typeface="Segoe UI" panose="020B0502040204020203" pitchFamily="34" charset="0"/>
                        </a:rPr>
                        <a:t>Média (30)</a:t>
                      </a:r>
                    </a:p>
                  </a:txBody>
                  <a:tcPr marL="127000" marR="127000" marT="38100" marB="38100" anchor="ctr">
                    <a:lnT w="9525">
                      <a:solidFill>
                        <a:srgbClr val="DBE2EA"/>
                      </a:solidFill>
                    </a:lnT>
                    <a:lnB w="9525">
                      <a:solidFill>
                        <a:srgbClr val="DBE2EA"/>
                      </a:solidFill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1" i="0">
                          <a:solidFill>
                            <a:srgbClr val="2A9D8F"/>
                          </a:solidFill>
                          <a:latin typeface="Segoe UI" panose="020B0502040204020203" pitchFamily="34" charset="0"/>
                        </a:rPr>
                        <a:t>Aprimorado</a:t>
                      </a:r>
                    </a:p>
                  </a:txBody>
                  <a:tcPr marL="127000" marR="127000" marT="38100" marB="38100" anchor="ctr">
                    <a:lnT w="9525">
                      <a:solidFill>
                        <a:srgbClr val="DBE2EA"/>
                      </a:solidFill>
                    </a:lnT>
                    <a:lnB w="9525">
                      <a:solidFill>
                        <a:srgbClr val="DBE2EA"/>
                      </a:solidFill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i="0">
                          <a:solidFill>
                            <a:srgbClr val="243046"/>
                          </a:solidFill>
                          <a:latin typeface="Segoe UI" panose="020B0502040204020203" pitchFamily="34" charset="0"/>
                        </a:rPr>
                        <a:t>0,03</a:t>
                      </a:r>
                    </a:p>
                  </a:txBody>
                  <a:tcPr marL="127000" marR="127000" marT="38100" marB="38100" anchor="ctr">
                    <a:lnT w="9525">
                      <a:solidFill>
                        <a:srgbClr val="DBE2EA"/>
                      </a:solidFill>
                    </a:lnT>
                    <a:lnB w="9525">
                      <a:solidFill>
                        <a:srgbClr val="DBE2EA"/>
                      </a:solidFill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i="0">
                          <a:solidFill>
                            <a:srgbClr val="243046"/>
                          </a:solidFill>
                          <a:latin typeface="Segoe UI" panose="020B0502040204020203" pitchFamily="34" charset="0"/>
                        </a:rPr>
                        <a:t>0</a:t>
                      </a:r>
                    </a:p>
                  </a:txBody>
                  <a:tcPr marL="127000" marR="127000" marT="38100" marB="38100" anchor="ctr">
                    <a:lnT w="9525">
                      <a:solidFill>
                        <a:srgbClr val="DBE2EA"/>
                      </a:solidFill>
                    </a:lnT>
                    <a:lnB w="9525">
                      <a:solidFill>
                        <a:srgbClr val="DBE2EA"/>
                      </a:solidFill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i="0">
                          <a:solidFill>
                            <a:srgbClr val="243046"/>
                          </a:solidFill>
                          <a:latin typeface="Segoe UI" panose="020B0502040204020203" pitchFamily="34" charset="0"/>
                        </a:rPr>
                        <a:t>31</a:t>
                      </a:r>
                    </a:p>
                  </a:txBody>
                  <a:tcPr marL="127000" marR="127000" marT="38100" marB="38100" anchor="ctr">
                    <a:lnT w="9525">
                      <a:solidFill>
                        <a:srgbClr val="DBE2EA"/>
                      </a:solidFill>
                    </a:lnT>
                    <a:lnB w="9525">
                      <a:solidFill>
                        <a:srgbClr val="DBE2EA"/>
                      </a:solidFill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1" i="0">
                          <a:solidFill>
                            <a:srgbClr val="279648"/>
                          </a:solidFill>
                          <a:latin typeface="Segoe UI" panose="020B0502040204020203" pitchFamily="34" charset="0"/>
                        </a:rPr>
                        <a:t>Sim</a:t>
                      </a:r>
                    </a:p>
                  </a:txBody>
                  <a:tcPr marL="127000" marR="127000" marT="38100" marB="38100" anchor="ctr">
                    <a:lnT w="9525">
                      <a:solidFill>
                        <a:srgbClr val="DBE2EA"/>
                      </a:solidFill>
                    </a:lnT>
                    <a:lnB w="9525">
                      <a:solidFill>
                        <a:srgbClr val="DBE2EA"/>
                      </a:solidFill>
                    </a:lnB>
                    <a:solidFill>
                      <a:srgbClr val="F2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7391379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lang="pt-BR" sz="1300" b="0" i="0">
                          <a:solidFill>
                            <a:srgbClr val="243046"/>
                          </a:solidFill>
                          <a:latin typeface="Segoe UI" panose="020B0502040204020203" pitchFamily="34" charset="0"/>
                        </a:rPr>
                        <a:t>Grande (60)</a:t>
                      </a:r>
                    </a:p>
                  </a:txBody>
                  <a:tcPr marL="127000" marR="127000" marT="38100" marB="38100" anchor="ctr">
                    <a:lnT w="9525">
                      <a:solidFill>
                        <a:srgbClr val="DBE2EA"/>
                      </a:solidFill>
                    </a:lnT>
                    <a:lnB w="9525">
                      <a:solidFill>
                        <a:srgbClr val="DB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1" i="0">
                          <a:solidFill>
                            <a:srgbClr val="E76F51"/>
                          </a:solidFill>
                          <a:latin typeface="Segoe UI" panose="020B0502040204020203" pitchFamily="34" charset="0"/>
                        </a:rPr>
                        <a:t>Simples</a:t>
                      </a:r>
                    </a:p>
                  </a:txBody>
                  <a:tcPr marL="127000" marR="127000" marT="38100" marB="38100" anchor="ctr">
                    <a:lnT w="9525">
                      <a:solidFill>
                        <a:srgbClr val="DBE2EA"/>
                      </a:solidFill>
                    </a:lnT>
                    <a:lnB w="9525">
                      <a:solidFill>
                        <a:srgbClr val="DB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i="0">
                          <a:solidFill>
                            <a:srgbClr val="243046"/>
                          </a:solidFill>
                          <a:latin typeface="Segoe UI" panose="020B0502040204020203" pitchFamily="34" charset="0"/>
                        </a:rPr>
                        <a:t>8,37</a:t>
                      </a:r>
                    </a:p>
                  </a:txBody>
                  <a:tcPr marL="127000" marR="127000" marT="38100" marB="38100" anchor="ctr">
                    <a:lnT w="9525">
                      <a:solidFill>
                        <a:srgbClr val="DBE2EA"/>
                      </a:solidFill>
                    </a:lnT>
                    <a:lnB w="9525">
                      <a:solidFill>
                        <a:srgbClr val="DB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i="0">
                          <a:solidFill>
                            <a:srgbClr val="243046"/>
                          </a:solidFill>
                          <a:latin typeface="Segoe UI" panose="020B0502040204020203" pitchFamily="34" charset="0"/>
                        </a:rPr>
                        <a:t>200.471</a:t>
                      </a:r>
                    </a:p>
                  </a:txBody>
                  <a:tcPr marL="127000" marR="127000" marT="38100" marB="38100" anchor="ctr">
                    <a:lnT w="9525">
                      <a:solidFill>
                        <a:srgbClr val="DBE2EA"/>
                      </a:solidFill>
                    </a:lnT>
                    <a:lnB w="9525">
                      <a:solidFill>
                        <a:srgbClr val="DB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i="0">
                          <a:solidFill>
                            <a:srgbClr val="243046"/>
                          </a:solidFill>
                          <a:latin typeface="Segoe UI" panose="020B0502040204020203" pitchFamily="34" charset="0"/>
                        </a:rPr>
                        <a:t>200.000 (limite)</a:t>
                      </a:r>
                    </a:p>
                  </a:txBody>
                  <a:tcPr marL="127000" marR="127000" marT="38100" marB="38100" anchor="ctr">
                    <a:lnT w="9525">
                      <a:solidFill>
                        <a:srgbClr val="DBE2EA"/>
                      </a:solidFill>
                    </a:lnT>
                    <a:lnB w="9525">
                      <a:solidFill>
                        <a:srgbClr val="DB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1" i="0">
                          <a:solidFill>
                            <a:srgbClr val="C83C3C"/>
                          </a:solidFill>
                          <a:latin typeface="Segoe UI" panose="020B0502040204020203" pitchFamily="34" charset="0"/>
                        </a:rPr>
                        <a:t>Não</a:t>
                      </a:r>
                    </a:p>
                  </a:txBody>
                  <a:tcPr marL="127000" marR="127000" marT="38100" marB="38100" anchor="ctr">
                    <a:lnT w="9525">
                      <a:solidFill>
                        <a:srgbClr val="DBE2EA"/>
                      </a:solidFill>
                    </a:lnT>
                    <a:lnB w="9525">
                      <a:solidFill>
                        <a:srgbClr val="DBE2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802014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lang="pt-BR" sz="1300" b="0" i="0">
                          <a:solidFill>
                            <a:srgbClr val="243046"/>
                          </a:solidFill>
                          <a:latin typeface="Segoe UI" panose="020B0502040204020203" pitchFamily="34" charset="0"/>
                        </a:rPr>
                        <a:t>Grande (60)</a:t>
                      </a:r>
                    </a:p>
                  </a:txBody>
                  <a:tcPr marL="127000" marR="127000" marT="38100" marB="38100" anchor="ctr">
                    <a:lnT w="9525">
                      <a:solidFill>
                        <a:srgbClr val="DBE2EA"/>
                      </a:solidFill>
                    </a:lnT>
                    <a:lnB w="9525">
                      <a:solidFill>
                        <a:srgbClr val="DB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1" i="0">
                          <a:solidFill>
                            <a:srgbClr val="2A9D8F"/>
                          </a:solidFill>
                          <a:latin typeface="Segoe UI" panose="020B0502040204020203" pitchFamily="34" charset="0"/>
                        </a:rPr>
                        <a:t>Aprimorado</a:t>
                      </a:r>
                    </a:p>
                  </a:txBody>
                  <a:tcPr marL="127000" marR="127000" marT="38100" marB="38100" anchor="ctr">
                    <a:lnT w="9525">
                      <a:solidFill>
                        <a:srgbClr val="DBE2EA"/>
                      </a:solidFill>
                    </a:lnT>
                    <a:lnB w="9525">
                      <a:solidFill>
                        <a:srgbClr val="DB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i="0">
                          <a:solidFill>
                            <a:srgbClr val="243046"/>
                          </a:solidFill>
                          <a:latin typeface="Segoe UI" panose="020B0502040204020203" pitchFamily="34" charset="0"/>
                        </a:rPr>
                        <a:t>0,21</a:t>
                      </a:r>
                    </a:p>
                  </a:txBody>
                  <a:tcPr marL="127000" marR="127000" marT="38100" marB="38100" anchor="ctr">
                    <a:lnT w="9525">
                      <a:solidFill>
                        <a:srgbClr val="DBE2EA"/>
                      </a:solidFill>
                    </a:lnT>
                    <a:lnB w="9525">
                      <a:solidFill>
                        <a:srgbClr val="DB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i="0">
                          <a:solidFill>
                            <a:srgbClr val="243046"/>
                          </a:solidFill>
                          <a:latin typeface="Segoe UI" panose="020B0502040204020203" pitchFamily="34" charset="0"/>
                        </a:rPr>
                        <a:t>6</a:t>
                      </a:r>
                    </a:p>
                  </a:txBody>
                  <a:tcPr marL="127000" marR="127000" marT="38100" marB="38100" anchor="ctr">
                    <a:lnT w="9525">
                      <a:solidFill>
                        <a:srgbClr val="DBE2EA"/>
                      </a:solidFill>
                    </a:lnT>
                    <a:lnB w="9525">
                      <a:solidFill>
                        <a:srgbClr val="DB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0" i="0">
                          <a:solidFill>
                            <a:srgbClr val="243046"/>
                          </a:solidFill>
                          <a:latin typeface="Segoe UI" panose="020B0502040204020203" pitchFamily="34" charset="0"/>
                        </a:rPr>
                        <a:t>62</a:t>
                      </a:r>
                    </a:p>
                  </a:txBody>
                  <a:tcPr marL="127000" marR="127000" marT="38100" marB="38100" anchor="ctr">
                    <a:lnT w="9525">
                      <a:solidFill>
                        <a:srgbClr val="DBE2EA"/>
                      </a:solidFill>
                    </a:lnT>
                    <a:lnB w="9525">
                      <a:solidFill>
                        <a:srgbClr val="DB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1" i="0">
                          <a:solidFill>
                            <a:srgbClr val="279648"/>
                          </a:solidFill>
                          <a:latin typeface="Segoe UI" panose="020B0502040204020203" pitchFamily="34" charset="0"/>
                        </a:rPr>
                        <a:t>Sim</a:t>
                      </a:r>
                    </a:p>
                  </a:txBody>
                  <a:tcPr marL="127000" marR="127000" marT="38100" marB="38100" anchor="ctr">
                    <a:lnT w="9525">
                      <a:solidFill>
                        <a:srgbClr val="DBE2EA"/>
                      </a:solidFill>
                    </a:lnT>
                    <a:lnB w="9525">
                      <a:solidFill>
                        <a:srgbClr val="DBE2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7874527"/>
                  </a:ext>
                </a:extLst>
              </a:tr>
            </a:tbl>
          </a:graphicData>
        </a:graphic>
      </p:graphicFrame>
      <p:grpSp>
        <p:nvGrpSpPr>
          <p:cNvPr id="13" name="Agrupar 12">
            <a:extLst>
              <a:ext uri="{FF2B5EF4-FFF2-40B4-BE49-F238E27FC236}">
                <a16:creationId xmlns:a16="http://schemas.microsoft.com/office/drawing/2014/main" id="{BD8E3F15-14EA-5FBB-2B7C-206D9273480E}"/>
              </a:ext>
            </a:extLst>
          </p:cNvPr>
          <p:cNvGrpSpPr/>
          <p:nvPr/>
        </p:nvGrpSpPr>
        <p:grpSpPr>
          <a:xfrm>
            <a:off x="609600" y="4572000"/>
            <a:ext cx="3522133" cy="1524000"/>
            <a:chOff x="609600" y="4572000"/>
            <a:chExt cx="3522133" cy="1524000"/>
          </a:xfrm>
        </p:grpSpPr>
        <p:sp>
          <p:nvSpPr>
            <p:cNvPr id="9" name="Elemento_130">
              <a:extLst>
                <a:ext uri="{FF2B5EF4-FFF2-40B4-BE49-F238E27FC236}">
                  <a16:creationId xmlns:a16="http://schemas.microsoft.com/office/drawing/2014/main" id="{4262C3A7-A50F-8FCE-6CED-D560A9E079CC}"/>
                </a:ext>
              </a:extLst>
            </p:cNvPr>
            <p:cNvSpPr/>
            <p:nvPr/>
          </p:nvSpPr>
          <p:spPr>
            <a:xfrm>
              <a:off x="609600" y="4572000"/>
              <a:ext cx="3522133" cy="1524000"/>
            </a:xfrm>
            <a:prstGeom prst="roundRect">
              <a:avLst>
                <a:gd name="adj" fmla="val 8333"/>
              </a:avLst>
            </a:prstGeom>
            <a:solidFill>
              <a:srgbClr val="FFFFFF"/>
            </a:solidFill>
            <a:ln w="9525" cap="flat" cmpd="sng" algn="ctr">
              <a:solidFill>
                <a:srgbClr val="DBE2EA"/>
              </a:solidFill>
              <a:prstDash val="solid"/>
              <a:miter lim="800000"/>
            </a:ln>
            <a:effectLst>
              <a:outerShdw blurRad="152400" dist="50800" dir="5400000" rotWithShape="0">
                <a:srgbClr val="0F172A">
                  <a:alpha val="1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0" name="Elemento_131">
              <a:extLst>
                <a:ext uri="{FF2B5EF4-FFF2-40B4-BE49-F238E27FC236}">
                  <a16:creationId xmlns:a16="http://schemas.microsoft.com/office/drawing/2014/main" id="{111B2AF1-72F0-409B-DCC3-DC29D9CCBDDD}"/>
                </a:ext>
              </a:extLst>
            </p:cNvPr>
            <p:cNvSpPr/>
            <p:nvPr/>
          </p:nvSpPr>
          <p:spPr>
            <a:xfrm>
              <a:off x="863600" y="4775200"/>
              <a:ext cx="457200" cy="38100"/>
            </a:xfrm>
            <a:prstGeom prst="rect">
              <a:avLst/>
            </a:prstGeom>
            <a:solidFill>
              <a:srgbClr val="2A9D8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1" name="Elemento_132">
              <a:extLst>
                <a:ext uri="{FF2B5EF4-FFF2-40B4-BE49-F238E27FC236}">
                  <a16:creationId xmlns:a16="http://schemas.microsoft.com/office/drawing/2014/main" id="{26F8531E-429F-2D74-7551-F93AB1737FF6}"/>
                </a:ext>
              </a:extLst>
            </p:cNvPr>
            <p:cNvSpPr txBox="1"/>
            <p:nvPr/>
          </p:nvSpPr>
          <p:spPr>
            <a:xfrm>
              <a:off x="863600" y="4902200"/>
              <a:ext cx="3014133" cy="4318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r>
                <a:rPr lang="pt-BR" sz="2400" b="1">
                  <a:solidFill>
                    <a:srgbClr val="2A9D8F"/>
                  </a:solidFill>
                  <a:latin typeface="Segoe UI" panose="020B0502040204020203" pitchFamily="34" charset="0"/>
                </a:rPr>
                <a:t>200.000 → 31</a:t>
              </a:r>
            </a:p>
          </p:txBody>
        </p:sp>
        <p:sp>
          <p:nvSpPr>
            <p:cNvPr id="12" name="Elemento_133">
              <a:extLst>
                <a:ext uri="{FF2B5EF4-FFF2-40B4-BE49-F238E27FC236}">
                  <a16:creationId xmlns:a16="http://schemas.microsoft.com/office/drawing/2014/main" id="{DA497447-C613-F3A7-DCC5-FB4630B6CA53}"/>
                </a:ext>
              </a:extLst>
            </p:cNvPr>
            <p:cNvSpPr txBox="1"/>
            <p:nvPr/>
          </p:nvSpPr>
          <p:spPr>
            <a:xfrm>
              <a:off x="863600" y="5384800"/>
              <a:ext cx="3014133" cy="5588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r>
                <a:rPr lang="pt-BR" sz="1200">
                  <a:solidFill>
                    <a:srgbClr val="647187"/>
                  </a:solidFill>
                  <a:latin typeface="Segoe UI" panose="020B0502040204020203" pitchFamily="34" charset="0"/>
                </a:rPr>
                <a:t>nós explorados na instância média (o simples parou no limite).</a:t>
              </a:r>
            </a:p>
          </p:txBody>
        </p:sp>
      </p:grpSp>
      <p:grpSp>
        <p:nvGrpSpPr>
          <p:cNvPr id="18" name="Agrupar 17">
            <a:extLst>
              <a:ext uri="{FF2B5EF4-FFF2-40B4-BE49-F238E27FC236}">
                <a16:creationId xmlns:a16="http://schemas.microsoft.com/office/drawing/2014/main" id="{4EE92C84-45E9-3076-9690-C46F582C5193}"/>
              </a:ext>
            </a:extLst>
          </p:cNvPr>
          <p:cNvGrpSpPr/>
          <p:nvPr/>
        </p:nvGrpSpPr>
        <p:grpSpPr>
          <a:xfrm>
            <a:off x="4334933" y="4572000"/>
            <a:ext cx="3522134" cy="1524000"/>
            <a:chOff x="4334933" y="4572000"/>
            <a:chExt cx="3522134" cy="1524000"/>
          </a:xfrm>
        </p:grpSpPr>
        <p:sp>
          <p:nvSpPr>
            <p:cNvPr id="14" name="Elemento_134">
              <a:extLst>
                <a:ext uri="{FF2B5EF4-FFF2-40B4-BE49-F238E27FC236}">
                  <a16:creationId xmlns:a16="http://schemas.microsoft.com/office/drawing/2014/main" id="{42447069-8001-30D1-CF5B-3BC0AC0C34A1}"/>
                </a:ext>
              </a:extLst>
            </p:cNvPr>
            <p:cNvSpPr/>
            <p:nvPr/>
          </p:nvSpPr>
          <p:spPr>
            <a:xfrm>
              <a:off x="4334933" y="4572000"/>
              <a:ext cx="3522134" cy="1524000"/>
            </a:xfrm>
            <a:prstGeom prst="roundRect">
              <a:avLst>
                <a:gd name="adj" fmla="val 8333"/>
              </a:avLst>
            </a:prstGeom>
            <a:solidFill>
              <a:srgbClr val="FFFFFF"/>
            </a:solidFill>
            <a:ln w="9525" cap="flat" cmpd="sng" algn="ctr">
              <a:solidFill>
                <a:srgbClr val="DBE2EA"/>
              </a:solidFill>
              <a:prstDash val="solid"/>
              <a:miter lim="800000"/>
            </a:ln>
            <a:effectLst>
              <a:outerShdw blurRad="152400" dist="50800" dir="5400000" rotWithShape="0">
                <a:srgbClr val="0F172A">
                  <a:alpha val="1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5" name="Elemento_135">
              <a:extLst>
                <a:ext uri="{FF2B5EF4-FFF2-40B4-BE49-F238E27FC236}">
                  <a16:creationId xmlns:a16="http://schemas.microsoft.com/office/drawing/2014/main" id="{CE150363-FA01-0A0A-AE2F-755B7FC8E080}"/>
                </a:ext>
              </a:extLst>
            </p:cNvPr>
            <p:cNvSpPr/>
            <p:nvPr/>
          </p:nvSpPr>
          <p:spPr>
            <a:xfrm>
              <a:off x="4588933" y="4775200"/>
              <a:ext cx="457200" cy="38100"/>
            </a:xfrm>
            <a:prstGeom prst="rect">
              <a:avLst/>
            </a:prstGeom>
            <a:solidFill>
              <a:srgbClr val="2A9D8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6" name="Elemento_136">
              <a:extLst>
                <a:ext uri="{FF2B5EF4-FFF2-40B4-BE49-F238E27FC236}">
                  <a16:creationId xmlns:a16="http://schemas.microsoft.com/office/drawing/2014/main" id="{F658083A-DFFD-BC77-DF3F-5EF8C2496D76}"/>
                </a:ext>
              </a:extLst>
            </p:cNvPr>
            <p:cNvSpPr txBox="1"/>
            <p:nvPr/>
          </p:nvSpPr>
          <p:spPr>
            <a:xfrm>
              <a:off x="4588933" y="4902200"/>
              <a:ext cx="3014133" cy="4318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r>
                <a:rPr lang="pt-BR" sz="2400" b="1">
                  <a:solidFill>
                    <a:srgbClr val="2A9D8F"/>
                  </a:solidFill>
                  <a:latin typeface="Segoe UI" panose="020B0502040204020203" pitchFamily="34" charset="0"/>
                </a:rPr>
                <a:t>8,37 s → 0,21 s</a:t>
              </a:r>
            </a:p>
          </p:txBody>
        </p:sp>
        <p:sp>
          <p:nvSpPr>
            <p:cNvPr id="17" name="Elemento_137">
              <a:extLst>
                <a:ext uri="{FF2B5EF4-FFF2-40B4-BE49-F238E27FC236}">
                  <a16:creationId xmlns:a16="http://schemas.microsoft.com/office/drawing/2014/main" id="{042847E9-4D65-888C-D6AE-CDCDC9FA65A4}"/>
                </a:ext>
              </a:extLst>
            </p:cNvPr>
            <p:cNvSpPr txBox="1"/>
            <p:nvPr/>
          </p:nvSpPr>
          <p:spPr>
            <a:xfrm>
              <a:off x="4588933" y="5384800"/>
              <a:ext cx="3014133" cy="5588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r>
                <a:rPr lang="pt-BR" sz="1200">
                  <a:solidFill>
                    <a:srgbClr val="647187"/>
                  </a:solidFill>
                  <a:latin typeface="Segoe UI" panose="020B0502040204020203" pitchFamily="34" charset="0"/>
                </a:rPr>
                <a:t>tempo na instância grande — e só o aprimorado encontrou solução.</a:t>
              </a:r>
            </a:p>
          </p:txBody>
        </p:sp>
      </p:grpSp>
      <p:grpSp>
        <p:nvGrpSpPr>
          <p:cNvPr id="23" name="Agrupar 22">
            <a:extLst>
              <a:ext uri="{FF2B5EF4-FFF2-40B4-BE49-F238E27FC236}">
                <a16:creationId xmlns:a16="http://schemas.microsoft.com/office/drawing/2014/main" id="{1D036EE6-A175-4705-5345-1FE29E26A78E}"/>
              </a:ext>
            </a:extLst>
          </p:cNvPr>
          <p:cNvGrpSpPr/>
          <p:nvPr/>
        </p:nvGrpSpPr>
        <p:grpSpPr>
          <a:xfrm>
            <a:off x="8060267" y="4572000"/>
            <a:ext cx="3522133" cy="1524000"/>
            <a:chOff x="8060267" y="4572000"/>
            <a:chExt cx="3522133" cy="1524000"/>
          </a:xfrm>
        </p:grpSpPr>
        <p:sp>
          <p:nvSpPr>
            <p:cNvPr id="19" name="Elemento_138">
              <a:extLst>
                <a:ext uri="{FF2B5EF4-FFF2-40B4-BE49-F238E27FC236}">
                  <a16:creationId xmlns:a16="http://schemas.microsoft.com/office/drawing/2014/main" id="{4727B941-AC20-CC80-950C-1A96B4D118E5}"/>
                </a:ext>
              </a:extLst>
            </p:cNvPr>
            <p:cNvSpPr/>
            <p:nvPr/>
          </p:nvSpPr>
          <p:spPr>
            <a:xfrm>
              <a:off x="8060267" y="4572000"/>
              <a:ext cx="3522133" cy="1524000"/>
            </a:xfrm>
            <a:prstGeom prst="roundRect">
              <a:avLst>
                <a:gd name="adj" fmla="val 8333"/>
              </a:avLst>
            </a:prstGeom>
            <a:solidFill>
              <a:srgbClr val="FFFFFF"/>
            </a:solidFill>
            <a:ln w="9525" cap="flat" cmpd="sng" algn="ctr">
              <a:solidFill>
                <a:srgbClr val="DBE2EA"/>
              </a:solidFill>
              <a:prstDash val="solid"/>
              <a:miter lim="800000"/>
            </a:ln>
            <a:effectLst>
              <a:outerShdw blurRad="152400" dist="50800" dir="5400000" rotWithShape="0">
                <a:srgbClr val="0F172A">
                  <a:alpha val="1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0" name="Elemento_139">
              <a:extLst>
                <a:ext uri="{FF2B5EF4-FFF2-40B4-BE49-F238E27FC236}">
                  <a16:creationId xmlns:a16="http://schemas.microsoft.com/office/drawing/2014/main" id="{64CFB456-1569-F3E2-E70A-91CF051F5863}"/>
                </a:ext>
              </a:extLst>
            </p:cNvPr>
            <p:cNvSpPr/>
            <p:nvPr/>
          </p:nvSpPr>
          <p:spPr>
            <a:xfrm>
              <a:off x="8314267" y="4775200"/>
              <a:ext cx="457200" cy="38100"/>
            </a:xfrm>
            <a:prstGeom prst="rect">
              <a:avLst/>
            </a:prstGeom>
            <a:solidFill>
              <a:srgbClr val="2A9D8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1" name="Elemento_140">
              <a:extLst>
                <a:ext uri="{FF2B5EF4-FFF2-40B4-BE49-F238E27FC236}">
                  <a16:creationId xmlns:a16="http://schemas.microsoft.com/office/drawing/2014/main" id="{0493EC18-0BF9-BA73-1D0B-8B852ECCBBD9}"/>
                </a:ext>
              </a:extLst>
            </p:cNvPr>
            <p:cNvSpPr txBox="1"/>
            <p:nvPr/>
          </p:nvSpPr>
          <p:spPr>
            <a:xfrm>
              <a:off x="8314267" y="4902200"/>
              <a:ext cx="3014133" cy="4318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r>
                <a:rPr lang="pt-BR" sz="2400" b="1">
                  <a:solidFill>
                    <a:srgbClr val="2A9D8F"/>
                  </a:solidFill>
                  <a:latin typeface="Segoe UI" panose="020B0502040204020203" pitchFamily="34" charset="0"/>
                </a:rPr>
                <a:t>3 de 3</a:t>
              </a:r>
            </a:p>
          </p:txBody>
        </p:sp>
        <p:sp>
          <p:nvSpPr>
            <p:cNvPr id="22" name="Elemento_141">
              <a:extLst>
                <a:ext uri="{FF2B5EF4-FFF2-40B4-BE49-F238E27FC236}">
                  <a16:creationId xmlns:a16="http://schemas.microsoft.com/office/drawing/2014/main" id="{C71BA6CB-529E-E1F3-4D64-2A5F4371D7FA}"/>
                </a:ext>
              </a:extLst>
            </p:cNvPr>
            <p:cNvSpPr txBox="1"/>
            <p:nvPr/>
          </p:nvSpPr>
          <p:spPr>
            <a:xfrm>
              <a:off x="8314267" y="5384800"/>
              <a:ext cx="3014133" cy="5588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r>
                <a:rPr lang="pt-BR" sz="1200">
                  <a:solidFill>
                    <a:srgbClr val="647187"/>
                  </a:solidFill>
                  <a:latin typeface="Segoe UI" panose="020B0502040204020203" pitchFamily="34" charset="0"/>
                </a:rPr>
                <a:t>instâncias resolvidas pelo aprimorado; o simples resolve só 1 de 3.</a:t>
              </a:r>
            </a:p>
          </p:txBody>
        </p:sp>
      </p:grpSp>
      <p:cxnSp>
        <p:nvCxnSpPr>
          <p:cNvPr id="24" name="Conector reto 23">
            <a:extLst>
              <a:ext uri="{FF2B5EF4-FFF2-40B4-BE49-F238E27FC236}">
                <a16:creationId xmlns:a16="http://schemas.microsoft.com/office/drawing/2014/main" id="{EA013433-8F74-7CC4-6C06-B7F26F95367A}"/>
              </a:ext>
            </a:extLst>
          </p:cNvPr>
          <p:cNvCxnSpPr/>
          <p:nvPr/>
        </p:nvCxnSpPr>
        <p:spPr>
          <a:xfrm>
            <a:off x="609600" y="6400800"/>
            <a:ext cx="10972800" cy="0"/>
          </a:xfrm>
          <a:prstGeom prst="line">
            <a:avLst/>
          </a:prstGeom>
          <a:ln w="9525">
            <a:solidFill>
              <a:srgbClr val="DB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273E49C9-1A7C-5773-C7F5-9D5BD71FE42D}"/>
              </a:ext>
            </a:extLst>
          </p:cNvPr>
          <p:cNvSpPr txBox="1"/>
          <p:nvPr/>
        </p:nvSpPr>
        <p:spPr>
          <a:xfrm>
            <a:off x="609600" y="6502400"/>
            <a:ext cx="8128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900">
                <a:solidFill>
                  <a:srgbClr val="647187"/>
                </a:solidFill>
                <a:latin typeface="Segoe UI" panose="020B0502040204020203" pitchFamily="34" charset="0"/>
              </a:rPr>
              <a:t>Introdução à Inteligência Artificial  ·  Tema 9 — Agendamento de Consultas/Atendimentos como PSR</a:t>
            </a:r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574680CD-891C-98CD-CEC9-AB8421AB499A}"/>
              </a:ext>
            </a:extLst>
          </p:cNvPr>
          <p:cNvSpPr txBox="1"/>
          <p:nvPr/>
        </p:nvSpPr>
        <p:spPr>
          <a:xfrm>
            <a:off x="10058400" y="6502400"/>
            <a:ext cx="1524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pt-BR" sz="900" b="1">
                <a:solidFill>
                  <a:srgbClr val="647187"/>
                </a:solidFill>
                <a:latin typeface="Segoe UI" panose="020B0502040204020203" pitchFamily="34" charset="0"/>
              </a:rPr>
              <a:t>13 / 17</a:t>
            </a:r>
          </a:p>
        </p:txBody>
      </p:sp>
    </p:spTree>
    <p:extLst>
      <p:ext uri="{BB962C8B-B14F-4D97-AF65-F5344CB8AC3E}">
        <p14:creationId xmlns:p14="http://schemas.microsoft.com/office/powerpoint/2010/main" val="178757009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5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7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682516E0-1412-C411-EB9C-5FD3630AA932}"/>
              </a:ext>
            </a:extLst>
          </p:cNvPr>
          <p:cNvSpPr/>
          <p:nvPr/>
        </p:nvSpPr>
        <p:spPr>
          <a:xfrm>
            <a:off x="0" y="0"/>
            <a:ext cx="127000" cy="6858000"/>
          </a:xfrm>
          <a:prstGeom prst="rect">
            <a:avLst/>
          </a:prstGeom>
          <a:solidFill>
            <a:srgbClr val="1B263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58BB9F96-357E-2A6F-6227-4895ACFBCADD}"/>
              </a:ext>
            </a:extLst>
          </p:cNvPr>
          <p:cNvSpPr/>
          <p:nvPr/>
        </p:nvSpPr>
        <p:spPr>
          <a:xfrm>
            <a:off x="0" y="279400"/>
            <a:ext cx="127000" cy="889000"/>
          </a:xfrm>
          <a:prstGeom prst="rect">
            <a:avLst/>
          </a:prstGeom>
          <a:solidFill>
            <a:srgbClr val="2A9D8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32965BD1-08EE-24AD-539E-066AFC51F670}"/>
              </a:ext>
            </a:extLst>
          </p:cNvPr>
          <p:cNvSpPr txBox="1"/>
          <p:nvPr/>
        </p:nvSpPr>
        <p:spPr>
          <a:xfrm>
            <a:off x="609600" y="355600"/>
            <a:ext cx="8890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050" b="1" spc="160">
                <a:solidFill>
                  <a:srgbClr val="2A9D8F"/>
                </a:solidFill>
                <a:latin typeface="Segoe UI" panose="020B0502040204020203" pitchFamily="34" charset="0"/>
              </a:rPr>
              <a:t>RESULTADOS E ANÁLISE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1D8AFBC1-CBEF-2C5C-C56E-986F977BD104}"/>
              </a:ext>
            </a:extLst>
          </p:cNvPr>
          <p:cNvSpPr txBox="1"/>
          <p:nvPr/>
        </p:nvSpPr>
        <p:spPr>
          <a:xfrm>
            <a:off x="609600" y="558800"/>
            <a:ext cx="94488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2600" b="1">
                <a:solidFill>
                  <a:srgbClr val="1B263B"/>
                </a:solidFill>
                <a:latin typeface="Segoe UI" panose="020B0502040204020203" pitchFamily="34" charset="0"/>
              </a:rPr>
              <a:t>Análise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6B4B835C-F94A-F755-4947-7C890690B8A7}"/>
              </a:ext>
            </a:extLst>
          </p:cNvPr>
          <p:cNvSpPr/>
          <p:nvPr/>
        </p:nvSpPr>
        <p:spPr>
          <a:xfrm>
            <a:off x="609600" y="1117600"/>
            <a:ext cx="711200" cy="44450"/>
          </a:xfrm>
          <a:prstGeom prst="rect">
            <a:avLst/>
          </a:prstGeom>
          <a:solidFill>
            <a:srgbClr val="2A9D8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43" name="Agrupar 42">
            <a:extLst>
              <a:ext uri="{FF2B5EF4-FFF2-40B4-BE49-F238E27FC236}">
                <a16:creationId xmlns:a16="http://schemas.microsoft.com/office/drawing/2014/main" id="{1F092E32-560B-2F5B-3885-BE0DD6364251}"/>
              </a:ext>
            </a:extLst>
          </p:cNvPr>
          <p:cNvGrpSpPr/>
          <p:nvPr/>
        </p:nvGrpSpPr>
        <p:grpSpPr>
          <a:xfrm>
            <a:off x="609600" y="1320800"/>
            <a:ext cx="5384800" cy="3403600"/>
            <a:chOff x="609600" y="1320800"/>
            <a:chExt cx="5384800" cy="3403600"/>
          </a:xfrm>
        </p:grpSpPr>
        <p:sp>
          <p:nvSpPr>
            <p:cNvPr id="7" name="Elemento_142">
              <a:extLst>
                <a:ext uri="{FF2B5EF4-FFF2-40B4-BE49-F238E27FC236}">
                  <a16:creationId xmlns:a16="http://schemas.microsoft.com/office/drawing/2014/main" id="{A4CC5BE6-6657-9402-36E0-F1CA31646B23}"/>
                </a:ext>
              </a:extLst>
            </p:cNvPr>
            <p:cNvSpPr/>
            <p:nvPr/>
          </p:nvSpPr>
          <p:spPr>
            <a:xfrm>
              <a:off x="609600" y="1320800"/>
              <a:ext cx="5384800" cy="3403600"/>
            </a:xfrm>
            <a:prstGeom prst="roundRect">
              <a:avLst>
                <a:gd name="adj" fmla="val 3731"/>
              </a:avLst>
            </a:prstGeom>
            <a:solidFill>
              <a:srgbClr val="FFFFFF"/>
            </a:solidFill>
            <a:ln w="9525" cap="flat" cmpd="sng" algn="ctr">
              <a:solidFill>
                <a:srgbClr val="DBE2EA"/>
              </a:solidFill>
              <a:prstDash val="solid"/>
              <a:miter lim="800000"/>
            </a:ln>
            <a:effectLst>
              <a:outerShdw blurRad="152400" dist="50800" dir="5400000" rotWithShape="0">
                <a:srgbClr val="0F172A">
                  <a:alpha val="1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8" name="Elemento_143">
              <a:extLst>
                <a:ext uri="{FF2B5EF4-FFF2-40B4-BE49-F238E27FC236}">
                  <a16:creationId xmlns:a16="http://schemas.microsoft.com/office/drawing/2014/main" id="{47201428-ABE8-352B-5CA3-CAC05260C6BE}"/>
                </a:ext>
              </a:extLst>
            </p:cNvPr>
            <p:cNvSpPr txBox="1"/>
            <p:nvPr/>
          </p:nvSpPr>
          <p:spPr>
            <a:xfrm>
              <a:off x="812800" y="1498600"/>
              <a:ext cx="4978400" cy="2286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r>
                <a:rPr lang="pt-BR" sz="1250" b="1">
                  <a:solidFill>
                    <a:srgbClr val="1B263B"/>
                  </a:solidFill>
                  <a:latin typeface="Segoe UI" panose="020B0502040204020203" pitchFamily="34" charset="0"/>
                </a:rPr>
                <a:t>Nós explorados (escala log)</a:t>
              </a:r>
            </a:p>
          </p:txBody>
        </p:sp>
        <p:sp>
          <p:nvSpPr>
            <p:cNvPr id="9" name="Elemento_144">
              <a:extLst>
                <a:ext uri="{FF2B5EF4-FFF2-40B4-BE49-F238E27FC236}">
                  <a16:creationId xmlns:a16="http://schemas.microsoft.com/office/drawing/2014/main" id="{6E6B164C-7611-24E2-06E6-BE7BDD912E90}"/>
                </a:ext>
              </a:extLst>
            </p:cNvPr>
            <p:cNvSpPr/>
            <p:nvPr/>
          </p:nvSpPr>
          <p:spPr>
            <a:xfrm>
              <a:off x="812800" y="1790700"/>
              <a:ext cx="127000" cy="127000"/>
            </a:xfrm>
            <a:prstGeom prst="roundRect">
              <a:avLst>
                <a:gd name="adj" fmla="val 20000"/>
              </a:avLst>
            </a:prstGeom>
            <a:solidFill>
              <a:srgbClr val="E76F51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0" name="Elemento_145">
              <a:extLst>
                <a:ext uri="{FF2B5EF4-FFF2-40B4-BE49-F238E27FC236}">
                  <a16:creationId xmlns:a16="http://schemas.microsoft.com/office/drawing/2014/main" id="{65E9E22D-C6A5-6989-5440-28C3400D13B3}"/>
                </a:ext>
              </a:extLst>
            </p:cNvPr>
            <p:cNvSpPr txBox="1"/>
            <p:nvPr/>
          </p:nvSpPr>
          <p:spPr>
            <a:xfrm>
              <a:off x="1003300" y="1752600"/>
              <a:ext cx="574040" cy="2032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r>
                <a:rPr lang="pt-BR" sz="1000">
                  <a:solidFill>
                    <a:srgbClr val="243046"/>
                  </a:solidFill>
                  <a:latin typeface="Segoe UI" panose="020B0502040204020203" pitchFamily="34" charset="0"/>
                </a:rPr>
                <a:t>Simples</a:t>
              </a:r>
            </a:p>
          </p:txBody>
        </p:sp>
        <p:sp>
          <p:nvSpPr>
            <p:cNvPr id="11" name="Elemento_146">
              <a:extLst>
                <a:ext uri="{FF2B5EF4-FFF2-40B4-BE49-F238E27FC236}">
                  <a16:creationId xmlns:a16="http://schemas.microsoft.com/office/drawing/2014/main" id="{D1127337-63D6-E78E-6C6D-BED0FEA5F01C}"/>
                </a:ext>
              </a:extLst>
            </p:cNvPr>
            <p:cNvSpPr/>
            <p:nvPr/>
          </p:nvSpPr>
          <p:spPr>
            <a:xfrm>
              <a:off x="1729740" y="1790700"/>
              <a:ext cx="127000" cy="127000"/>
            </a:xfrm>
            <a:prstGeom prst="roundRect">
              <a:avLst>
                <a:gd name="adj" fmla="val 20000"/>
              </a:avLst>
            </a:prstGeom>
            <a:solidFill>
              <a:srgbClr val="2A9D8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2" name="Elemento_147">
              <a:extLst>
                <a:ext uri="{FF2B5EF4-FFF2-40B4-BE49-F238E27FC236}">
                  <a16:creationId xmlns:a16="http://schemas.microsoft.com/office/drawing/2014/main" id="{16CF2BDC-BB23-65A5-EFF4-640191972315}"/>
                </a:ext>
              </a:extLst>
            </p:cNvPr>
            <p:cNvSpPr txBox="1"/>
            <p:nvPr/>
          </p:nvSpPr>
          <p:spPr>
            <a:xfrm>
              <a:off x="1920240" y="1752600"/>
              <a:ext cx="787400" cy="2032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r>
                <a:rPr lang="pt-BR" sz="1000">
                  <a:solidFill>
                    <a:srgbClr val="243046"/>
                  </a:solidFill>
                  <a:latin typeface="Segoe UI" panose="020B0502040204020203" pitchFamily="34" charset="0"/>
                </a:rPr>
                <a:t>Aprimorado</a:t>
              </a:r>
            </a:p>
          </p:txBody>
        </p:sp>
        <p:cxnSp>
          <p:nvCxnSpPr>
            <p:cNvPr id="13" name="Elemento_148">
              <a:extLst>
                <a:ext uri="{FF2B5EF4-FFF2-40B4-BE49-F238E27FC236}">
                  <a16:creationId xmlns:a16="http://schemas.microsoft.com/office/drawing/2014/main" id="{F59E5395-481E-2BF2-346D-AEDE80FD0BB3}"/>
                </a:ext>
              </a:extLst>
            </p:cNvPr>
            <p:cNvCxnSpPr/>
            <p:nvPr/>
          </p:nvCxnSpPr>
          <p:spPr>
            <a:xfrm>
              <a:off x="1346200" y="4140200"/>
              <a:ext cx="4419600" cy="0"/>
            </a:xfrm>
            <a:prstGeom prst="line">
              <a:avLst/>
            </a:prstGeom>
            <a:ln w="12700">
              <a:solidFill>
                <a:srgbClr val="A0ACB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Elemento_149">
              <a:extLst>
                <a:ext uri="{FF2B5EF4-FFF2-40B4-BE49-F238E27FC236}">
                  <a16:creationId xmlns:a16="http://schemas.microsoft.com/office/drawing/2014/main" id="{FC1A0B88-E070-BB5C-0006-C28EE7D102AD}"/>
                </a:ext>
              </a:extLst>
            </p:cNvPr>
            <p:cNvSpPr txBox="1"/>
            <p:nvPr/>
          </p:nvSpPr>
          <p:spPr>
            <a:xfrm>
              <a:off x="711200" y="4038600"/>
              <a:ext cx="558800" cy="2032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pPr algn="r"/>
              <a:r>
                <a:rPr lang="pt-BR" sz="950">
                  <a:solidFill>
                    <a:srgbClr val="647187"/>
                  </a:solidFill>
                  <a:latin typeface="Segoe UI" panose="020B0502040204020203" pitchFamily="34" charset="0"/>
                </a:rPr>
                <a:t>10</a:t>
              </a:r>
              <a:r>
                <a:rPr lang="pt-BR" sz="950" baseline="30000">
                  <a:solidFill>
                    <a:srgbClr val="647187"/>
                  </a:solidFill>
                  <a:latin typeface="Segoe UI" panose="020B0502040204020203" pitchFamily="34" charset="0"/>
                </a:rPr>
                <a:t>0</a:t>
              </a:r>
            </a:p>
          </p:txBody>
        </p:sp>
        <p:cxnSp>
          <p:nvCxnSpPr>
            <p:cNvPr id="15" name="Elemento_150">
              <a:extLst>
                <a:ext uri="{FF2B5EF4-FFF2-40B4-BE49-F238E27FC236}">
                  <a16:creationId xmlns:a16="http://schemas.microsoft.com/office/drawing/2014/main" id="{5C5F7F4B-5001-966F-2303-61FD31106D79}"/>
                </a:ext>
              </a:extLst>
            </p:cNvPr>
            <p:cNvCxnSpPr/>
            <p:nvPr/>
          </p:nvCxnSpPr>
          <p:spPr>
            <a:xfrm>
              <a:off x="1346200" y="3801533"/>
              <a:ext cx="4419600" cy="0"/>
            </a:xfrm>
            <a:prstGeom prst="line">
              <a:avLst/>
            </a:prstGeom>
            <a:ln w="9525">
              <a:solidFill>
                <a:srgbClr val="DBE2EA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Elemento_151">
              <a:extLst>
                <a:ext uri="{FF2B5EF4-FFF2-40B4-BE49-F238E27FC236}">
                  <a16:creationId xmlns:a16="http://schemas.microsoft.com/office/drawing/2014/main" id="{51722D5A-45A2-A202-C0E3-85ED27C5765F}"/>
                </a:ext>
              </a:extLst>
            </p:cNvPr>
            <p:cNvSpPr txBox="1"/>
            <p:nvPr/>
          </p:nvSpPr>
          <p:spPr>
            <a:xfrm>
              <a:off x="711200" y="3699933"/>
              <a:ext cx="558800" cy="2032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pPr algn="r"/>
              <a:r>
                <a:rPr lang="pt-BR" sz="950">
                  <a:solidFill>
                    <a:srgbClr val="647187"/>
                  </a:solidFill>
                  <a:latin typeface="Segoe UI" panose="020B0502040204020203" pitchFamily="34" charset="0"/>
                </a:rPr>
                <a:t>10</a:t>
              </a:r>
              <a:r>
                <a:rPr lang="pt-BR" sz="950" baseline="30000">
                  <a:solidFill>
                    <a:srgbClr val="647187"/>
                  </a:solidFill>
                  <a:latin typeface="Segoe UI" panose="020B0502040204020203" pitchFamily="34" charset="0"/>
                </a:rPr>
                <a:t>1</a:t>
              </a:r>
            </a:p>
          </p:txBody>
        </p:sp>
        <p:cxnSp>
          <p:nvCxnSpPr>
            <p:cNvPr id="17" name="Elemento_152">
              <a:extLst>
                <a:ext uri="{FF2B5EF4-FFF2-40B4-BE49-F238E27FC236}">
                  <a16:creationId xmlns:a16="http://schemas.microsoft.com/office/drawing/2014/main" id="{01466DEC-26DE-F11E-4C62-FADA27390A24}"/>
                </a:ext>
              </a:extLst>
            </p:cNvPr>
            <p:cNvCxnSpPr/>
            <p:nvPr/>
          </p:nvCxnSpPr>
          <p:spPr>
            <a:xfrm>
              <a:off x="1346200" y="3462867"/>
              <a:ext cx="4419600" cy="0"/>
            </a:xfrm>
            <a:prstGeom prst="line">
              <a:avLst/>
            </a:prstGeom>
            <a:ln w="9525">
              <a:solidFill>
                <a:srgbClr val="DBE2EA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Elemento_153">
              <a:extLst>
                <a:ext uri="{FF2B5EF4-FFF2-40B4-BE49-F238E27FC236}">
                  <a16:creationId xmlns:a16="http://schemas.microsoft.com/office/drawing/2014/main" id="{D5C7D949-D1E5-A7FE-6C0C-39AF133F3718}"/>
                </a:ext>
              </a:extLst>
            </p:cNvPr>
            <p:cNvSpPr txBox="1"/>
            <p:nvPr/>
          </p:nvSpPr>
          <p:spPr>
            <a:xfrm>
              <a:off x="711200" y="3361267"/>
              <a:ext cx="558800" cy="2032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pPr algn="r"/>
              <a:r>
                <a:rPr lang="pt-BR" sz="950">
                  <a:solidFill>
                    <a:srgbClr val="647187"/>
                  </a:solidFill>
                  <a:latin typeface="Segoe UI" panose="020B0502040204020203" pitchFamily="34" charset="0"/>
                </a:rPr>
                <a:t>10</a:t>
              </a:r>
              <a:r>
                <a:rPr lang="pt-BR" sz="950" baseline="30000">
                  <a:solidFill>
                    <a:srgbClr val="647187"/>
                  </a:solidFill>
                  <a:latin typeface="Segoe UI" panose="020B0502040204020203" pitchFamily="34" charset="0"/>
                </a:rPr>
                <a:t>2</a:t>
              </a:r>
            </a:p>
          </p:txBody>
        </p:sp>
        <p:cxnSp>
          <p:nvCxnSpPr>
            <p:cNvPr id="19" name="Elemento_154">
              <a:extLst>
                <a:ext uri="{FF2B5EF4-FFF2-40B4-BE49-F238E27FC236}">
                  <a16:creationId xmlns:a16="http://schemas.microsoft.com/office/drawing/2014/main" id="{2813B196-16FE-30B8-8FA0-185ADEE5FCFC}"/>
                </a:ext>
              </a:extLst>
            </p:cNvPr>
            <p:cNvCxnSpPr/>
            <p:nvPr/>
          </p:nvCxnSpPr>
          <p:spPr>
            <a:xfrm>
              <a:off x="1346200" y="3124200"/>
              <a:ext cx="4419600" cy="0"/>
            </a:xfrm>
            <a:prstGeom prst="line">
              <a:avLst/>
            </a:prstGeom>
            <a:ln w="9525">
              <a:solidFill>
                <a:srgbClr val="DBE2EA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Elemento_155">
              <a:extLst>
                <a:ext uri="{FF2B5EF4-FFF2-40B4-BE49-F238E27FC236}">
                  <a16:creationId xmlns:a16="http://schemas.microsoft.com/office/drawing/2014/main" id="{1378E8F2-DC3B-9B12-1F2A-F57BF78352B4}"/>
                </a:ext>
              </a:extLst>
            </p:cNvPr>
            <p:cNvSpPr txBox="1"/>
            <p:nvPr/>
          </p:nvSpPr>
          <p:spPr>
            <a:xfrm>
              <a:off x="711200" y="3022600"/>
              <a:ext cx="558800" cy="2032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pPr algn="r"/>
              <a:r>
                <a:rPr lang="pt-BR" sz="950">
                  <a:solidFill>
                    <a:srgbClr val="647187"/>
                  </a:solidFill>
                  <a:latin typeface="Segoe UI" panose="020B0502040204020203" pitchFamily="34" charset="0"/>
                </a:rPr>
                <a:t>10</a:t>
              </a:r>
              <a:r>
                <a:rPr lang="pt-BR" sz="950" baseline="30000">
                  <a:solidFill>
                    <a:srgbClr val="647187"/>
                  </a:solidFill>
                  <a:latin typeface="Segoe UI" panose="020B0502040204020203" pitchFamily="34" charset="0"/>
                </a:rPr>
                <a:t>3</a:t>
              </a:r>
            </a:p>
          </p:txBody>
        </p:sp>
        <p:cxnSp>
          <p:nvCxnSpPr>
            <p:cNvPr id="21" name="Elemento_156">
              <a:extLst>
                <a:ext uri="{FF2B5EF4-FFF2-40B4-BE49-F238E27FC236}">
                  <a16:creationId xmlns:a16="http://schemas.microsoft.com/office/drawing/2014/main" id="{06AD27BE-8C26-70BF-78F3-D040D6C65F8B}"/>
                </a:ext>
              </a:extLst>
            </p:cNvPr>
            <p:cNvCxnSpPr/>
            <p:nvPr/>
          </p:nvCxnSpPr>
          <p:spPr>
            <a:xfrm>
              <a:off x="1346200" y="2785533"/>
              <a:ext cx="4419600" cy="0"/>
            </a:xfrm>
            <a:prstGeom prst="line">
              <a:avLst/>
            </a:prstGeom>
            <a:ln w="9525">
              <a:solidFill>
                <a:srgbClr val="DBE2EA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Elemento_157">
              <a:extLst>
                <a:ext uri="{FF2B5EF4-FFF2-40B4-BE49-F238E27FC236}">
                  <a16:creationId xmlns:a16="http://schemas.microsoft.com/office/drawing/2014/main" id="{DF6813CA-8A1B-3474-A2BB-33F80E605920}"/>
                </a:ext>
              </a:extLst>
            </p:cNvPr>
            <p:cNvSpPr txBox="1"/>
            <p:nvPr/>
          </p:nvSpPr>
          <p:spPr>
            <a:xfrm>
              <a:off x="711200" y="2683933"/>
              <a:ext cx="558800" cy="2032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pPr algn="r"/>
              <a:r>
                <a:rPr lang="pt-BR" sz="950">
                  <a:solidFill>
                    <a:srgbClr val="647187"/>
                  </a:solidFill>
                  <a:latin typeface="Segoe UI" panose="020B0502040204020203" pitchFamily="34" charset="0"/>
                </a:rPr>
                <a:t>10</a:t>
              </a:r>
              <a:r>
                <a:rPr lang="pt-BR" sz="950" baseline="30000">
                  <a:solidFill>
                    <a:srgbClr val="647187"/>
                  </a:solidFill>
                  <a:latin typeface="Segoe UI" panose="020B0502040204020203" pitchFamily="34" charset="0"/>
                </a:rPr>
                <a:t>4</a:t>
              </a:r>
            </a:p>
          </p:txBody>
        </p:sp>
        <p:cxnSp>
          <p:nvCxnSpPr>
            <p:cNvPr id="23" name="Elemento_158">
              <a:extLst>
                <a:ext uri="{FF2B5EF4-FFF2-40B4-BE49-F238E27FC236}">
                  <a16:creationId xmlns:a16="http://schemas.microsoft.com/office/drawing/2014/main" id="{2E379D8A-D7CD-9AAA-C21B-B673D2EC8C76}"/>
                </a:ext>
              </a:extLst>
            </p:cNvPr>
            <p:cNvCxnSpPr/>
            <p:nvPr/>
          </p:nvCxnSpPr>
          <p:spPr>
            <a:xfrm>
              <a:off x="1346200" y="2446867"/>
              <a:ext cx="4419600" cy="0"/>
            </a:xfrm>
            <a:prstGeom prst="line">
              <a:avLst/>
            </a:prstGeom>
            <a:ln w="9525">
              <a:solidFill>
                <a:srgbClr val="DBE2EA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Elemento_159">
              <a:extLst>
                <a:ext uri="{FF2B5EF4-FFF2-40B4-BE49-F238E27FC236}">
                  <a16:creationId xmlns:a16="http://schemas.microsoft.com/office/drawing/2014/main" id="{335BEB34-3AC6-AE1E-E1E4-2E7F6B7F6768}"/>
                </a:ext>
              </a:extLst>
            </p:cNvPr>
            <p:cNvSpPr txBox="1"/>
            <p:nvPr/>
          </p:nvSpPr>
          <p:spPr>
            <a:xfrm>
              <a:off x="711200" y="2345267"/>
              <a:ext cx="558800" cy="2032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pPr algn="r"/>
              <a:r>
                <a:rPr lang="pt-BR" sz="950">
                  <a:solidFill>
                    <a:srgbClr val="647187"/>
                  </a:solidFill>
                  <a:latin typeface="Segoe UI" panose="020B0502040204020203" pitchFamily="34" charset="0"/>
                </a:rPr>
                <a:t>10</a:t>
              </a:r>
              <a:r>
                <a:rPr lang="pt-BR" sz="950" baseline="30000">
                  <a:solidFill>
                    <a:srgbClr val="647187"/>
                  </a:solidFill>
                  <a:latin typeface="Segoe UI" panose="020B0502040204020203" pitchFamily="34" charset="0"/>
                </a:rPr>
                <a:t>5</a:t>
              </a:r>
            </a:p>
          </p:txBody>
        </p:sp>
        <p:cxnSp>
          <p:nvCxnSpPr>
            <p:cNvPr id="25" name="Elemento_160">
              <a:extLst>
                <a:ext uri="{FF2B5EF4-FFF2-40B4-BE49-F238E27FC236}">
                  <a16:creationId xmlns:a16="http://schemas.microsoft.com/office/drawing/2014/main" id="{39E46DF6-5BB6-0F69-F82A-0190AC48E855}"/>
                </a:ext>
              </a:extLst>
            </p:cNvPr>
            <p:cNvCxnSpPr/>
            <p:nvPr/>
          </p:nvCxnSpPr>
          <p:spPr>
            <a:xfrm>
              <a:off x="1346200" y="2108200"/>
              <a:ext cx="4419600" cy="0"/>
            </a:xfrm>
            <a:prstGeom prst="line">
              <a:avLst/>
            </a:prstGeom>
            <a:ln w="9525">
              <a:solidFill>
                <a:srgbClr val="DBE2EA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Elemento_161">
              <a:extLst>
                <a:ext uri="{FF2B5EF4-FFF2-40B4-BE49-F238E27FC236}">
                  <a16:creationId xmlns:a16="http://schemas.microsoft.com/office/drawing/2014/main" id="{1F219EF0-F7B9-E31A-1792-9A02D40C0B80}"/>
                </a:ext>
              </a:extLst>
            </p:cNvPr>
            <p:cNvSpPr txBox="1"/>
            <p:nvPr/>
          </p:nvSpPr>
          <p:spPr>
            <a:xfrm>
              <a:off x="711200" y="2006600"/>
              <a:ext cx="558800" cy="2032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pPr algn="r"/>
              <a:r>
                <a:rPr lang="pt-BR" sz="950">
                  <a:solidFill>
                    <a:srgbClr val="647187"/>
                  </a:solidFill>
                  <a:latin typeface="Segoe UI" panose="020B0502040204020203" pitchFamily="34" charset="0"/>
                </a:rPr>
                <a:t>10</a:t>
              </a:r>
              <a:r>
                <a:rPr lang="pt-BR" sz="950" baseline="30000">
                  <a:solidFill>
                    <a:srgbClr val="647187"/>
                  </a:solidFill>
                  <a:latin typeface="Segoe UI" panose="020B0502040204020203" pitchFamily="34" charset="0"/>
                </a:rPr>
                <a:t>6</a:t>
              </a:r>
            </a:p>
          </p:txBody>
        </p:sp>
        <p:sp>
          <p:nvSpPr>
            <p:cNvPr id="27" name="Elemento_162">
              <a:extLst>
                <a:ext uri="{FF2B5EF4-FFF2-40B4-BE49-F238E27FC236}">
                  <a16:creationId xmlns:a16="http://schemas.microsoft.com/office/drawing/2014/main" id="{41B5EF9C-2578-068F-2BCD-990E3DFEA4F1}"/>
                </a:ext>
              </a:extLst>
            </p:cNvPr>
            <p:cNvSpPr/>
            <p:nvPr/>
          </p:nvSpPr>
          <p:spPr>
            <a:xfrm>
              <a:off x="1646936" y="3787515"/>
              <a:ext cx="397764" cy="352685"/>
            </a:xfrm>
            <a:prstGeom prst="roundRect">
              <a:avLst>
                <a:gd name="adj" fmla="val 10803"/>
              </a:avLst>
            </a:prstGeom>
            <a:solidFill>
              <a:srgbClr val="E76F51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8" name="Elemento_163">
              <a:extLst>
                <a:ext uri="{FF2B5EF4-FFF2-40B4-BE49-F238E27FC236}">
                  <a16:creationId xmlns:a16="http://schemas.microsoft.com/office/drawing/2014/main" id="{DB8BD6E5-C703-D103-621B-7E8785977C7A}"/>
                </a:ext>
              </a:extLst>
            </p:cNvPr>
            <p:cNvSpPr txBox="1"/>
            <p:nvPr/>
          </p:nvSpPr>
          <p:spPr>
            <a:xfrm>
              <a:off x="1342136" y="3597015"/>
              <a:ext cx="1007364" cy="1778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pPr algn="ctr"/>
              <a:r>
                <a:rPr lang="pt-BR" sz="950" b="1">
                  <a:solidFill>
                    <a:srgbClr val="243046"/>
                  </a:solidFill>
                  <a:latin typeface="Segoe UI" panose="020B0502040204020203" pitchFamily="34" charset="0"/>
                </a:rPr>
                <a:t>11</a:t>
              </a:r>
            </a:p>
          </p:txBody>
        </p:sp>
        <p:sp>
          <p:nvSpPr>
            <p:cNvPr id="29" name="Elemento_164">
              <a:extLst>
                <a:ext uri="{FF2B5EF4-FFF2-40B4-BE49-F238E27FC236}">
                  <a16:creationId xmlns:a16="http://schemas.microsoft.com/office/drawing/2014/main" id="{920D91DE-2A72-2C6E-DD81-E7A6629E9208}"/>
                </a:ext>
              </a:extLst>
            </p:cNvPr>
            <p:cNvSpPr/>
            <p:nvPr/>
          </p:nvSpPr>
          <p:spPr>
            <a:xfrm>
              <a:off x="2120900" y="3787515"/>
              <a:ext cx="397764" cy="352685"/>
            </a:xfrm>
            <a:prstGeom prst="roundRect">
              <a:avLst>
                <a:gd name="adj" fmla="val 10803"/>
              </a:avLst>
            </a:prstGeom>
            <a:solidFill>
              <a:srgbClr val="2A9D8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0" name="Elemento_165">
              <a:extLst>
                <a:ext uri="{FF2B5EF4-FFF2-40B4-BE49-F238E27FC236}">
                  <a16:creationId xmlns:a16="http://schemas.microsoft.com/office/drawing/2014/main" id="{1D30035A-B744-2A92-64EB-46073AC57743}"/>
                </a:ext>
              </a:extLst>
            </p:cNvPr>
            <p:cNvSpPr txBox="1"/>
            <p:nvPr/>
          </p:nvSpPr>
          <p:spPr>
            <a:xfrm>
              <a:off x="1816100" y="3597015"/>
              <a:ext cx="1007364" cy="1778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pPr algn="ctr"/>
              <a:r>
                <a:rPr lang="pt-BR" sz="950" b="1">
                  <a:solidFill>
                    <a:srgbClr val="243046"/>
                  </a:solidFill>
                  <a:latin typeface="Segoe UI" panose="020B0502040204020203" pitchFamily="34" charset="0"/>
                </a:rPr>
                <a:t>11</a:t>
              </a:r>
            </a:p>
          </p:txBody>
        </p:sp>
        <p:sp>
          <p:nvSpPr>
            <p:cNvPr id="31" name="Elemento_166">
              <a:extLst>
                <a:ext uri="{FF2B5EF4-FFF2-40B4-BE49-F238E27FC236}">
                  <a16:creationId xmlns:a16="http://schemas.microsoft.com/office/drawing/2014/main" id="{DD948080-6266-C966-75EB-47ED442B19BA}"/>
                </a:ext>
              </a:extLst>
            </p:cNvPr>
            <p:cNvSpPr txBox="1"/>
            <p:nvPr/>
          </p:nvSpPr>
          <p:spPr>
            <a:xfrm>
              <a:off x="1346200" y="4216400"/>
              <a:ext cx="1473200" cy="2032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pPr algn="ctr"/>
              <a:r>
                <a:rPr lang="pt-BR" sz="1100" b="1">
                  <a:solidFill>
                    <a:srgbClr val="243046"/>
                  </a:solidFill>
                  <a:latin typeface="Segoe UI" panose="020B0502040204020203" pitchFamily="34" charset="0"/>
                </a:rPr>
                <a:t>Pequena</a:t>
              </a:r>
            </a:p>
          </p:txBody>
        </p:sp>
        <p:sp>
          <p:nvSpPr>
            <p:cNvPr id="32" name="Elemento_167">
              <a:extLst>
                <a:ext uri="{FF2B5EF4-FFF2-40B4-BE49-F238E27FC236}">
                  <a16:creationId xmlns:a16="http://schemas.microsoft.com/office/drawing/2014/main" id="{D7108689-8D44-B0F8-73BB-2BDCAEBFFA54}"/>
                </a:ext>
              </a:extLst>
            </p:cNvPr>
            <p:cNvSpPr/>
            <p:nvPr/>
          </p:nvSpPr>
          <p:spPr>
            <a:xfrm>
              <a:off x="3120136" y="2344918"/>
              <a:ext cx="397764" cy="1795282"/>
            </a:xfrm>
            <a:prstGeom prst="roundRect">
              <a:avLst>
                <a:gd name="adj" fmla="val 9579"/>
              </a:avLst>
            </a:prstGeom>
            <a:solidFill>
              <a:srgbClr val="E76F51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3" name="Elemento_168">
              <a:extLst>
                <a:ext uri="{FF2B5EF4-FFF2-40B4-BE49-F238E27FC236}">
                  <a16:creationId xmlns:a16="http://schemas.microsoft.com/office/drawing/2014/main" id="{9D982723-CA50-BF71-E8EB-09F8AC855832}"/>
                </a:ext>
              </a:extLst>
            </p:cNvPr>
            <p:cNvSpPr txBox="1"/>
            <p:nvPr/>
          </p:nvSpPr>
          <p:spPr>
            <a:xfrm>
              <a:off x="2815336" y="2154418"/>
              <a:ext cx="1007364" cy="1778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pPr algn="ctr"/>
              <a:r>
                <a:rPr lang="pt-BR" sz="950" b="1">
                  <a:solidFill>
                    <a:srgbClr val="243046"/>
                  </a:solidFill>
                  <a:latin typeface="Segoe UI" panose="020B0502040204020203" pitchFamily="34" charset="0"/>
                </a:rPr>
                <a:t>200 mil*</a:t>
              </a:r>
            </a:p>
          </p:txBody>
        </p:sp>
        <p:sp>
          <p:nvSpPr>
            <p:cNvPr id="34" name="Elemento_169">
              <a:extLst>
                <a:ext uri="{FF2B5EF4-FFF2-40B4-BE49-F238E27FC236}">
                  <a16:creationId xmlns:a16="http://schemas.microsoft.com/office/drawing/2014/main" id="{43A64250-7F93-DDAB-FE9A-D43DB64AEAB3}"/>
                </a:ext>
              </a:extLst>
            </p:cNvPr>
            <p:cNvSpPr/>
            <p:nvPr/>
          </p:nvSpPr>
          <p:spPr>
            <a:xfrm>
              <a:off x="3594100" y="3635125"/>
              <a:ext cx="397764" cy="505075"/>
            </a:xfrm>
            <a:prstGeom prst="roundRect">
              <a:avLst>
                <a:gd name="adj" fmla="val 9579"/>
              </a:avLst>
            </a:prstGeom>
            <a:solidFill>
              <a:srgbClr val="2A9D8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5" name="Elemento_170">
              <a:extLst>
                <a:ext uri="{FF2B5EF4-FFF2-40B4-BE49-F238E27FC236}">
                  <a16:creationId xmlns:a16="http://schemas.microsoft.com/office/drawing/2014/main" id="{C95A7C5E-67A0-9724-C6CF-2E4CCE68B471}"/>
                </a:ext>
              </a:extLst>
            </p:cNvPr>
            <p:cNvSpPr txBox="1"/>
            <p:nvPr/>
          </p:nvSpPr>
          <p:spPr>
            <a:xfrm>
              <a:off x="3289300" y="3444625"/>
              <a:ext cx="1007364" cy="1778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pPr algn="ctr"/>
              <a:r>
                <a:rPr lang="pt-BR" sz="950" b="1">
                  <a:solidFill>
                    <a:srgbClr val="243046"/>
                  </a:solidFill>
                  <a:latin typeface="Segoe UI" panose="020B0502040204020203" pitchFamily="34" charset="0"/>
                </a:rPr>
                <a:t>31</a:t>
              </a:r>
            </a:p>
          </p:txBody>
        </p:sp>
        <p:sp>
          <p:nvSpPr>
            <p:cNvPr id="36" name="Elemento_171">
              <a:extLst>
                <a:ext uri="{FF2B5EF4-FFF2-40B4-BE49-F238E27FC236}">
                  <a16:creationId xmlns:a16="http://schemas.microsoft.com/office/drawing/2014/main" id="{23939D0E-7CC9-18A9-1DC7-1526EFB58AFC}"/>
                </a:ext>
              </a:extLst>
            </p:cNvPr>
            <p:cNvSpPr txBox="1"/>
            <p:nvPr/>
          </p:nvSpPr>
          <p:spPr>
            <a:xfrm>
              <a:off x="2819400" y="4216400"/>
              <a:ext cx="1473200" cy="2032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pPr algn="ctr"/>
              <a:r>
                <a:rPr lang="pt-BR" sz="1100" b="1">
                  <a:solidFill>
                    <a:srgbClr val="243046"/>
                  </a:solidFill>
                  <a:latin typeface="Segoe UI" panose="020B0502040204020203" pitchFamily="34" charset="0"/>
                </a:rPr>
                <a:t>Média</a:t>
              </a:r>
            </a:p>
          </p:txBody>
        </p:sp>
        <p:sp>
          <p:nvSpPr>
            <p:cNvPr id="37" name="Elemento_172">
              <a:extLst>
                <a:ext uri="{FF2B5EF4-FFF2-40B4-BE49-F238E27FC236}">
                  <a16:creationId xmlns:a16="http://schemas.microsoft.com/office/drawing/2014/main" id="{1B748530-99B2-A5CD-234D-AEE1D5F68CE1}"/>
                </a:ext>
              </a:extLst>
            </p:cNvPr>
            <p:cNvSpPr/>
            <p:nvPr/>
          </p:nvSpPr>
          <p:spPr>
            <a:xfrm>
              <a:off x="4593336" y="2344918"/>
              <a:ext cx="397764" cy="1795282"/>
            </a:xfrm>
            <a:prstGeom prst="roundRect">
              <a:avLst>
                <a:gd name="adj" fmla="val 9579"/>
              </a:avLst>
            </a:prstGeom>
            <a:solidFill>
              <a:srgbClr val="E76F51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8" name="Elemento_173">
              <a:extLst>
                <a:ext uri="{FF2B5EF4-FFF2-40B4-BE49-F238E27FC236}">
                  <a16:creationId xmlns:a16="http://schemas.microsoft.com/office/drawing/2014/main" id="{626DB488-C051-5D72-6EC2-564649C64C0F}"/>
                </a:ext>
              </a:extLst>
            </p:cNvPr>
            <p:cNvSpPr txBox="1"/>
            <p:nvPr/>
          </p:nvSpPr>
          <p:spPr>
            <a:xfrm>
              <a:off x="4288536" y="2154418"/>
              <a:ext cx="1007364" cy="1778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pPr algn="ctr"/>
              <a:r>
                <a:rPr lang="pt-BR" sz="950" b="1">
                  <a:solidFill>
                    <a:srgbClr val="243046"/>
                  </a:solidFill>
                  <a:latin typeface="Segoe UI" panose="020B0502040204020203" pitchFamily="34" charset="0"/>
                </a:rPr>
                <a:t>200 mil*</a:t>
              </a:r>
            </a:p>
          </p:txBody>
        </p:sp>
        <p:sp>
          <p:nvSpPr>
            <p:cNvPr id="39" name="Elemento_174">
              <a:extLst>
                <a:ext uri="{FF2B5EF4-FFF2-40B4-BE49-F238E27FC236}">
                  <a16:creationId xmlns:a16="http://schemas.microsoft.com/office/drawing/2014/main" id="{B9CA4209-C65D-701E-1332-3FC3F1037D3D}"/>
                </a:ext>
              </a:extLst>
            </p:cNvPr>
            <p:cNvSpPr/>
            <p:nvPr/>
          </p:nvSpPr>
          <p:spPr>
            <a:xfrm>
              <a:off x="5067300" y="3533177"/>
              <a:ext cx="397764" cy="607023"/>
            </a:xfrm>
            <a:prstGeom prst="roundRect">
              <a:avLst>
                <a:gd name="adj" fmla="val 9579"/>
              </a:avLst>
            </a:prstGeom>
            <a:solidFill>
              <a:srgbClr val="2A9D8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0" name="Elemento_175">
              <a:extLst>
                <a:ext uri="{FF2B5EF4-FFF2-40B4-BE49-F238E27FC236}">
                  <a16:creationId xmlns:a16="http://schemas.microsoft.com/office/drawing/2014/main" id="{B738072E-15FF-6B4C-A12D-6B5298033D75}"/>
                </a:ext>
              </a:extLst>
            </p:cNvPr>
            <p:cNvSpPr txBox="1"/>
            <p:nvPr/>
          </p:nvSpPr>
          <p:spPr>
            <a:xfrm>
              <a:off x="4762500" y="3342677"/>
              <a:ext cx="1007364" cy="1778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pPr algn="ctr"/>
              <a:r>
                <a:rPr lang="pt-BR" sz="950" b="1">
                  <a:solidFill>
                    <a:srgbClr val="243046"/>
                  </a:solidFill>
                  <a:latin typeface="Segoe UI" panose="020B0502040204020203" pitchFamily="34" charset="0"/>
                </a:rPr>
                <a:t>62</a:t>
              </a:r>
            </a:p>
          </p:txBody>
        </p:sp>
        <p:sp>
          <p:nvSpPr>
            <p:cNvPr id="41" name="Elemento_176">
              <a:extLst>
                <a:ext uri="{FF2B5EF4-FFF2-40B4-BE49-F238E27FC236}">
                  <a16:creationId xmlns:a16="http://schemas.microsoft.com/office/drawing/2014/main" id="{6140D0AC-CF2E-2ACB-E282-A4E5EBBEC66E}"/>
                </a:ext>
              </a:extLst>
            </p:cNvPr>
            <p:cNvSpPr txBox="1"/>
            <p:nvPr/>
          </p:nvSpPr>
          <p:spPr>
            <a:xfrm>
              <a:off x="4292600" y="4216400"/>
              <a:ext cx="1473200" cy="2032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pPr algn="ctr"/>
              <a:r>
                <a:rPr lang="pt-BR" sz="1100" b="1">
                  <a:solidFill>
                    <a:srgbClr val="243046"/>
                  </a:solidFill>
                  <a:latin typeface="Segoe UI" panose="020B0502040204020203" pitchFamily="34" charset="0"/>
                </a:rPr>
                <a:t>Grande</a:t>
              </a:r>
            </a:p>
          </p:txBody>
        </p:sp>
        <p:sp>
          <p:nvSpPr>
            <p:cNvPr id="42" name="Elemento_177">
              <a:extLst>
                <a:ext uri="{FF2B5EF4-FFF2-40B4-BE49-F238E27FC236}">
                  <a16:creationId xmlns:a16="http://schemas.microsoft.com/office/drawing/2014/main" id="{C371D4FF-5E80-50C1-1D37-29D02E68AEEE}"/>
                </a:ext>
              </a:extLst>
            </p:cNvPr>
            <p:cNvSpPr txBox="1"/>
            <p:nvPr/>
          </p:nvSpPr>
          <p:spPr>
            <a:xfrm>
              <a:off x="812800" y="4470400"/>
              <a:ext cx="4978400" cy="1778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pPr algn="r"/>
              <a:r>
                <a:rPr lang="pt-BR" sz="900">
                  <a:solidFill>
                    <a:srgbClr val="647187"/>
                  </a:solidFill>
                  <a:latin typeface="Segoe UI" panose="020B0502040204020203" pitchFamily="34" charset="0"/>
                </a:rPr>
                <a:t>* atingiu o limite de 200 mil nós sem encontrar solução</a:t>
              </a:r>
            </a:p>
          </p:txBody>
        </p:sp>
      </p:grpSp>
      <p:grpSp>
        <p:nvGrpSpPr>
          <p:cNvPr id="78" name="Agrupar 77">
            <a:extLst>
              <a:ext uri="{FF2B5EF4-FFF2-40B4-BE49-F238E27FC236}">
                <a16:creationId xmlns:a16="http://schemas.microsoft.com/office/drawing/2014/main" id="{6FA736FB-DC30-EF1E-B8BB-821A55F1156D}"/>
              </a:ext>
            </a:extLst>
          </p:cNvPr>
          <p:cNvGrpSpPr/>
          <p:nvPr/>
        </p:nvGrpSpPr>
        <p:grpSpPr>
          <a:xfrm>
            <a:off x="6197600" y="1320800"/>
            <a:ext cx="5384800" cy="3403600"/>
            <a:chOff x="6197600" y="1320800"/>
            <a:chExt cx="5384800" cy="3403600"/>
          </a:xfrm>
        </p:grpSpPr>
        <p:sp>
          <p:nvSpPr>
            <p:cNvPr id="44" name="Elemento_178">
              <a:extLst>
                <a:ext uri="{FF2B5EF4-FFF2-40B4-BE49-F238E27FC236}">
                  <a16:creationId xmlns:a16="http://schemas.microsoft.com/office/drawing/2014/main" id="{F9808B48-14E8-74C8-3E25-DAE806623769}"/>
                </a:ext>
              </a:extLst>
            </p:cNvPr>
            <p:cNvSpPr/>
            <p:nvPr/>
          </p:nvSpPr>
          <p:spPr>
            <a:xfrm>
              <a:off x="6197600" y="1320800"/>
              <a:ext cx="5384800" cy="3403600"/>
            </a:xfrm>
            <a:prstGeom prst="roundRect">
              <a:avLst>
                <a:gd name="adj" fmla="val 3731"/>
              </a:avLst>
            </a:prstGeom>
            <a:solidFill>
              <a:srgbClr val="FFFFFF"/>
            </a:solidFill>
            <a:ln w="9525" cap="flat" cmpd="sng" algn="ctr">
              <a:solidFill>
                <a:srgbClr val="DBE2EA"/>
              </a:solidFill>
              <a:prstDash val="solid"/>
              <a:miter lim="800000"/>
            </a:ln>
            <a:effectLst>
              <a:outerShdw blurRad="152400" dist="50800" dir="5400000" rotWithShape="0">
                <a:srgbClr val="0F172A">
                  <a:alpha val="1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5" name="Elemento_179">
              <a:extLst>
                <a:ext uri="{FF2B5EF4-FFF2-40B4-BE49-F238E27FC236}">
                  <a16:creationId xmlns:a16="http://schemas.microsoft.com/office/drawing/2014/main" id="{077C50A9-7558-437C-F221-7E260BCFC6B2}"/>
                </a:ext>
              </a:extLst>
            </p:cNvPr>
            <p:cNvSpPr txBox="1"/>
            <p:nvPr/>
          </p:nvSpPr>
          <p:spPr>
            <a:xfrm>
              <a:off x="6400800" y="1498600"/>
              <a:ext cx="4978400" cy="2286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r>
                <a:rPr lang="pt-BR" sz="1250" b="1">
                  <a:solidFill>
                    <a:srgbClr val="1B263B"/>
                  </a:solidFill>
                  <a:latin typeface="Segoe UI" panose="020B0502040204020203" pitchFamily="34" charset="0"/>
                </a:rPr>
                <a:t>Tempo de execução em segundos (escala log)</a:t>
              </a:r>
            </a:p>
          </p:txBody>
        </p:sp>
        <p:sp>
          <p:nvSpPr>
            <p:cNvPr id="46" name="Elemento_180">
              <a:extLst>
                <a:ext uri="{FF2B5EF4-FFF2-40B4-BE49-F238E27FC236}">
                  <a16:creationId xmlns:a16="http://schemas.microsoft.com/office/drawing/2014/main" id="{F0D40681-DA92-0555-98E7-3B5B68198FB7}"/>
                </a:ext>
              </a:extLst>
            </p:cNvPr>
            <p:cNvSpPr/>
            <p:nvPr/>
          </p:nvSpPr>
          <p:spPr>
            <a:xfrm>
              <a:off x="6400800" y="1790700"/>
              <a:ext cx="127000" cy="127000"/>
            </a:xfrm>
            <a:prstGeom prst="roundRect">
              <a:avLst>
                <a:gd name="adj" fmla="val 20000"/>
              </a:avLst>
            </a:prstGeom>
            <a:solidFill>
              <a:srgbClr val="E76F51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7" name="Elemento_181">
              <a:extLst>
                <a:ext uri="{FF2B5EF4-FFF2-40B4-BE49-F238E27FC236}">
                  <a16:creationId xmlns:a16="http://schemas.microsoft.com/office/drawing/2014/main" id="{BDA7724E-8657-9B4B-8206-106A686E60B2}"/>
                </a:ext>
              </a:extLst>
            </p:cNvPr>
            <p:cNvSpPr txBox="1"/>
            <p:nvPr/>
          </p:nvSpPr>
          <p:spPr>
            <a:xfrm>
              <a:off x="6591300" y="1752600"/>
              <a:ext cx="574040" cy="2032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r>
                <a:rPr lang="pt-BR" sz="1000">
                  <a:solidFill>
                    <a:srgbClr val="243046"/>
                  </a:solidFill>
                  <a:latin typeface="Segoe UI" panose="020B0502040204020203" pitchFamily="34" charset="0"/>
                </a:rPr>
                <a:t>Simples</a:t>
              </a:r>
            </a:p>
          </p:txBody>
        </p:sp>
        <p:sp>
          <p:nvSpPr>
            <p:cNvPr id="48" name="Elemento_182">
              <a:extLst>
                <a:ext uri="{FF2B5EF4-FFF2-40B4-BE49-F238E27FC236}">
                  <a16:creationId xmlns:a16="http://schemas.microsoft.com/office/drawing/2014/main" id="{0977D99D-F566-3EB2-C5D2-25077F6700F7}"/>
                </a:ext>
              </a:extLst>
            </p:cNvPr>
            <p:cNvSpPr/>
            <p:nvPr/>
          </p:nvSpPr>
          <p:spPr>
            <a:xfrm>
              <a:off x="7317740" y="1790700"/>
              <a:ext cx="127000" cy="127000"/>
            </a:xfrm>
            <a:prstGeom prst="roundRect">
              <a:avLst>
                <a:gd name="adj" fmla="val 20000"/>
              </a:avLst>
            </a:prstGeom>
            <a:solidFill>
              <a:srgbClr val="2A9D8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9" name="Elemento_183">
              <a:extLst>
                <a:ext uri="{FF2B5EF4-FFF2-40B4-BE49-F238E27FC236}">
                  <a16:creationId xmlns:a16="http://schemas.microsoft.com/office/drawing/2014/main" id="{FE13A3E0-8E68-0948-6FBA-6B33B368877D}"/>
                </a:ext>
              </a:extLst>
            </p:cNvPr>
            <p:cNvSpPr txBox="1"/>
            <p:nvPr/>
          </p:nvSpPr>
          <p:spPr>
            <a:xfrm>
              <a:off x="7508240" y="1752600"/>
              <a:ext cx="787400" cy="2032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r>
                <a:rPr lang="pt-BR" sz="1000">
                  <a:solidFill>
                    <a:srgbClr val="243046"/>
                  </a:solidFill>
                  <a:latin typeface="Segoe UI" panose="020B0502040204020203" pitchFamily="34" charset="0"/>
                </a:rPr>
                <a:t>Aprimorado</a:t>
              </a:r>
            </a:p>
          </p:txBody>
        </p:sp>
        <p:cxnSp>
          <p:nvCxnSpPr>
            <p:cNvPr id="50" name="Elemento_184">
              <a:extLst>
                <a:ext uri="{FF2B5EF4-FFF2-40B4-BE49-F238E27FC236}">
                  <a16:creationId xmlns:a16="http://schemas.microsoft.com/office/drawing/2014/main" id="{93B7882F-9ECF-8178-E196-3244FFE39F7B}"/>
                </a:ext>
              </a:extLst>
            </p:cNvPr>
            <p:cNvCxnSpPr/>
            <p:nvPr/>
          </p:nvCxnSpPr>
          <p:spPr>
            <a:xfrm>
              <a:off x="6934200" y="4140200"/>
              <a:ext cx="4419600" cy="0"/>
            </a:xfrm>
            <a:prstGeom prst="line">
              <a:avLst/>
            </a:prstGeom>
            <a:ln w="12700">
              <a:solidFill>
                <a:srgbClr val="A0ACB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Elemento_185">
              <a:extLst>
                <a:ext uri="{FF2B5EF4-FFF2-40B4-BE49-F238E27FC236}">
                  <a16:creationId xmlns:a16="http://schemas.microsoft.com/office/drawing/2014/main" id="{47D2D7C7-7039-347C-D508-0428842D9AD1}"/>
                </a:ext>
              </a:extLst>
            </p:cNvPr>
            <p:cNvSpPr txBox="1"/>
            <p:nvPr/>
          </p:nvSpPr>
          <p:spPr>
            <a:xfrm>
              <a:off x="6299200" y="4038600"/>
              <a:ext cx="558800" cy="2032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pPr algn="r"/>
              <a:r>
                <a:rPr lang="pt-BR" sz="950">
                  <a:solidFill>
                    <a:srgbClr val="647187"/>
                  </a:solidFill>
                  <a:latin typeface="Segoe UI" panose="020B0502040204020203" pitchFamily="34" charset="0"/>
                </a:rPr>
                <a:t>10</a:t>
              </a:r>
              <a:r>
                <a:rPr lang="pt-BR" sz="950" baseline="30000">
                  <a:solidFill>
                    <a:srgbClr val="647187"/>
                  </a:solidFill>
                  <a:latin typeface="Segoe UI" panose="020B0502040204020203" pitchFamily="34" charset="0"/>
                </a:rPr>
                <a:t>-4</a:t>
              </a:r>
            </a:p>
          </p:txBody>
        </p:sp>
        <p:cxnSp>
          <p:nvCxnSpPr>
            <p:cNvPr id="52" name="Elemento_186">
              <a:extLst>
                <a:ext uri="{FF2B5EF4-FFF2-40B4-BE49-F238E27FC236}">
                  <a16:creationId xmlns:a16="http://schemas.microsoft.com/office/drawing/2014/main" id="{E853260B-1589-A26E-115D-CDFFF7685D1A}"/>
                </a:ext>
              </a:extLst>
            </p:cNvPr>
            <p:cNvCxnSpPr/>
            <p:nvPr/>
          </p:nvCxnSpPr>
          <p:spPr>
            <a:xfrm>
              <a:off x="6934200" y="3733800"/>
              <a:ext cx="4419600" cy="0"/>
            </a:xfrm>
            <a:prstGeom prst="line">
              <a:avLst/>
            </a:prstGeom>
            <a:ln w="9525">
              <a:solidFill>
                <a:srgbClr val="DBE2EA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Elemento_187">
              <a:extLst>
                <a:ext uri="{FF2B5EF4-FFF2-40B4-BE49-F238E27FC236}">
                  <a16:creationId xmlns:a16="http://schemas.microsoft.com/office/drawing/2014/main" id="{64052406-0630-60F8-F8A6-B9637C74FAC9}"/>
                </a:ext>
              </a:extLst>
            </p:cNvPr>
            <p:cNvSpPr txBox="1"/>
            <p:nvPr/>
          </p:nvSpPr>
          <p:spPr>
            <a:xfrm>
              <a:off x="6299200" y="3632200"/>
              <a:ext cx="558800" cy="2032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pPr algn="r"/>
              <a:r>
                <a:rPr lang="pt-BR" sz="950">
                  <a:solidFill>
                    <a:srgbClr val="647187"/>
                  </a:solidFill>
                  <a:latin typeface="Segoe UI" panose="020B0502040204020203" pitchFamily="34" charset="0"/>
                </a:rPr>
                <a:t>10</a:t>
              </a:r>
              <a:r>
                <a:rPr lang="pt-BR" sz="950" baseline="30000">
                  <a:solidFill>
                    <a:srgbClr val="647187"/>
                  </a:solidFill>
                  <a:latin typeface="Segoe UI" panose="020B0502040204020203" pitchFamily="34" charset="0"/>
                </a:rPr>
                <a:t>-3</a:t>
              </a:r>
            </a:p>
          </p:txBody>
        </p:sp>
        <p:cxnSp>
          <p:nvCxnSpPr>
            <p:cNvPr id="54" name="Elemento_188">
              <a:extLst>
                <a:ext uri="{FF2B5EF4-FFF2-40B4-BE49-F238E27FC236}">
                  <a16:creationId xmlns:a16="http://schemas.microsoft.com/office/drawing/2014/main" id="{6AB7BFE9-9BE6-B5D2-15C9-D004E8407BFD}"/>
                </a:ext>
              </a:extLst>
            </p:cNvPr>
            <p:cNvCxnSpPr/>
            <p:nvPr/>
          </p:nvCxnSpPr>
          <p:spPr>
            <a:xfrm>
              <a:off x="6934200" y="3327400"/>
              <a:ext cx="4419600" cy="0"/>
            </a:xfrm>
            <a:prstGeom prst="line">
              <a:avLst/>
            </a:prstGeom>
            <a:ln w="9525">
              <a:solidFill>
                <a:srgbClr val="DBE2EA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Elemento_189">
              <a:extLst>
                <a:ext uri="{FF2B5EF4-FFF2-40B4-BE49-F238E27FC236}">
                  <a16:creationId xmlns:a16="http://schemas.microsoft.com/office/drawing/2014/main" id="{65D271E6-40DD-1174-E22C-81FBFF7425F4}"/>
                </a:ext>
              </a:extLst>
            </p:cNvPr>
            <p:cNvSpPr txBox="1"/>
            <p:nvPr/>
          </p:nvSpPr>
          <p:spPr>
            <a:xfrm>
              <a:off x="6299200" y="3225800"/>
              <a:ext cx="558800" cy="2032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pPr algn="r"/>
              <a:r>
                <a:rPr lang="pt-BR" sz="950">
                  <a:solidFill>
                    <a:srgbClr val="647187"/>
                  </a:solidFill>
                  <a:latin typeface="Segoe UI" panose="020B0502040204020203" pitchFamily="34" charset="0"/>
                </a:rPr>
                <a:t>10</a:t>
              </a:r>
              <a:r>
                <a:rPr lang="pt-BR" sz="950" baseline="30000">
                  <a:solidFill>
                    <a:srgbClr val="647187"/>
                  </a:solidFill>
                  <a:latin typeface="Segoe UI" panose="020B0502040204020203" pitchFamily="34" charset="0"/>
                </a:rPr>
                <a:t>-2</a:t>
              </a:r>
            </a:p>
          </p:txBody>
        </p:sp>
        <p:cxnSp>
          <p:nvCxnSpPr>
            <p:cNvPr id="56" name="Elemento_190">
              <a:extLst>
                <a:ext uri="{FF2B5EF4-FFF2-40B4-BE49-F238E27FC236}">
                  <a16:creationId xmlns:a16="http://schemas.microsoft.com/office/drawing/2014/main" id="{7D4F357D-07C2-39F5-F855-30384625D00F}"/>
                </a:ext>
              </a:extLst>
            </p:cNvPr>
            <p:cNvCxnSpPr/>
            <p:nvPr/>
          </p:nvCxnSpPr>
          <p:spPr>
            <a:xfrm>
              <a:off x="6934200" y="2921000"/>
              <a:ext cx="4419600" cy="0"/>
            </a:xfrm>
            <a:prstGeom prst="line">
              <a:avLst/>
            </a:prstGeom>
            <a:ln w="9525">
              <a:solidFill>
                <a:srgbClr val="DBE2EA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7" name="Elemento_191">
              <a:extLst>
                <a:ext uri="{FF2B5EF4-FFF2-40B4-BE49-F238E27FC236}">
                  <a16:creationId xmlns:a16="http://schemas.microsoft.com/office/drawing/2014/main" id="{1CE5CDA7-3D29-E13C-2DED-170AA8791915}"/>
                </a:ext>
              </a:extLst>
            </p:cNvPr>
            <p:cNvSpPr txBox="1"/>
            <p:nvPr/>
          </p:nvSpPr>
          <p:spPr>
            <a:xfrm>
              <a:off x="6299200" y="2819400"/>
              <a:ext cx="558800" cy="2032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pPr algn="r"/>
              <a:r>
                <a:rPr lang="pt-BR" sz="950">
                  <a:solidFill>
                    <a:srgbClr val="647187"/>
                  </a:solidFill>
                  <a:latin typeface="Segoe UI" panose="020B0502040204020203" pitchFamily="34" charset="0"/>
                </a:rPr>
                <a:t>10</a:t>
              </a:r>
              <a:r>
                <a:rPr lang="pt-BR" sz="950" baseline="30000">
                  <a:solidFill>
                    <a:srgbClr val="647187"/>
                  </a:solidFill>
                  <a:latin typeface="Segoe UI" panose="020B0502040204020203" pitchFamily="34" charset="0"/>
                </a:rPr>
                <a:t>-1</a:t>
              </a:r>
            </a:p>
          </p:txBody>
        </p:sp>
        <p:cxnSp>
          <p:nvCxnSpPr>
            <p:cNvPr id="58" name="Elemento_192">
              <a:extLst>
                <a:ext uri="{FF2B5EF4-FFF2-40B4-BE49-F238E27FC236}">
                  <a16:creationId xmlns:a16="http://schemas.microsoft.com/office/drawing/2014/main" id="{4BE178E8-7F02-4AB9-4FD9-25469D0ACDAC}"/>
                </a:ext>
              </a:extLst>
            </p:cNvPr>
            <p:cNvCxnSpPr/>
            <p:nvPr/>
          </p:nvCxnSpPr>
          <p:spPr>
            <a:xfrm>
              <a:off x="6934200" y="2514600"/>
              <a:ext cx="4419600" cy="0"/>
            </a:xfrm>
            <a:prstGeom prst="line">
              <a:avLst/>
            </a:prstGeom>
            <a:ln w="9525">
              <a:solidFill>
                <a:srgbClr val="DBE2EA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Elemento_193">
              <a:extLst>
                <a:ext uri="{FF2B5EF4-FFF2-40B4-BE49-F238E27FC236}">
                  <a16:creationId xmlns:a16="http://schemas.microsoft.com/office/drawing/2014/main" id="{115D3D63-C5A5-9E78-621F-71E8E8695317}"/>
                </a:ext>
              </a:extLst>
            </p:cNvPr>
            <p:cNvSpPr txBox="1"/>
            <p:nvPr/>
          </p:nvSpPr>
          <p:spPr>
            <a:xfrm>
              <a:off x="6299200" y="2413000"/>
              <a:ext cx="558800" cy="2032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pPr algn="r"/>
              <a:r>
                <a:rPr lang="pt-BR" sz="950">
                  <a:solidFill>
                    <a:srgbClr val="647187"/>
                  </a:solidFill>
                  <a:latin typeface="Segoe UI" panose="020B0502040204020203" pitchFamily="34" charset="0"/>
                </a:rPr>
                <a:t>10</a:t>
              </a:r>
              <a:r>
                <a:rPr lang="pt-BR" sz="950" baseline="30000">
                  <a:solidFill>
                    <a:srgbClr val="647187"/>
                  </a:solidFill>
                  <a:latin typeface="Segoe UI" panose="020B0502040204020203" pitchFamily="34" charset="0"/>
                </a:rPr>
                <a:t>0</a:t>
              </a:r>
            </a:p>
          </p:txBody>
        </p:sp>
        <p:cxnSp>
          <p:nvCxnSpPr>
            <p:cNvPr id="60" name="Elemento_194">
              <a:extLst>
                <a:ext uri="{FF2B5EF4-FFF2-40B4-BE49-F238E27FC236}">
                  <a16:creationId xmlns:a16="http://schemas.microsoft.com/office/drawing/2014/main" id="{5954FE0D-089C-7D42-37CC-D530ADF1BA8C}"/>
                </a:ext>
              </a:extLst>
            </p:cNvPr>
            <p:cNvCxnSpPr/>
            <p:nvPr/>
          </p:nvCxnSpPr>
          <p:spPr>
            <a:xfrm>
              <a:off x="6934200" y="2108200"/>
              <a:ext cx="4419600" cy="0"/>
            </a:xfrm>
            <a:prstGeom prst="line">
              <a:avLst/>
            </a:prstGeom>
            <a:ln w="9525">
              <a:solidFill>
                <a:srgbClr val="DBE2EA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1" name="Elemento_195">
              <a:extLst>
                <a:ext uri="{FF2B5EF4-FFF2-40B4-BE49-F238E27FC236}">
                  <a16:creationId xmlns:a16="http://schemas.microsoft.com/office/drawing/2014/main" id="{00C1AF74-1CCA-3E4A-4496-22F015923CC1}"/>
                </a:ext>
              </a:extLst>
            </p:cNvPr>
            <p:cNvSpPr txBox="1"/>
            <p:nvPr/>
          </p:nvSpPr>
          <p:spPr>
            <a:xfrm>
              <a:off x="6299200" y="2006600"/>
              <a:ext cx="558800" cy="2032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pPr algn="r"/>
              <a:r>
                <a:rPr lang="pt-BR" sz="950">
                  <a:solidFill>
                    <a:srgbClr val="647187"/>
                  </a:solidFill>
                  <a:latin typeface="Segoe UI" panose="020B0502040204020203" pitchFamily="34" charset="0"/>
                </a:rPr>
                <a:t>10</a:t>
              </a:r>
              <a:r>
                <a:rPr lang="pt-BR" sz="950" baseline="30000">
                  <a:solidFill>
                    <a:srgbClr val="647187"/>
                  </a:solidFill>
                  <a:latin typeface="Segoe UI" panose="020B0502040204020203" pitchFamily="34" charset="0"/>
                </a:rPr>
                <a:t>1</a:t>
              </a:r>
            </a:p>
          </p:txBody>
        </p:sp>
        <p:sp>
          <p:nvSpPr>
            <p:cNvPr id="62" name="Elemento_196">
              <a:extLst>
                <a:ext uri="{FF2B5EF4-FFF2-40B4-BE49-F238E27FC236}">
                  <a16:creationId xmlns:a16="http://schemas.microsoft.com/office/drawing/2014/main" id="{36B00BD5-4B3A-0358-FD1A-1ED7A148213A}"/>
                </a:ext>
              </a:extLst>
            </p:cNvPr>
            <p:cNvSpPr/>
            <p:nvPr/>
          </p:nvSpPr>
          <p:spPr>
            <a:xfrm>
              <a:off x="7234936" y="4017861"/>
              <a:ext cx="397764" cy="122339"/>
            </a:xfrm>
            <a:prstGeom prst="roundRect">
              <a:avLst>
                <a:gd name="adj" fmla="val 31143"/>
              </a:avLst>
            </a:prstGeom>
            <a:solidFill>
              <a:srgbClr val="E76F51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3" name="Elemento_197">
              <a:extLst>
                <a:ext uri="{FF2B5EF4-FFF2-40B4-BE49-F238E27FC236}">
                  <a16:creationId xmlns:a16="http://schemas.microsoft.com/office/drawing/2014/main" id="{692D49A7-D61B-CE52-8EBF-4BC366D9F819}"/>
                </a:ext>
              </a:extLst>
            </p:cNvPr>
            <p:cNvSpPr txBox="1"/>
            <p:nvPr/>
          </p:nvSpPr>
          <p:spPr>
            <a:xfrm>
              <a:off x="6930136" y="3827361"/>
              <a:ext cx="1007364" cy="1778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pPr algn="ctr"/>
              <a:r>
                <a:rPr lang="pt-BR" sz="950" b="1">
                  <a:solidFill>
                    <a:srgbClr val="243046"/>
                  </a:solidFill>
                  <a:latin typeface="Segoe UI" panose="020B0502040204020203" pitchFamily="34" charset="0"/>
                </a:rPr>
                <a:t>0,0002</a:t>
              </a:r>
            </a:p>
          </p:txBody>
        </p:sp>
        <p:sp>
          <p:nvSpPr>
            <p:cNvPr id="64" name="Elemento_198">
              <a:extLst>
                <a:ext uri="{FF2B5EF4-FFF2-40B4-BE49-F238E27FC236}">
                  <a16:creationId xmlns:a16="http://schemas.microsoft.com/office/drawing/2014/main" id="{54B00AA8-53D1-698C-3465-7A0E331D443F}"/>
                </a:ext>
              </a:extLst>
            </p:cNvPr>
            <p:cNvSpPr/>
            <p:nvPr/>
          </p:nvSpPr>
          <p:spPr>
            <a:xfrm>
              <a:off x="7708900" y="3528507"/>
              <a:ext cx="397764" cy="611693"/>
            </a:xfrm>
            <a:prstGeom prst="roundRect">
              <a:avLst>
                <a:gd name="adj" fmla="val 9579"/>
              </a:avLst>
            </a:prstGeom>
            <a:solidFill>
              <a:srgbClr val="2A9D8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5" name="Elemento_199">
              <a:extLst>
                <a:ext uri="{FF2B5EF4-FFF2-40B4-BE49-F238E27FC236}">
                  <a16:creationId xmlns:a16="http://schemas.microsoft.com/office/drawing/2014/main" id="{3A67EC3D-F8D4-C11F-DE65-0F6289C0303C}"/>
                </a:ext>
              </a:extLst>
            </p:cNvPr>
            <p:cNvSpPr txBox="1"/>
            <p:nvPr/>
          </p:nvSpPr>
          <p:spPr>
            <a:xfrm>
              <a:off x="7404100" y="3338007"/>
              <a:ext cx="1007364" cy="1778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pPr algn="ctr"/>
              <a:r>
                <a:rPr lang="pt-BR" sz="950" b="1">
                  <a:solidFill>
                    <a:srgbClr val="243046"/>
                  </a:solidFill>
                  <a:latin typeface="Segoe UI" panose="020B0502040204020203" pitchFamily="34" charset="0"/>
                </a:rPr>
                <a:t>0,0032</a:t>
              </a:r>
            </a:p>
          </p:txBody>
        </p:sp>
        <p:sp>
          <p:nvSpPr>
            <p:cNvPr id="66" name="Elemento_200">
              <a:extLst>
                <a:ext uri="{FF2B5EF4-FFF2-40B4-BE49-F238E27FC236}">
                  <a16:creationId xmlns:a16="http://schemas.microsoft.com/office/drawing/2014/main" id="{BFAE6DE7-4405-2E94-3D00-674A57EC2920}"/>
                </a:ext>
              </a:extLst>
            </p:cNvPr>
            <p:cNvSpPr txBox="1"/>
            <p:nvPr/>
          </p:nvSpPr>
          <p:spPr>
            <a:xfrm>
              <a:off x="6934200" y="4216400"/>
              <a:ext cx="1473200" cy="2032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pPr algn="ctr"/>
              <a:r>
                <a:rPr lang="pt-BR" sz="1100" b="1">
                  <a:solidFill>
                    <a:srgbClr val="243046"/>
                  </a:solidFill>
                  <a:latin typeface="Segoe UI" panose="020B0502040204020203" pitchFamily="34" charset="0"/>
                </a:rPr>
                <a:t>Pequena</a:t>
              </a:r>
            </a:p>
          </p:txBody>
        </p:sp>
        <p:sp>
          <p:nvSpPr>
            <p:cNvPr id="67" name="Elemento_201">
              <a:extLst>
                <a:ext uri="{FF2B5EF4-FFF2-40B4-BE49-F238E27FC236}">
                  <a16:creationId xmlns:a16="http://schemas.microsoft.com/office/drawing/2014/main" id="{05B76AE3-6037-9308-A413-D0F05B8B8455}"/>
                </a:ext>
              </a:extLst>
            </p:cNvPr>
            <p:cNvSpPr/>
            <p:nvPr/>
          </p:nvSpPr>
          <p:spPr>
            <a:xfrm>
              <a:off x="8708136" y="2205564"/>
              <a:ext cx="397764" cy="1934636"/>
            </a:xfrm>
            <a:prstGeom prst="roundRect">
              <a:avLst>
                <a:gd name="adj" fmla="val 9579"/>
              </a:avLst>
            </a:prstGeom>
            <a:solidFill>
              <a:srgbClr val="E76F51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8" name="Elemento_202">
              <a:extLst>
                <a:ext uri="{FF2B5EF4-FFF2-40B4-BE49-F238E27FC236}">
                  <a16:creationId xmlns:a16="http://schemas.microsoft.com/office/drawing/2014/main" id="{447AA0FB-34CA-AB5A-2EDF-ED2C548459D7}"/>
                </a:ext>
              </a:extLst>
            </p:cNvPr>
            <p:cNvSpPr txBox="1"/>
            <p:nvPr/>
          </p:nvSpPr>
          <p:spPr>
            <a:xfrm>
              <a:off x="8403336" y="2015064"/>
              <a:ext cx="1007364" cy="1778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pPr algn="ctr"/>
              <a:r>
                <a:rPr lang="pt-BR" sz="950" b="1">
                  <a:solidFill>
                    <a:srgbClr val="243046"/>
                  </a:solidFill>
                  <a:latin typeface="Segoe UI" panose="020B0502040204020203" pitchFamily="34" charset="0"/>
                </a:rPr>
                <a:t>5,76*</a:t>
              </a:r>
            </a:p>
          </p:txBody>
        </p:sp>
        <p:sp>
          <p:nvSpPr>
            <p:cNvPr id="69" name="Elemento_203">
              <a:extLst>
                <a:ext uri="{FF2B5EF4-FFF2-40B4-BE49-F238E27FC236}">
                  <a16:creationId xmlns:a16="http://schemas.microsoft.com/office/drawing/2014/main" id="{57728F26-781A-CB4A-21FA-7329CCD107C2}"/>
                </a:ext>
              </a:extLst>
            </p:cNvPr>
            <p:cNvSpPr/>
            <p:nvPr/>
          </p:nvSpPr>
          <p:spPr>
            <a:xfrm>
              <a:off x="9182100" y="3133498"/>
              <a:ext cx="397764" cy="1006702"/>
            </a:xfrm>
            <a:prstGeom prst="roundRect">
              <a:avLst>
                <a:gd name="adj" fmla="val 9579"/>
              </a:avLst>
            </a:prstGeom>
            <a:solidFill>
              <a:srgbClr val="2A9D8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70" name="Elemento_204">
              <a:extLst>
                <a:ext uri="{FF2B5EF4-FFF2-40B4-BE49-F238E27FC236}">
                  <a16:creationId xmlns:a16="http://schemas.microsoft.com/office/drawing/2014/main" id="{68E79717-31D5-DA3C-F49D-9FBB0B7A9396}"/>
                </a:ext>
              </a:extLst>
            </p:cNvPr>
            <p:cNvSpPr txBox="1"/>
            <p:nvPr/>
          </p:nvSpPr>
          <p:spPr>
            <a:xfrm>
              <a:off x="8877300" y="2942998"/>
              <a:ext cx="1007364" cy="1778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pPr algn="ctr"/>
              <a:r>
                <a:rPr lang="pt-BR" sz="950" b="1">
                  <a:solidFill>
                    <a:srgbClr val="243046"/>
                  </a:solidFill>
                  <a:latin typeface="Segoe UI" panose="020B0502040204020203" pitchFamily="34" charset="0"/>
                </a:rPr>
                <a:t>0,03</a:t>
              </a:r>
            </a:p>
          </p:txBody>
        </p:sp>
        <p:sp>
          <p:nvSpPr>
            <p:cNvPr id="71" name="Elemento_205">
              <a:extLst>
                <a:ext uri="{FF2B5EF4-FFF2-40B4-BE49-F238E27FC236}">
                  <a16:creationId xmlns:a16="http://schemas.microsoft.com/office/drawing/2014/main" id="{1A2AB6BC-9120-8BEF-E724-8D8A7270A944}"/>
                </a:ext>
              </a:extLst>
            </p:cNvPr>
            <p:cNvSpPr txBox="1"/>
            <p:nvPr/>
          </p:nvSpPr>
          <p:spPr>
            <a:xfrm>
              <a:off x="8407400" y="4216400"/>
              <a:ext cx="1473200" cy="2032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pPr algn="ctr"/>
              <a:r>
                <a:rPr lang="pt-BR" sz="1100" b="1">
                  <a:solidFill>
                    <a:srgbClr val="243046"/>
                  </a:solidFill>
                  <a:latin typeface="Segoe UI" panose="020B0502040204020203" pitchFamily="34" charset="0"/>
                </a:rPr>
                <a:t>Média</a:t>
              </a:r>
            </a:p>
          </p:txBody>
        </p:sp>
        <p:sp>
          <p:nvSpPr>
            <p:cNvPr id="72" name="Elemento_206">
              <a:extLst>
                <a:ext uri="{FF2B5EF4-FFF2-40B4-BE49-F238E27FC236}">
                  <a16:creationId xmlns:a16="http://schemas.microsoft.com/office/drawing/2014/main" id="{24EE82BD-B49F-6F99-C715-F8AD0884C7CC}"/>
                </a:ext>
              </a:extLst>
            </p:cNvPr>
            <p:cNvSpPr/>
            <p:nvPr/>
          </p:nvSpPr>
          <p:spPr>
            <a:xfrm>
              <a:off x="10181336" y="2139604"/>
              <a:ext cx="397764" cy="2000596"/>
            </a:xfrm>
            <a:prstGeom prst="roundRect">
              <a:avLst>
                <a:gd name="adj" fmla="val 9579"/>
              </a:avLst>
            </a:prstGeom>
            <a:solidFill>
              <a:srgbClr val="E76F51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73" name="Elemento_207">
              <a:extLst>
                <a:ext uri="{FF2B5EF4-FFF2-40B4-BE49-F238E27FC236}">
                  <a16:creationId xmlns:a16="http://schemas.microsoft.com/office/drawing/2014/main" id="{1489E518-C43B-F09D-AE8D-C35BD14422E0}"/>
                </a:ext>
              </a:extLst>
            </p:cNvPr>
            <p:cNvSpPr txBox="1"/>
            <p:nvPr/>
          </p:nvSpPr>
          <p:spPr>
            <a:xfrm>
              <a:off x="9876536" y="1949104"/>
              <a:ext cx="1007364" cy="1778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pPr algn="ctr"/>
              <a:r>
                <a:rPr lang="pt-BR" sz="950" b="1">
                  <a:solidFill>
                    <a:srgbClr val="243046"/>
                  </a:solidFill>
                  <a:latin typeface="Segoe UI" panose="020B0502040204020203" pitchFamily="34" charset="0"/>
                </a:rPr>
                <a:t>8,37*</a:t>
              </a:r>
            </a:p>
          </p:txBody>
        </p:sp>
        <p:sp>
          <p:nvSpPr>
            <p:cNvPr id="74" name="Elemento_208">
              <a:extLst>
                <a:ext uri="{FF2B5EF4-FFF2-40B4-BE49-F238E27FC236}">
                  <a16:creationId xmlns:a16="http://schemas.microsoft.com/office/drawing/2014/main" id="{E10B6842-C2D6-2403-4212-90FD0E688441}"/>
                </a:ext>
              </a:extLst>
            </p:cNvPr>
            <p:cNvSpPr/>
            <p:nvPr/>
          </p:nvSpPr>
          <p:spPr>
            <a:xfrm>
              <a:off x="10655300" y="2790050"/>
              <a:ext cx="397764" cy="1350150"/>
            </a:xfrm>
            <a:prstGeom prst="roundRect">
              <a:avLst>
                <a:gd name="adj" fmla="val 9579"/>
              </a:avLst>
            </a:prstGeom>
            <a:solidFill>
              <a:srgbClr val="2A9D8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75" name="Elemento_209">
              <a:extLst>
                <a:ext uri="{FF2B5EF4-FFF2-40B4-BE49-F238E27FC236}">
                  <a16:creationId xmlns:a16="http://schemas.microsoft.com/office/drawing/2014/main" id="{43D5E747-5664-322B-96A4-D1B5A77CF592}"/>
                </a:ext>
              </a:extLst>
            </p:cNvPr>
            <p:cNvSpPr txBox="1"/>
            <p:nvPr/>
          </p:nvSpPr>
          <p:spPr>
            <a:xfrm>
              <a:off x="10350500" y="2599550"/>
              <a:ext cx="1007364" cy="1778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pPr algn="ctr"/>
              <a:r>
                <a:rPr lang="pt-BR" sz="950" b="1">
                  <a:solidFill>
                    <a:srgbClr val="243046"/>
                  </a:solidFill>
                  <a:latin typeface="Segoe UI" panose="020B0502040204020203" pitchFamily="34" charset="0"/>
                </a:rPr>
                <a:t>0,21</a:t>
              </a:r>
            </a:p>
          </p:txBody>
        </p:sp>
        <p:sp>
          <p:nvSpPr>
            <p:cNvPr id="76" name="Elemento_210">
              <a:extLst>
                <a:ext uri="{FF2B5EF4-FFF2-40B4-BE49-F238E27FC236}">
                  <a16:creationId xmlns:a16="http://schemas.microsoft.com/office/drawing/2014/main" id="{D569F47C-6219-3AB5-4842-AAE62CD91ED9}"/>
                </a:ext>
              </a:extLst>
            </p:cNvPr>
            <p:cNvSpPr txBox="1"/>
            <p:nvPr/>
          </p:nvSpPr>
          <p:spPr>
            <a:xfrm>
              <a:off x="9880600" y="4216400"/>
              <a:ext cx="1473200" cy="2032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pPr algn="ctr"/>
              <a:r>
                <a:rPr lang="pt-BR" sz="1100" b="1">
                  <a:solidFill>
                    <a:srgbClr val="243046"/>
                  </a:solidFill>
                  <a:latin typeface="Segoe UI" panose="020B0502040204020203" pitchFamily="34" charset="0"/>
                </a:rPr>
                <a:t>Grande</a:t>
              </a:r>
            </a:p>
          </p:txBody>
        </p:sp>
        <p:sp>
          <p:nvSpPr>
            <p:cNvPr id="77" name="Elemento_211">
              <a:extLst>
                <a:ext uri="{FF2B5EF4-FFF2-40B4-BE49-F238E27FC236}">
                  <a16:creationId xmlns:a16="http://schemas.microsoft.com/office/drawing/2014/main" id="{5193BC93-B692-9944-7246-20426BFF834B}"/>
                </a:ext>
              </a:extLst>
            </p:cNvPr>
            <p:cNvSpPr txBox="1"/>
            <p:nvPr/>
          </p:nvSpPr>
          <p:spPr>
            <a:xfrm>
              <a:off x="6400800" y="4470400"/>
              <a:ext cx="4978400" cy="1778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pPr algn="r"/>
              <a:r>
                <a:rPr lang="pt-BR" sz="900">
                  <a:solidFill>
                    <a:srgbClr val="647187"/>
                  </a:solidFill>
                  <a:latin typeface="Segoe UI" panose="020B0502040204020203" pitchFamily="34" charset="0"/>
                </a:rPr>
                <a:t>* atingiu o limite de 200 mil nós sem encontrar solução</a:t>
              </a:r>
            </a:p>
          </p:txBody>
        </p:sp>
      </p:grpSp>
      <p:sp>
        <p:nvSpPr>
          <p:cNvPr id="79" name="CaixaDeTexto 78">
            <a:extLst>
              <a:ext uri="{FF2B5EF4-FFF2-40B4-BE49-F238E27FC236}">
                <a16:creationId xmlns:a16="http://schemas.microsoft.com/office/drawing/2014/main" id="{D3C27A12-073B-D243-F785-D96AAAF3D250}"/>
              </a:ext>
            </a:extLst>
          </p:cNvPr>
          <p:cNvSpPr txBox="1"/>
          <p:nvPr/>
        </p:nvSpPr>
        <p:spPr>
          <a:xfrm>
            <a:off x="609600" y="4876800"/>
            <a:ext cx="10972800" cy="1397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368300" indent="-342900">
              <a:lnSpc>
                <a:spcPct val="105000"/>
              </a:lnSpc>
              <a:spcAft>
                <a:spcPts val="607"/>
              </a:spcAft>
              <a:buClr>
                <a:srgbClr val="2A9D8F"/>
              </a:buClr>
              <a:buSzPct val="100000"/>
              <a:buFont typeface="Arial" panose="020B0604020202020204" pitchFamily="34" charset="0"/>
              <a:buChar char="•"/>
            </a:pPr>
            <a:r>
              <a:rPr lang="pt-BR" sz="1350">
                <a:solidFill>
                  <a:srgbClr val="243046"/>
                </a:solidFill>
                <a:latin typeface="Segoe UI" panose="020B0502040204020203" pitchFamily="34" charset="0"/>
              </a:rPr>
              <a:t>O simples só resolve a instância pequena; nas demais, nem 200 mil nós bastam.</a:t>
            </a:r>
          </a:p>
          <a:p>
            <a:pPr marL="368300" indent="-342900">
              <a:lnSpc>
                <a:spcPct val="105000"/>
              </a:lnSpc>
              <a:spcAft>
                <a:spcPts val="607"/>
              </a:spcAft>
              <a:buClr>
                <a:srgbClr val="2A9D8F"/>
              </a:buClr>
              <a:buSzPct val="100000"/>
              <a:buFont typeface="Arial" panose="020B0604020202020204" pitchFamily="34" charset="0"/>
              <a:buChar char="•"/>
            </a:pPr>
            <a:r>
              <a:rPr lang="pt-BR" sz="1350">
                <a:solidFill>
                  <a:srgbClr val="243046"/>
                </a:solidFill>
                <a:latin typeface="Segoe UI" panose="020B0502040204020203" pitchFamily="34" charset="0"/>
              </a:rPr>
              <a:t>O aprimorado resolve todas em menos de 0,25 s, com poucas dezenas de nós.</a:t>
            </a:r>
          </a:p>
          <a:p>
            <a:pPr marL="368300" indent="-342900">
              <a:lnSpc>
                <a:spcPct val="105000"/>
              </a:lnSpc>
              <a:spcAft>
                <a:spcPts val="607"/>
              </a:spcAft>
              <a:buClr>
                <a:srgbClr val="2A9D8F"/>
              </a:buClr>
              <a:buSzPct val="100000"/>
              <a:buFont typeface="Arial" panose="020B0604020202020204" pitchFamily="34" charset="0"/>
              <a:buChar char="•"/>
            </a:pPr>
            <a:r>
              <a:rPr lang="pt-BR" sz="1350" b="1">
                <a:solidFill>
                  <a:srgbClr val="243046"/>
                </a:solidFill>
                <a:latin typeface="Segoe UI" panose="020B0502040204020203" pitchFamily="34" charset="0"/>
              </a:rPr>
              <a:t>Experimento extra (tamanho constante, só a densidade de restrições varia):</a:t>
            </a:r>
            <a:r>
              <a:rPr lang="pt-BR" sz="1350">
                <a:solidFill>
                  <a:srgbClr val="243046"/>
                </a:solidFill>
                <a:latin typeface="Segoe UI" panose="020B0502040204020203" pitchFamily="34" charset="0"/>
              </a:rPr>
              <a:t> reduzir a disponibilidade já derruba o simples, mas o aprimorado mantém 31 nós e 0 retrocessos nas 4 disponibilidades testadas.</a:t>
            </a:r>
          </a:p>
        </p:txBody>
      </p:sp>
      <p:cxnSp>
        <p:nvCxnSpPr>
          <p:cNvPr id="80" name="Conector reto 79">
            <a:extLst>
              <a:ext uri="{FF2B5EF4-FFF2-40B4-BE49-F238E27FC236}">
                <a16:creationId xmlns:a16="http://schemas.microsoft.com/office/drawing/2014/main" id="{2BD164EC-0A87-DB5A-E6E3-C1C7A52C46A2}"/>
              </a:ext>
            </a:extLst>
          </p:cNvPr>
          <p:cNvCxnSpPr/>
          <p:nvPr/>
        </p:nvCxnSpPr>
        <p:spPr>
          <a:xfrm>
            <a:off x="609600" y="6400800"/>
            <a:ext cx="10972800" cy="0"/>
          </a:xfrm>
          <a:prstGeom prst="line">
            <a:avLst/>
          </a:prstGeom>
          <a:ln w="9525">
            <a:solidFill>
              <a:srgbClr val="DB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CaixaDeTexto 80">
            <a:extLst>
              <a:ext uri="{FF2B5EF4-FFF2-40B4-BE49-F238E27FC236}">
                <a16:creationId xmlns:a16="http://schemas.microsoft.com/office/drawing/2014/main" id="{76BE62E3-82FD-8DFE-E09D-83B9094C047A}"/>
              </a:ext>
            </a:extLst>
          </p:cNvPr>
          <p:cNvSpPr txBox="1"/>
          <p:nvPr/>
        </p:nvSpPr>
        <p:spPr>
          <a:xfrm>
            <a:off x="609600" y="6502400"/>
            <a:ext cx="8128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900">
                <a:solidFill>
                  <a:srgbClr val="647187"/>
                </a:solidFill>
                <a:latin typeface="Segoe UI" panose="020B0502040204020203" pitchFamily="34" charset="0"/>
              </a:rPr>
              <a:t>Introdução à Inteligência Artificial  ·  Tema 9 — Agendamento de Consultas/Atendimentos como PSR</a:t>
            </a:r>
          </a:p>
        </p:txBody>
      </p:sp>
      <p:sp>
        <p:nvSpPr>
          <p:cNvPr id="82" name="CaixaDeTexto 81">
            <a:extLst>
              <a:ext uri="{FF2B5EF4-FFF2-40B4-BE49-F238E27FC236}">
                <a16:creationId xmlns:a16="http://schemas.microsoft.com/office/drawing/2014/main" id="{A1BD3562-0A49-6F9B-11A9-BEDCA4BED008}"/>
              </a:ext>
            </a:extLst>
          </p:cNvPr>
          <p:cNvSpPr txBox="1"/>
          <p:nvPr/>
        </p:nvSpPr>
        <p:spPr>
          <a:xfrm>
            <a:off x="10058400" y="6502400"/>
            <a:ext cx="1524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pt-BR" sz="900" b="1">
                <a:solidFill>
                  <a:srgbClr val="647187"/>
                </a:solidFill>
                <a:latin typeface="Segoe UI" panose="020B0502040204020203" pitchFamily="34" charset="0"/>
              </a:rPr>
              <a:t>14 / 17</a:t>
            </a:r>
          </a:p>
        </p:txBody>
      </p:sp>
    </p:spTree>
    <p:extLst>
      <p:ext uri="{BB962C8B-B14F-4D97-AF65-F5344CB8AC3E}">
        <p14:creationId xmlns:p14="http://schemas.microsoft.com/office/powerpoint/2010/main" val="155848187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5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5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26AAF761-67D7-784A-410E-76F33A922CB0}"/>
              </a:ext>
            </a:extLst>
          </p:cNvPr>
          <p:cNvSpPr/>
          <p:nvPr/>
        </p:nvSpPr>
        <p:spPr>
          <a:xfrm>
            <a:off x="0" y="0"/>
            <a:ext cx="127000" cy="6858000"/>
          </a:xfrm>
          <a:prstGeom prst="rect">
            <a:avLst/>
          </a:prstGeom>
          <a:solidFill>
            <a:srgbClr val="1B263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B5EB8135-0E37-B6EF-4C59-D4498DB224AA}"/>
              </a:ext>
            </a:extLst>
          </p:cNvPr>
          <p:cNvSpPr/>
          <p:nvPr/>
        </p:nvSpPr>
        <p:spPr>
          <a:xfrm>
            <a:off x="0" y="279400"/>
            <a:ext cx="127000" cy="889000"/>
          </a:xfrm>
          <a:prstGeom prst="rect">
            <a:avLst/>
          </a:prstGeom>
          <a:solidFill>
            <a:srgbClr val="2A9D8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C61E2830-8AED-1AF3-F0C1-3AFD8FD67506}"/>
              </a:ext>
            </a:extLst>
          </p:cNvPr>
          <p:cNvSpPr txBox="1"/>
          <p:nvPr/>
        </p:nvSpPr>
        <p:spPr>
          <a:xfrm>
            <a:off x="609600" y="355600"/>
            <a:ext cx="8890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050" b="1" spc="160">
                <a:solidFill>
                  <a:srgbClr val="2A9D8F"/>
                </a:solidFill>
                <a:latin typeface="Segoe UI" panose="020B0502040204020203" pitchFamily="34" charset="0"/>
              </a:rPr>
              <a:t>CONCLUSÕES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20D49B14-50BF-F970-C50B-057F981B83CA}"/>
              </a:ext>
            </a:extLst>
          </p:cNvPr>
          <p:cNvSpPr txBox="1"/>
          <p:nvPr/>
        </p:nvSpPr>
        <p:spPr>
          <a:xfrm>
            <a:off x="609600" y="558800"/>
            <a:ext cx="94488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2600" b="1">
                <a:solidFill>
                  <a:srgbClr val="1B263B"/>
                </a:solidFill>
                <a:latin typeface="Segoe UI" panose="020B0502040204020203" pitchFamily="34" charset="0"/>
              </a:rPr>
              <a:t>Conclusões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782B49AA-5FEB-9BBF-EA17-0D9BF0388141}"/>
              </a:ext>
            </a:extLst>
          </p:cNvPr>
          <p:cNvSpPr/>
          <p:nvPr/>
        </p:nvSpPr>
        <p:spPr>
          <a:xfrm>
            <a:off x="609600" y="1117600"/>
            <a:ext cx="711200" cy="44450"/>
          </a:xfrm>
          <a:prstGeom prst="rect">
            <a:avLst/>
          </a:prstGeom>
          <a:solidFill>
            <a:srgbClr val="2A9D8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12" name="Agrupar 11">
            <a:extLst>
              <a:ext uri="{FF2B5EF4-FFF2-40B4-BE49-F238E27FC236}">
                <a16:creationId xmlns:a16="http://schemas.microsoft.com/office/drawing/2014/main" id="{E805660E-EB3D-2925-F15C-7FCCCA919E7D}"/>
              </a:ext>
            </a:extLst>
          </p:cNvPr>
          <p:cNvGrpSpPr/>
          <p:nvPr/>
        </p:nvGrpSpPr>
        <p:grpSpPr>
          <a:xfrm>
            <a:off x="609600" y="1422400"/>
            <a:ext cx="10972800" cy="1422400"/>
            <a:chOff x="609600" y="1422400"/>
            <a:chExt cx="10972800" cy="1422400"/>
          </a:xfrm>
        </p:grpSpPr>
        <p:sp>
          <p:nvSpPr>
            <p:cNvPr id="7" name="Elemento_212">
              <a:extLst>
                <a:ext uri="{FF2B5EF4-FFF2-40B4-BE49-F238E27FC236}">
                  <a16:creationId xmlns:a16="http://schemas.microsoft.com/office/drawing/2014/main" id="{F0CB4312-4E01-D667-9DC2-83C8043FC0E9}"/>
                </a:ext>
              </a:extLst>
            </p:cNvPr>
            <p:cNvSpPr/>
            <p:nvPr/>
          </p:nvSpPr>
          <p:spPr>
            <a:xfrm>
              <a:off x="609600" y="1422400"/>
              <a:ext cx="10972800" cy="1422400"/>
            </a:xfrm>
            <a:prstGeom prst="roundRect">
              <a:avLst>
                <a:gd name="adj" fmla="val 8929"/>
              </a:avLst>
            </a:prstGeom>
            <a:solidFill>
              <a:srgbClr val="FFFFFF"/>
            </a:solidFill>
            <a:ln w="9525" cap="flat" cmpd="sng" algn="ctr">
              <a:solidFill>
                <a:srgbClr val="DBE2EA"/>
              </a:solidFill>
              <a:prstDash val="solid"/>
              <a:miter lim="800000"/>
            </a:ln>
            <a:effectLst>
              <a:outerShdw blurRad="152400" dist="50800" dir="5400000" rotWithShape="0">
                <a:srgbClr val="0F172A">
                  <a:alpha val="1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8" name="Elemento_213">
              <a:extLst>
                <a:ext uri="{FF2B5EF4-FFF2-40B4-BE49-F238E27FC236}">
                  <a16:creationId xmlns:a16="http://schemas.microsoft.com/office/drawing/2014/main" id="{166B4C21-842C-D6E2-E030-BD6B2F6DFF1E}"/>
                </a:ext>
              </a:extLst>
            </p:cNvPr>
            <p:cNvSpPr/>
            <p:nvPr/>
          </p:nvSpPr>
          <p:spPr>
            <a:xfrm>
              <a:off x="609600" y="1625600"/>
              <a:ext cx="63500" cy="1016000"/>
            </a:xfrm>
            <a:prstGeom prst="rect">
              <a:avLst/>
            </a:prstGeom>
            <a:solidFill>
              <a:srgbClr val="2A9D8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9" name="Elemento_214">
              <a:extLst>
                <a:ext uri="{FF2B5EF4-FFF2-40B4-BE49-F238E27FC236}">
                  <a16:creationId xmlns:a16="http://schemas.microsoft.com/office/drawing/2014/main" id="{D6C54040-373B-CEB5-C075-FD50DC99ACE1}"/>
                </a:ext>
              </a:extLst>
            </p:cNvPr>
            <p:cNvSpPr txBox="1"/>
            <p:nvPr/>
          </p:nvSpPr>
          <p:spPr>
            <a:xfrm>
              <a:off x="939800" y="1422400"/>
              <a:ext cx="889000" cy="14224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>
              <a:noAutofit/>
            </a:bodyPr>
            <a:lstStyle/>
            <a:p>
              <a:r>
                <a:rPr lang="pt-BR" sz="3400" b="1">
                  <a:solidFill>
                    <a:srgbClr val="2A9D8F"/>
                  </a:solidFill>
                  <a:latin typeface="Segoe UI" panose="020B0502040204020203" pitchFamily="34" charset="0"/>
                </a:rPr>
                <a:t>01</a:t>
              </a:r>
            </a:p>
          </p:txBody>
        </p:sp>
        <p:sp>
          <p:nvSpPr>
            <p:cNvPr id="10" name="Elemento_215">
              <a:extLst>
                <a:ext uri="{FF2B5EF4-FFF2-40B4-BE49-F238E27FC236}">
                  <a16:creationId xmlns:a16="http://schemas.microsoft.com/office/drawing/2014/main" id="{F81F6723-862A-D7EB-6923-C34D1D876CE3}"/>
                </a:ext>
              </a:extLst>
            </p:cNvPr>
            <p:cNvSpPr txBox="1"/>
            <p:nvPr/>
          </p:nvSpPr>
          <p:spPr>
            <a:xfrm>
              <a:off x="1930400" y="1625600"/>
              <a:ext cx="9347200" cy="2794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r>
                <a:rPr lang="pt-BR" sz="1600" b="1">
                  <a:solidFill>
                    <a:srgbClr val="1B263B"/>
                  </a:solidFill>
                  <a:latin typeface="Segoe UI" panose="020B0502040204020203" pitchFamily="34" charset="0"/>
                </a:rPr>
                <a:t>Heurísticas tornam o problema tratável</a:t>
              </a:r>
            </a:p>
          </p:txBody>
        </p:sp>
        <p:sp>
          <p:nvSpPr>
            <p:cNvPr id="11" name="Elemento_216">
              <a:extLst>
                <a:ext uri="{FF2B5EF4-FFF2-40B4-BE49-F238E27FC236}">
                  <a16:creationId xmlns:a16="http://schemas.microsoft.com/office/drawing/2014/main" id="{8FF04FAC-ED30-8849-4B5E-0595E40581E1}"/>
                </a:ext>
              </a:extLst>
            </p:cNvPr>
            <p:cNvSpPr txBox="1"/>
            <p:nvPr/>
          </p:nvSpPr>
          <p:spPr>
            <a:xfrm>
              <a:off x="1930400" y="1955800"/>
              <a:ext cx="9347200" cy="7874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r>
                <a:rPr lang="pt-BR" sz="1300">
                  <a:solidFill>
                    <a:srgbClr val="243046"/>
                  </a:solidFill>
                  <a:latin typeface="Segoe UI" panose="020B0502040204020203" pitchFamily="34" charset="0"/>
                </a:rPr>
                <a:t>MRV + Forward Checking + LCV reduzem drasticamente o espaço de busca explorado, tornando tratável um problema que o backtracking simples não resolve em tempo/orçamento razoável a partir das instâncias médias.</a:t>
              </a:r>
            </a:p>
          </p:txBody>
        </p:sp>
      </p:grpSp>
      <p:grpSp>
        <p:nvGrpSpPr>
          <p:cNvPr id="18" name="Agrupar 17">
            <a:extLst>
              <a:ext uri="{FF2B5EF4-FFF2-40B4-BE49-F238E27FC236}">
                <a16:creationId xmlns:a16="http://schemas.microsoft.com/office/drawing/2014/main" id="{089D8FC6-CA2E-5D24-434C-34B93F7CDA6D}"/>
              </a:ext>
            </a:extLst>
          </p:cNvPr>
          <p:cNvGrpSpPr/>
          <p:nvPr/>
        </p:nvGrpSpPr>
        <p:grpSpPr>
          <a:xfrm>
            <a:off x="609600" y="2997200"/>
            <a:ext cx="10972800" cy="1422400"/>
            <a:chOff x="609600" y="2997200"/>
            <a:chExt cx="10972800" cy="1422400"/>
          </a:xfrm>
        </p:grpSpPr>
        <p:sp>
          <p:nvSpPr>
            <p:cNvPr id="13" name="Elemento_217">
              <a:extLst>
                <a:ext uri="{FF2B5EF4-FFF2-40B4-BE49-F238E27FC236}">
                  <a16:creationId xmlns:a16="http://schemas.microsoft.com/office/drawing/2014/main" id="{84F90327-7545-3ABD-4BA5-BBAD82D1BD7B}"/>
                </a:ext>
              </a:extLst>
            </p:cNvPr>
            <p:cNvSpPr/>
            <p:nvPr/>
          </p:nvSpPr>
          <p:spPr>
            <a:xfrm>
              <a:off x="609600" y="2997200"/>
              <a:ext cx="10972800" cy="1422400"/>
            </a:xfrm>
            <a:prstGeom prst="roundRect">
              <a:avLst>
                <a:gd name="adj" fmla="val 8929"/>
              </a:avLst>
            </a:prstGeom>
            <a:solidFill>
              <a:srgbClr val="FFFFFF"/>
            </a:solidFill>
            <a:ln w="9525" cap="flat" cmpd="sng" algn="ctr">
              <a:solidFill>
                <a:srgbClr val="DBE2EA"/>
              </a:solidFill>
              <a:prstDash val="solid"/>
              <a:miter lim="800000"/>
            </a:ln>
            <a:effectLst>
              <a:outerShdw blurRad="152400" dist="50800" dir="5400000" rotWithShape="0">
                <a:srgbClr val="0F172A">
                  <a:alpha val="1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4" name="Elemento_218">
              <a:extLst>
                <a:ext uri="{FF2B5EF4-FFF2-40B4-BE49-F238E27FC236}">
                  <a16:creationId xmlns:a16="http://schemas.microsoft.com/office/drawing/2014/main" id="{1FBDFCEC-F892-4593-505A-816D41096A53}"/>
                </a:ext>
              </a:extLst>
            </p:cNvPr>
            <p:cNvSpPr/>
            <p:nvPr/>
          </p:nvSpPr>
          <p:spPr>
            <a:xfrm>
              <a:off x="609600" y="3200400"/>
              <a:ext cx="63500" cy="1016000"/>
            </a:xfrm>
            <a:prstGeom prst="rect">
              <a:avLst/>
            </a:prstGeom>
            <a:solidFill>
              <a:srgbClr val="2A9D8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5" name="Elemento_219">
              <a:extLst>
                <a:ext uri="{FF2B5EF4-FFF2-40B4-BE49-F238E27FC236}">
                  <a16:creationId xmlns:a16="http://schemas.microsoft.com/office/drawing/2014/main" id="{33B0F638-18B2-59E8-6178-4F85CCF17E31}"/>
                </a:ext>
              </a:extLst>
            </p:cNvPr>
            <p:cNvSpPr txBox="1"/>
            <p:nvPr/>
          </p:nvSpPr>
          <p:spPr>
            <a:xfrm>
              <a:off x="939800" y="2997200"/>
              <a:ext cx="889000" cy="14224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>
              <a:noAutofit/>
            </a:bodyPr>
            <a:lstStyle/>
            <a:p>
              <a:r>
                <a:rPr lang="pt-BR" sz="3400" b="1">
                  <a:solidFill>
                    <a:srgbClr val="2A9D8F"/>
                  </a:solidFill>
                  <a:latin typeface="Segoe UI" panose="020B0502040204020203" pitchFamily="34" charset="0"/>
                </a:rPr>
                <a:t>02</a:t>
              </a:r>
            </a:p>
          </p:txBody>
        </p:sp>
        <p:sp>
          <p:nvSpPr>
            <p:cNvPr id="16" name="Elemento_220">
              <a:extLst>
                <a:ext uri="{FF2B5EF4-FFF2-40B4-BE49-F238E27FC236}">
                  <a16:creationId xmlns:a16="http://schemas.microsoft.com/office/drawing/2014/main" id="{6173A617-4606-E261-3F17-532A07C5C003}"/>
                </a:ext>
              </a:extLst>
            </p:cNvPr>
            <p:cNvSpPr txBox="1"/>
            <p:nvPr/>
          </p:nvSpPr>
          <p:spPr>
            <a:xfrm>
              <a:off x="1930400" y="3200400"/>
              <a:ext cx="9347200" cy="2794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r>
                <a:rPr lang="pt-BR" sz="1600" b="1">
                  <a:solidFill>
                    <a:srgbClr val="1B263B"/>
                  </a:solidFill>
                  <a:latin typeface="Segoe UI" panose="020B0502040204020203" pitchFamily="34" charset="0"/>
                </a:rPr>
                <a:t>O ganho está nos nós e retrocessos</a:t>
              </a:r>
            </a:p>
          </p:txBody>
        </p:sp>
        <p:sp>
          <p:nvSpPr>
            <p:cNvPr id="17" name="Elemento_221">
              <a:extLst>
                <a:ext uri="{FF2B5EF4-FFF2-40B4-BE49-F238E27FC236}">
                  <a16:creationId xmlns:a16="http://schemas.microsoft.com/office/drawing/2014/main" id="{B4BA0BBB-7624-C9C3-5965-AB17B67DDD13}"/>
                </a:ext>
              </a:extLst>
            </p:cNvPr>
            <p:cNvSpPr txBox="1"/>
            <p:nvPr/>
          </p:nvSpPr>
          <p:spPr>
            <a:xfrm>
              <a:off x="1930400" y="3530600"/>
              <a:ext cx="9347200" cy="7874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r>
                <a:rPr lang="pt-BR" sz="1300">
                  <a:solidFill>
                    <a:srgbClr val="243046"/>
                  </a:solidFill>
                  <a:latin typeface="Segoe UI" panose="020B0502040204020203" pitchFamily="34" charset="0"/>
                </a:rPr>
                <a:t>O ganho é sobretudo em nós e retrocessos explorados; o custo por nó do aprimorado cresce com o tamanho dos domínios (ver limitações no relatório técnico).</a:t>
              </a:r>
            </a:p>
          </p:txBody>
        </p:sp>
      </p:grpSp>
      <p:grpSp>
        <p:nvGrpSpPr>
          <p:cNvPr id="24" name="Agrupar 23">
            <a:extLst>
              <a:ext uri="{FF2B5EF4-FFF2-40B4-BE49-F238E27FC236}">
                <a16:creationId xmlns:a16="http://schemas.microsoft.com/office/drawing/2014/main" id="{FE521DFE-757F-4FAB-FD2B-53982EE3834D}"/>
              </a:ext>
            </a:extLst>
          </p:cNvPr>
          <p:cNvGrpSpPr/>
          <p:nvPr/>
        </p:nvGrpSpPr>
        <p:grpSpPr>
          <a:xfrm>
            <a:off x="609600" y="4572000"/>
            <a:ext cx="10972800" cy="1422400"/>
            <a:chOff x="609600" y="4572000"/>
            <a:chExt cx="10972800" cy="1422400"/>
          </a:xfrm>
        </p:grpSpPr>
        <p:sp>
          <p:nvSpPr>
            <p:cNvPr id="19" name="Elemento_222">
              <a:extLst>
                <a:ext uri="{FF2B5EF4-FFF2-40B4-BE49-F238E27FC236}">
                  <a16:creationId xmlns:a16="http://schemas.microsoft.com/office/drawing/2014/main" id="{E6931C9C-B3D9-5410-0F8C-E54E51848553}"/>
                </a:ext>
              </a:extLst>
            </p:cNvPr>
            <p:cNvSpPr/>
            <p:nvPr/>
          </p:nvSpPr>
          <p:spPr>
            <a:xfrm>
              <a:off x="609600" y="4572000"/>
              <a:ext cx="10972800" cy="1422400"/>
            </a:xfrm>
            <a:prstGeom prst="roundRect">
              <a:avLst>
                <a:gd name="adj" fmla="val 8929"/>
              </a:avLst>
            </a:prstGeom>
            <a:solidFill>
              <a:srgbClr val="FFFFFF"/>
            </a:solidFill>
            <a:ln w="9525" cap="flat" cmpd="sng" algn="ctr">
              <a:solidFill>
                <a:srgbClr val="DBE2EA"/>
              </a:solidFill>
              <a:prstDash val="solid"/>
              <a:miter lim="800000"/>
            </a:ln>
            <a:effectLst>
              <a:outerShdw blurRad="152400" dist="50800" dir="5400000" rotWithShape="0">
                <a:srgbClr val="0F172A">
                  <a:alpha val="1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0" name="Elemento_223">
              <a:extLst>
                <a:ext uri="{FF2B5EF4-FFF2-40B4-BE49-F238E27FC236}">
                  <a16:creationId xmlns:a16="http://schemas.microsoft.com/office/drawing/2014/main" id="{2BB9B5CC-67BF-CE7B-7B87-DBB5FF121DE2}"/>
                </a:ext>
              </a:extLst>
            </p:cNvPr>
            <p:cNvSpPr/>
            <p:nvPr/>
          </p:nvSpPr>
          <p:spPr>
            <a:xfrm>
              <a:off x="609600" y="4775200"/>
              <a:ext cx="63500" cy="1016000"/>
            </a:xfrm>
            <a:prstGeom prst="rect">
              <a:avLst/>
            </a:prstGeom>
            <a:solidFill>
              <a:srgbClr val="2A9D8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1" name="Elemento_224">
              <a:extLst>
                <a:ext uri="{FF2B5EF4-FFF2-40B4-BE49-F238E27FC236}">
                  <a16:creationId xmlns:a16="http://schemas.microsoft.com/office/drawing/2014/main" id="{53247E26-B639-B3C9-2913-B0277FF72123}"/>
                </a:ext>
              </a:extLst>
            </p:cNvPr>
            <p:cNvSpPr txBox="1"/>
            <p:nvPr/>
          </p:nvSpPr>
          <p:spPr>
            <a:xfrm>
              <a:off x="939800" y="4572000"/>
              <a:ext cx="889000" cy="14224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>
              <a:noAutofit/>
            </a:bodyPr>
            <a:lstStyle/>
            <a:p>
              <a:r>
                <a:rPr lang="pt-BR" sz="3400" b="1">
                  <a:solidFill>
                    <a:srgbClr val="2A9D8F"/>
                  </a:solidFill>
                  <a:latin typeface="Segoe UI" panose="020B0502040204020203" pitchFamily="34" charset="0"/>
                </a:rPr>
                <a:t>03</a:t>
              </a:r>
            </a:p>
          </p:txBody>
        </p:sp>
        <p:sp>
          <p:nvSpPr>
            <p:cNvPr id="22" name="Elemento_225">
              <a:extLst>
                <a:ext uri="{FF2B5EF4-FFF2-40B4-BE49-F238E27FC236}">
                  <a16:creationId xmlns:a16="http://schemas.microsoft.com/office/drawing/2014/main" id="{31E8BE51-DC2F-E6C8-D3EC-25A4589CC3F3}"/>
                </a:ext>
              </a:extLst>
            </p:cNvPr>
            <p:cNvSpPr txBox="1"/>
            <p:nvPr/>
          </p:nvSpPr>
          <p:spPr>
            <a:xfrm>
              <a:off x="1930400" y="4775200"/>
              <a:ext cx="9347200" cy="2794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r>
                <a:rPr lang="pt-BR" sz="1600" b="1">
                  <a:solidFill>
                    <a:srgbClr val="1B263B"/>
                  </a:solidFill>
                  <a:latin typeface="Segoe UI" panose="020B0502040204020203" pitchFamily="34" charset="0"/>
                </a:rPr>
                <a:t>Requisitos atendidos</a:t>
              </a:r>
            </a:p>
          </p:txBody>
        </p:sp>
        <p:sp>
          <p:nvSpPr>
            <p:cNvPr id="23" name="Elemento_226">
              <a:extLst>
                <a:ext uri="{FF2B5EF4-FFF2-40B4-BE49-F238E27FC236}">
                  <a16:creationId xmlns:a16="http://schemas.microsoft.com/office/drawing/2014/main" id="{6FD9F5F7-B1FE-318F-5CFB-67592B9C83F5}"/>
                </a:ext>
              </a:extLst>
            </p:cNvPr>
            <p:cNvSpPr txBox="1"/>
            <p:nvPr/>
          </p:nvSpPr>
          <p:spPr>
            <a:xfrm>
              <a:off x="1930400" y="5105400"/>
              <a:ext cx="9347200" cy="7874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r>
                <a:rPr lang="pt-BR" sz="1300">
                  <a:solidFill>
                    <a:srgbClr val="243046"/>
                  </a:solidFill>
                  <a:latin typeface="Segoe UI" panose="020B0502040204020203" pitchFamily="34" charset="0"/>
                </a:rPr>
                <a:t>O sistema atende às 5 restrições do Tema 9 e permite verificar visualmente a ausência de conflitos nas 3 visões de agenda.</a:t>
              </a:r>
            </a:p>
          </p:txBody>
        </p:sp>
      </p:grpSp>
      <p:cxnSp>
        <p:nvCxnSpPr>
          <p:cNvPr id="25" name="Conector reto 24">
            <a:extLst>
              <a:ext uri="{FF2B5EF4-FFF2-40B4-BE49-F238E27FC236}">
                <a16:creationId xmlns:a16="http://schemas.microsoft.com/office/drawing/2014/main" id="{9BB41778-3289-6BA1-1592-A7B4626072BC}"/>
              </a:ext>
            </a:extLst>
          </p:cNvPr>
          <p:cNvCxnSpPr/>
          <p:nvPr/>
        </p:nvCxnSpPr>
        <p:spPr>
          <a:xfrm>
            <a:off x="609600" y="6400800"/>
            <a:ext cx="10972800" cy="0"/>
          </a:xfrm>
          <a:prstGeom prst="line">
            <a:avLst/>
          </a:prstGeom>
          <a:ln w="9525">
            <a:solidFill>
              <a:srgbClr val="DB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BC478CE1-E080-C9D2-B1A1-E1682C9857F3}"/>
              </a:ext>
            </a:extLst>
          </p:cNvPr>
          <p:cNvSpPr txBox="1"/>
          <p:nvPr/>
        </p:nvSpPr>
        <p:spPr>
          <a:xfrm>
            <a:off x="609600" y="6502400"/>
            <a:ext cx="8128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900">
                <a:solidFill>
                  <a:srgbClr val="647187"/>
                </a:solidFill>
                <a:latin typeface="Segoe UI" panose="020B0502040204020203" pitchFamily="34" charset="0"/>
              </a:rPr>
              <a:t>Introdução à Inteligência Artificial  ·  Tema 9 — Agendamento de Consultas/Atendimentos como PSR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D20A3AB8-7EAF-9BB7-36C0-87791E85BB10}"/>
              </a:ext>
            </a:extLst>
          </p:cNvPr>
          <p:cNvSpPr txBox="1"/>
          <p:nvPr/>
        </p:nvSpPr>
        <p:spPr>
          <a:xfrm>
            <a:off x="10058400" y="6502400"/>
            <a:ext cx="1524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pt-BR" sz="900" b="1">
                <a:solidFill>
                  <a:srgbClr val="647187"/>
                </a:solidFill>
                <a:latin typeface="Segoe UI" panose="020B0502040204020203" pitchFamily="34" charset="0"/>
              </a:rPr>
              <a:t>15 / 17</a:t>
            </a:r>
          </a:p>
        </p:txBody>
      </p:sp>
    </p:spTree>
    <p:extLst>
      <p:ext uri="{BB962C8B-B14F-4D97-AF65-F5344CB8AC3E}">
        <p14:creationId xmlns:p14="http://schemas.microsoft.com/office/powerpoint/2010/main" val="227893453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5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7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52578713-DD2C-A626-64E3-5D7EA64639EA}"/>
              </a:ext>
            </a:extLst>
          </p:cNvPr>
          <p:cNvSpPr/>
          <p:nvPr/>
        </p:nvSpPr>
        <p:spPr>
          <a:xfrm>
            <a:off x="0" y="0"/>
            <a:ext cx="127000" cy="6858000"/>
          </a:xfrm>
          <a:prstGeom prst="rect">
            <a:avLst/>
          </a:prstGeom>
          <a:solidFill>
            <a:srgbClr val="1B263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DAA51C69-4282-7E7D-FCE0-A6C978F29FFC}"/>
              </a:ext>
            </a:extLst>
          </p:cNvPr>
          <p:cNvSpPr/>
          <p:nvPr/>
        </p:nvSpPr>
        <p:spPr>
          <a:xfrm>
            <a:off x="0" y="279400"/>
            <a:ext cx="127000" cy="889000"/>
          </a:xfrm>
          <a:prstGeom prst="rect">
            <a:avLst/>
          </a:prstGeom>
          <a:solidFill>
            <a:srgbClr val="2A9D8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70E4300D-1A8E-D4C9-B64F-8E1B02EC5689}"/>
              </a:ext>
            </a:extLst>
          </p:cNvPr>
          <p:cNvSpPr txBox="1"/>
          <p:nvPr/>
        </p:nvSpPr>
        <p:spPr>
          <a:xfrm>
            <a:off x="609600" y="355600"/>
            <a:ext cx="8890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050" b="1" spc="160">
                <a:solidFill>
                  <a:srgbClr val="2A9D8F"/>
                </a:solidFill>
                <a:latin typeface="Segoe UI" panose="020B0502040204020203" pitchFamily="34" charset="0"/>
              </a:rPr>
              <a:t>REFERÊNCIAS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7116345A-B294-DC9C-89CD-049BED9DBBA7}"/>
              </a:ext>
            </a:extLst>
          </p:cNvPr>
          <p:cNvSpPr txBox="1"/>
          <p:nvPr/>
        </p:nvSpPr>
        <p:spPr>
          <a:xfrm>
            <a:off x="609600" y="558800"/>
            <a:ext cx="94488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2600" b="1">
                <a:solidFill>
                  <a:srgbClr val="1B263B"/>
                </a:solidFill>
                <a:latin typeface="Segoe UI" panose="020B0502040204020203" pitchFamily="34" charset="0"/>
              </a:rPr>
              <a:t>Referências bibliográficas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D47D945B-D701-A951-621C-15B83D1F6A42}"/>
              </a:ext>
            </a:extLst>
          </p:cNvPr>
          <p:cNvSpPr/>
          <p:nvPr/>
        </p:nvSpPr>
        <p:spPr>
          <a:xfrm>
            <a:off x="609600" y="1117600"/>
            <a:ext cx="711200" cy="44450"/>
          </a:xfrm>
          <a:prstGeom prst="rect">
            <a:avLst/>
          </a:prstGeom>
          <a:solidFill>
            <a:srgbClr val="2A9D8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576FC00A-7428-5CD0-B974-6E185E2A3F97}"/>
              </a:ext>
            </a:extLst>
          </p:cNvPr>
          <p:cNvSpPr/>
          <p:nvPr/>
        </p:nvSpPr>
        <p:spPr>
          <a:xfrm>
            <a:off x="609600" y="1422400"/>
            <a:ext cx="10972800" cy="203200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 cap="flat" cmpd="sng" algn="ctr">
            <a:solidFill>
              <a:srgbClr val="DBE2EA"/>
            </a:solidFill>
            <a:prstDash val="solid"/>
            <a:miter lim="800000"/>
          </a:ln>
          <a:effectLst>
            <a:outerShdw blurRad="152400" dist="50800" dir="5400000" rotWithShape="0">
              <a:srgbClr val="0F172A">
                <a:alpha val="1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2F328CDB-E7F1-A4AF-4C96-F01AD5AB24EA}"/>
              </a:ext>
            </a:extLst>
          </p:cNvPr>
          <p:cNvSpPr txBox="1"/>
          <p:nvPr/>
        </p:nvSpPr>
        <p:spPr>
          <a:xfrm>
            <a:off x="965200" y="1803400"/>
            <a:ext cx="10261600" cy="1397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342900" indent="-342900">
              <a:lnSpc>
                <a:spcPct val="105000"/>
              </a:lnSpc>
              <a:spcAft>
                <a:spcPts val="720"/>
              </a:spcAft>
              <a:buClr>
                <a:srgbClr val="2A9D8F"/>
              </a:buClr>
              <a:buFont typeface="+mj-lt"/>
              <a:buAutoNum type="arabicPeriod"/>
            </a:pPr>
            <a:r>
              <a:rPr lang="pt-BR" sz="1600">
                <a:solidFill>
                  <a:srgbClr val="243046"/>
                </a:solidFill>
                <a:latin typeface="Segoe UI" panose="020B0502040204020203" pitchFamily="34" charset="0"/>
              </a:rPr>
              <a:t>RUSSELL, S.; NORVIG, P. </a:t>
            </a:r>
            <a:r>
              <a:rPr lang="pt-BR" sz="1600" b="1" i="1">
                <a:solidFill>
                  <a:srgbClr val="243046"/>
                </a:solidFill>
                <a:latin typeface="Segoe UI" panose="020B0502040204020203" pitchFamily="34" charset="0"/>
              </a:rPr>
              <a:t>Inteligência artificial</a:t>
            </a:r>
            <a:r>
              <a:rPr lang="pt-BR" sz="1600">
                <a:solidFill>
                  <a:srgbClr val="243046"/>
                </a:solidFill>
                <a:latin typeface="Segoe UI" panose="020B0502040204020203" pitchFamily="34" charset="0"/>
              </a:rPr>
              <a:t>. 3. ed. Rio de Janeiro: Elsevier, 2013. (Capítulo sobre problemas de satisfação de restrições: MRV, Forward Checking e LCV).</a:t>
            </a:r>
          </a:p>
          <a:p>
            <a:pPr marL="342900" indent="-342900">
              <a:lnSpc>
                <a:spcPct val="105000"/>
              </a:lnSpc>
              <a:spcAft>
                <a:spcPts val="720"/>
              </a:spcAft>
              <a:buClr>
                <a:srgbClr val="2A9D8F"/>
              </a:buClr>
              <a:buFont typeface="+mj-lt"/>
              <a:buAutoNum type="arabicPeriod" startAt="2"/>
            </a:pPr>
            <a:r>
              <a:rPr lang="pt-BR" sz="1600">
                <a:solidFill>
                  <a:srgbClr val="243046"/>
                </a:solidFill>
                <a:latin typeface="Segoe UI" panose="020B0502040204020203" pitchFamily="34" charset="0"/>
              </a:rPr>
              <a:t>Especificação do trabalho — Introdução à Inteligência Artificial, Tema 9: Agendamento de Consultas/Atendimentos.</a:t>
            </a:r>
          </a:p>
        </p:txBody>
      </p: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48DCFD36-50F1-25D1-5B4C-386E46A4B18E}"/>
              </a:ext>
            </a:extLst>
          </p:cNvPr>
          <p:cNvCxnSpPr/>
          <p:nvPr/>
        </p:nvCxnSpPr>
        <p:spPr>
          <a:xfrm>
            <a:off x="609600" y="6400800"/>
            <a:ext cx="10972800" cy="0"/>
          </a:xfrm>
          <a:prstGeom prst="line">
            <a:avLst/>
          </a:prstGeom>
          <a:ln w="9525">
            <a:solidFill>
              <a:srgbClr val="DB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CaixaDeTexto 9">
            <a:extLst>
              <a:ext uri="{FF2B5EF4-FFF2-40B4-BE49-F238E27FC236}">
                <a16:creationId xmlns:a16="http://schemas.microsoft.com/office/drawing/2014/main" id="{EE2C08B7-69AA-5F76-AB5A-858C6891ADEC}"/>
              </a:ext>
            </a:extLst>
          </p:cNvPr>
          <p:cNvSpPr txBox="1"/>
          <p:nvPr/>
        </p:nvSpPr>
        <p:spPr>
          <a:xfrm>
            <a:off x="609600" y="6502400"/>
            <a:ext cx="8128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900">
                <a:solidFill>
                  <a:srgbClr val="647187"/>
                </a:solidFill>
                <a:latin typeface="Segoe UI" panose="020B0502040204020203" pitchFamily="34" charset="0"/>
              </a:rPr>
              <a:t>Introdução à Inteligência Artificial  ·  Tema 9 — Agendamento de Consultas/Atendimentos como PSR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28F6FAE7-29DB-5A26-4F6F-F3E80131CF4D}"/>
              </a:ext>
            </a:extLst>
          </p:cNvPr>
          <p:cNvSpPr txBox="1"/>
          <p:nvPr/>
        </p:nvSpPr>
        <p:spPr>
          <a:xfrm>
            <a:off x="10058400" y="6502400"/>
            <a:ext cx="1524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pt-BR" sz="900" b="1">
                <a:solidFill>
                  <a:srgbClr val="647187"/>
                </a:solidFill>
                <a:latin typeface="Segoe UI" panose="020B0502040204020203" pitchFamily="34" charset="0"/>
              </a:rPr>
              <a:t>16 / 17</a:t>
            </a:r>
          </a:p>
        </p:txBody>
      </p:sp>
    </p:spTree>
    <p:extLst>
      <p:ext uri="{BB962C8B-B14F-4D97-AF65-F5344CB8AC3E}">
        <p14:creationId xmlns:p14="http://schemas.microsoft.com/office/powerpoint/2010/main" val="294531774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fade/>
      </p:transition>
    </mc:Choice>
    <mc:Fallback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6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>
            <a:extLst>
              <a:ext uri="{FF2B5EF4-FFF2-40B4-BE49-F238E27FC236}">
                <a16:creationId xmlns:a16="http://schemas.microsoft.com/office/drawing/2014/main" id="{8B21439A-D5F1-2EB5-9580-55A3CCA91B60}"/>
              </a:ext>
            </a:extLst>
          </p:cNvPr>
          <p:cNvSpPr/>
          <p:nvPr/>
        </p:nvSpPr>
        <p:spPr>
          <a:xfrm>
            <a:off x="7874000" y="1143000"/>
            <a:ext cx="4572000" cy="4572000"/>
          </a:xfrm>
          <a:prstGeom prst="ellipse">
            <a:avLst/>
          </a:prstGeom>
          <a:solidFill>
            <a:srgbClr val="293A59">
              <a:alpha val="70000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3" name="Conector reto 2">
            <a:extLst>
              <a:ext uri="{FF2B5EF4-FFF2-40B4-BE49-F238E27FC236}">
                <a16:creationId xmlns:a16="http://schemas.microsoft.com/office/drawing/2014/main" id="{2B5BB49F-493F-7A9D-79C3-8D90C3C988DC}"/>
              </a:ext>
            </a:extLst>
          </p:cNvPr>
          <p:cNvCxnSpPr/>
          <p:nvPr/>
        </p:nvCxnSpPr>
        <p:spPr>
          <a:xfrm flipH="1">
            <a:off x="9093200" y="1905000"/>
            <a:ext cx="1066800" cy="1066800"/>
          </a:xfrm>
          <a:prstGeom prst="line">
            <a:avLst/>
          </a:prstGeom>
          <a:ln w="15875">
            <a:solidFill>
              <a:srgbClr val="5466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05F43C1A-0916-EE80-74BD-D6A38135558B}"/>
              </a:ext>
            </a:extLst>
          </p:cNvPr>
          <p:cNvCxnSpPr/>
          <p:nvPr/>
        </p:nvCxnSpPr>
        <p:spPr>
          <a:xfrm>
            <a:off x="10160000" y="1905000"/>
            <a:ext cx="1066800" cy="1066800"/>
          </a:xfrm>
          <a:prstGeom prst="line">
            <a:avLst/>
          </a:prstGeom>
          <a:ln w="31750">
            <a:solidFill>
              <a:srgbClr val="2A9D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E3158F38-2715-6D11-6DF1-627E032FE4EE}"/>
              </a:ext>
            </a:extLst>
          </p:cNvPr>
          <p:cNvCxnSpPr/>
          <p:nvPr/>
        </p:nvCxnSpPr>
        <p:spPr>
          <a:xfrm flipH="1">
            <a:off x="8559800" y="2971800"/>
            <a:ext cx="533400" cy="1066800"/>
          </a:xfrm>
          <a:prstGeom prst="line">
            <a:avLst/>
          </a:prstGeom>
          <a:ln w="15875">
            <a:solidFill>
              <a:srgbClr val="5466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2F3BD805-9896-0D2D-7B82-F87F21100550}"/>
              </a:ext>
            </a:extLst>
          </p:cNvPr>
          <p:cNvCxnSpPr/>
          <p:nvPr/>
        </p:nvCxnSpPr>
        <p:spPr>
          <a:xfrm>
            <a:off x="9093200" y="2971800"/>
            <a:ext cx="533400" cy="1066800"/>
          </a:xfrm>
          <a:prstGeom prst="line">
            <a:avLst/>
          </a:prstGeom>
          <a:ln w="15875">
            <a:solidFill>
              <a:srgbClr val="5466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D8C5C025-5B3D-5CFC-8B97-08664713989C}"/>
              </a:ext>
            </a:extLst>
          </p:cNvPr>
          <p:cNvCxnSpPr/>
          <p:nvPr/>
        </p:nvCxnSpPr>
        <p:spPr>
          <a:xfrm flipH="1">
            <a:off x="10693400" y="2971800"/>
            <a:ext cx="533400" cy="1066800"/>
          </a:xfrm>
          <a:prstGeom prst="line">
            <a:avLst/>
          </a:prstGeom>
          <a:ln w="31750">
            <a:solidFill>
              <a:srgbClr val="2A9D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to 7">
            <a:extLst>
              <a:ext uri="{FF2B5EF4-FFF2-40B4-BE49-F238E27FC236}">
                <a16:creationId xmlns:a16="http://schemas.microsoft.com/office/drawing/2014/main" id="{28861AC6-5470-8842-0C40-EDBF27FDA849}"/>
              </a:ext>
            </a:extLst>
          </p:cNvPr>
          <p:cNvCxnSpPr/>
          <p:nvPr/>
        </p:nvCxnSpPr>
        <p:spPr>
          <a:xfrm>
            <a:off x="11226800" y="2971800"/>
            <a:ext cx="533400" cy="1066800"/>
          </a:xfrm>
          <a:prstGeom prst="line">
            <a:avLst/>
          </a:prstGeom>
          <a:ln w="15875">
            <a:solidFill>
              <a:srgbClr val="5466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791EBFB5-C586-93B9-B8E6-B27A87663405}"/>
              </a:ext>
            </a:extLst>
          </p:cNvPr>
          <p:cNvCxnSpPr/>
          <p:nvPr/>
        </p:nvCxnSpPr>
        <p:spPr>
          <a:xfrm flipH="1">
            <a:off x="10312400" y="4038600"/>
            <a:ext cx="381000" cy="1066800"/>
          </a:xfrm>
          <a:prstGeom prst="line">
            <a:avLst/>
          </a:prstGeom>
          <a:ln w="31750">
            <a:solidFill>
              <a:srgbClr val="2A9D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85342F69-9DD6-DB64-51DB-C5922B238001}"/>
              </a:ext>
            </a:extLst>
          </p:cNvPr>
          <p:cNvCxnSpPr/>
          <p:nvPr/>
        </p:nvCxnSpPr>
        <p:spPr>
          <a:xfrm>
            <a:off x="10693400" y="4038600"/>
            <a:ext cx="381000" cy="1066800"/>
          </a:xfrm>
          <a:prstGeom prst="line">
            <a:avLst/>
          </a:prstGeom>
          <a:ln w="15875">
            <a:solidFill>
              <a:srgbClr val="5466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Elipse 10">
            <a:extLst>
              <a:ext uri="{FF2B5EF4-FFF2-40B4-BE49-F238E27FC236}">
                <a16:creationId xmlns:a16="http://schemas.microsoft.com/office/drawing/2014/main" id="{6160A3FF-0EE2-D3C4-BB22-79BC7A5DD916}"/>
              </a:ext>
            </a:extLst>
          </p:cNvPr>
          <p:cNvSpPr/>
          <p:nvPr/>
        </p:nvSpPr>
        <p:spPr>
          <a:xfrm>
            <a:off x="10022840" y="1767840"/>
            <a:ext cx="274320" cy="274320"/>
          </a:xfrm>
          <a:prstGeom prst="ellipse">
            <a:avLst/>
          </a:prstGeom>
          <a:solidFill>
            <a:srgbClr val="2A9D8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F5E3AF4B-8992-67A9-5821-0691643ABB1F}"/>
              </a:ext>
            </a:extLst>
          </p:cNvPr>
          <p:cNvSpPr/>
          <p:nvPr/>
        </p:nvSpPr>
        <p:spPr>
          <a:xfrm>
            <a:off x="8956040" y="2834640"/>
            <a:ext cx="274320" cy="274320"/>
          </a:xfrm>
          <a:prstGeom prst="ellipse">
            <a:avLst/>
          </a:prstGeom>
          <a:solidFill>
            <a:srgbClr val="54668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509B8AB0-7498-5D48-6371-CD280A65E2DF}"/>
              </a:ext>
            </a:extLst>
          </p:cNvPr>
          <p:cNvSpPr/>
          <p:nvPr/>
        </p:nvSpPr>
        <p:spPr>
          <a:xfrm>
            <a:off x="11089640" y="2834640"/>
            <a:ext cx="274320" cy="274320"/>
          </a:xfrm>
          <a:prstGeom prst="ellipse">
            <a:avLst/>
          </a:prstGeom>
          <a:solidFill>
            <a:srgbClr val="2A9D8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425974DF-E673-6E2C-496A-0C30A86A5075}"/>
              </a:ext>
            </a:extLst>
          </p:cNvPr>
          <p:cNvSpPr/>
          <p:nvPr/>
        </p:nvSpPr>
        <p:spPr>
          <a:xfrm>
            <a:off x="8422640" y="3901440"/>
            <a:ext cx="274320" cy="274320"/>
          </a:xfrm>
          <a:prstGeom prst="ellipse">
            <a:avLst/>
          </a:prstGeom>
          <a:solidFill>
            <a:srgbClr val="54668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Elipse 14">
            <a:extLst>
              <a:ext uri="{FF2B5EF4-FFF2-40B4-BE49-F238E27FC236}">
                <a16:creationId xmlns:a16="http://schemas.microsoft.com/office/drawing/2014/main" id="{AEC33280-9B48-779D-4E5A-09FEF0713D19}"/>
              </a:ext>
            </a:extLst>
          </p:cNvPr>
          <p:cNvSpPr/>
          <p:nvPr/>
        </p:nvSpPr>
        <p:spPr>
          <a:xfrm>
            <a:off x="9489440" y="3901440"/>
            <a:ext cx="274320" cy="274320"/>
          </a:xfrm>
          <a:prstGeom prst="ellipse">
            <a:avLst/>
          </a:prstGeom>
          <a:solidFill>
            <a:srgbClr val="E76F5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8E64747E-F82B-7A97-209D-5ABBEDA01C68}"/>
              </a:ext>
            </a:extLst>
          </p:cNvPr>
          <p:cNvSpPr/>
          <p:nvPr/>
        </p:nvSpPr>
        <p:spPr>
          <a:xfrm>
            <a:off x="10556240" y="3901440"/>
            <a:ext cx="274320" cy="274320"/>
          </a:xfrm>
          <a:prstGeom prst="ellipse">
            <a:avLst/>
          </a:prstGeom>
          <a:solidFill>
            <a:srgbClr val="2A9D8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Elipse 16">
            <a:extLst>
              <a:ext uri="{FF2B5EF4-FFF2-40B4-BE49-F238E27FC236}">
                <a16:creationId xmlns:a16="http://schemas.microsoft.com/office/drawing/2014/main" id="{B474B543-A078-175F-13E4-98A01AAE25B6}"/>
              </a:ext>
            </a:extLst>
          </p:cNvPr>
          <p:cNvSpPr/>
          <p:nvPr/>
        </p:nvSpPr>
        <p:spPr>
          <a:xfrm>
            <a:off x="11623040" y="3901440"/>
            <a:ext cx="274320" cy="274320"/>
          </a:xfrm>
          <a:prstGeom prst="ellipse">
            <a:avLst/>
          </a:prstGeom>
          <a:solidFill>
            <a:srgbClr val="54668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Elipse 17">
            <a:extLst>
              <a:ext uri="{FF2B5EF4-FFF2-40B4-BE49-F238E27FC236}">
                <a16:creationId xmlns:a16="http://schemas.microsoft.com/office/drawing/2014/main" id="{6C53285D-C967-7053-5577-3AE6D4FF1FDC}"/>
              </a:ext>
            </a:extLst>
          </p:cNvPr>
          <p:cNvSpPr/>
          <p:nvPr/>
        </p:nvSpPr>
        <p:spPr>
          <a:xfrm>
            <a:off x="10175240" y="4968240"/>
            <a:ext cx="274320" cy="274320"/>
          </a:xfrm>
          <a:prstGeom prst="ellipse">
            <a:avLst/>
          </a:prstGeom>
          <a:solidFill>
            <a:srgbClr val="2A9D8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Elipse 18">
            <a:extLst>
              <a:ext uri="{FF2B5EF4-FFF2-40B4-BE49-F238E27FC236}">
                <a16:creationId xmlns:a16="http://schemas.microsoft.com/office/drawing/2014/main" id="{ADC2FDB8-0D68-B95E-2C5A-4FD3820C8CC7}"/>
              </a:ext>
            </a:extLst>
          </p:cNvPr>
          <p:cNvSpPr/>
          <p:nvPr/>
        </p:nvSpPr>
        <p:spPr>
          <a:xfrm>
            <a:off x="10937240" y="4968240"/>
            <a:ext cx="274320" cy="274320"/>
          </a:xfrm>
          <a:prstGeom prst="ellipse">
            <a:avLst/>
          </a:prstGeom>
          <a:solidFill>
            <a:srgbClr val="54668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2AD88A8E-5BE3-550D-B46F-BA6BF27C55C5}"/>
              </a:ext>
            </a:extLst>
          </p:cNvPr>
          <p:cNvSpPr/>
          <p:nvPr/>
        </p:nvSpPr>
        <p:spPr>
          <a:xfrm>
            <a:off x="0" y="6781800"/>
            <a:ext cx="12192000" cy="76200"/>
          </a:xfrm>
          <a:prstGeom prst="rect">
            <a:avLst/>
          </a:prstGeom>
          <a:solidFill>
            <a:srgbClr val="2A9D8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1E611CFE-8E52-F996-7712-4159CE48B9AC}"/>
              </a:ext>
            </a:extLst>
          </p:cNvPr>
          <p:cNvSpPr txBox="1"/>
          <p:nvPr/>
        </p:nvSpPr>
        <p:spPr>
          <a:xfrm>
            <a:off x="762000" y="2032000"/>
            <a:ext cx="7112000" cy="889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5400" b="1">
                <a:solidFill>
                  <a:srgbClr val="FFFFFF"/>
                </a:solidFill>
                <a:latin typeface="Segoe UI" panose="020B0502040204020203" pitchFamily="34" charset="0"/>
              </a:rPr>
              <a:t>Obrigado!</a:t>
            </a: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269D6262-C714-2B7F-D05A-1316D59AA566}"/>
              </a:ext>
            </a:extLst>
          </p:cNvPr>
          <p:cNvSpPr txBox="1"/>
          <p:nvPr/>
        </p:nvSpPr>
        <p:spPr>
          <a:xfrm>
            <a:off x="762000" y="2997200"/>
            <a:ext cx="71120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2800">
                <a:solidFill>
                  <a:srgbClr val="76D6C7"/>
                </a:solidFill>
                <a:latin typeface="Segoe UI" panose="020B0502040204020203" pitchFamily="34" charset="0"/>
              </a:rPr>
              <a:t>Perguntas?</a:t>
            </a:r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A12278CE-25D3-52E6-6BDF-8F7AFB28047C}"/>
              </a:ext>
            </a:extLst>
          </p:cNvPr>
          <p:cNvSpPr/>
          <p:nvPr/>
        </p:nvSpPr>
        <p:spPr>
          <a:xfrm>
            <a:off x="762000" y="3759200"/>
            <a:ext cx="889000" cy="38100"/>
          </a:xfrm>
          <a:prstGeom prst="rect">
            <a:avLst/>
          </a:prstGeom>
          <a:solidFill>
            <a:srgbClr val="2A9D8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8C26EA77-972A-9194-FCD5-F81A70A8F141}"/>
              </a:ext>
            </a:extLst>
          </p:cNvPr>
          <p:cNvSpPr txBox="1"/>
          <p:nvPr/>
        </p:nvSpPr>
        <p:spPr>
          <a:xfrm>
            <a:off x="762000" y="4013200"/>
            <a:ext cx="7112000" cy="762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300">
                <a:solidFill>
                  <a:srgbClr val="FFFFFF"/>
                </a:solidFill>
                <a:latin typeface="Segoe UI" panose="020B0502040204020203" pitchFamily="34" charset="0"/>
              </a:rPr>
              <a:t>Igor Toebe Lopes Farias — RA 120173</a:t>
            </a:r>
          </a:p>
          <a:p>
            <a:r>
              <a:rPr lang="pt-BR" sz="1300">
                <a:solidFill>
                  <a:srgbClr val="FFFFFF"/>
                </a:solidFill>
                <a:latin typeface="Segoe UI" panose="020B0502040204020203" pitchFamily="34" charset="0"/>
              </a:rPr>
              <a:t>Gustavo Moretto Itikawa — RA 90416</a:t>
            </a:r>
          </a:p>
          <a:p>
            <a:r>
              <a:rPr lang="pt-BR" sz="1300">
                <a:solidFill>
                  <a:srgbClr val="FFFFFF"/>
                </a:solidFill>
                <a:latin typeface="Segoe UI" panose="020B0502040204020203" pitchFamily="34" charset="0"/>
              </a:rPr>
              <a:t>Ricardo Oliveira Geraldo — RA 124583</a:t>
            </a:r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0520C7F9-7E34-F6A3-B914-53795D8CB3B4}"/>
              </a:ext>
            </a:extLst>
          </p:cNvPr>
          <p:cNvSpPr txBox="1"/>
          <p:nvPr/>
        </p:nvSpPr>
        <p:spPr>
          <a:xfrm>
            <a:off x="762000" y="4927600"/>
            <a:ext cx="7112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100">
                <a:solidFill>
                  <a:srgbClr val="BECADC"/>
                </a:solidFill>
                <a:latin typeface="Segoe UI" panose="020B0502040204020203" pitchFamily="34" charset="0"/>
              </a:rPr>
              <a:t>Introdução à Inteligência Artificial  ·  Tema 9 — Agendamento como PSR</a:t>
            </a:r>
          </a:p>
        </p:txBody>
      </p:sp>
    </p:spTree>
    <p:extLst>
      <p:ext uri="{BB962C8B-B14F-4D97-AF65-F5344CB8AC3E}">
        <p14:creationId xmlns:p14="http://schemas.microsoft.com/office/powerpoint/2010/main" val="16776760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3237</Words>
  <Application>Microsoft Office PowerPoint</Application>
  <PresentationFormat>Personalizar</PresentationFormat>
  <Paragraphs>437</Paragraphs>
  <Slides>17</Slides>
  <Notes>17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17</vt:i4>
      </vt:variant>
    </vt:vector>
  </HeadingPairs>
  <TitlesOfParts>
    <vt:vector size="24" baseType="lpstr">
      <vt:lpstr>Aptos</vt:lpstr>
      <vt:lpstr>Aptos Display</vt:lpstr>
      <vt:lpstr>Arial</vt:lpstr>
      <vt:lpstr>Consolas</vt:lpstr>
      <vt:lpstr>Segoe UI</vt:lpstr>
      <vt:lpstr>Segoe UI Symbol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Julio Makoto</dc:creator>
  <cp:lastModifiedBy>Julio Makoto</cp:lastModifiedBy>
  <cp:revision>1</cp:revision>
  <dcterms:created xsi:type="dcterms:W3CDTF">2026-10-05T14:43:17Z</dcterms:created>
  <dcterms:modified xsi:type="dcterms:W3CDTF">2026-10-05T14:43:17Z</dcterms:modified>
</cp:coreProperties>
</file>